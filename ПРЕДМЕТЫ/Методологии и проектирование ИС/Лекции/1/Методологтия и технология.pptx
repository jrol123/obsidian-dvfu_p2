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300" r:id="rId3"/>
    <p:sldId id="299" r:id="rId4"/>
    <p:sldId id="301" r:id="rId5"/>
    <p:sldId id="259" r:id="rId6"/>
    <p:sldId id="290" r:id="rId7"/>
    <p:sldId id="283" r:id="rId8"/>
    <p:sldId id="285" r:id="rId9"/>
    <p:sldId id="287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57" r:id="rId19"/>
    <p:sldId id="262" r:id="rId20"/>
    <p:sldId id="263" r:id="rId21"/>
    <p:sldId id="264" r:id="rId22"/>
    <p:sldId id="258" r:id="rId23"/>
    <p:sldId id="260" r:id="rId24"/>
    <p:sldId id="261" r:id="rId25"/>
    <p:sldId id="265" r:id="rId26"/>
    <p:sldId id="266" r:id="rId27"/>
    <p:sldId id="284" r:id="rId28"/>
    <p:sldId id="268" r:id="rId29"/>
    <p:sldId id="269" r:id="rId30"/>
    <p:sldId id="288" r:id="rId31"/>
    <p:sldId id="277" r:id="rId32"/>
    <p:sldId id="278" r:id="rId33"/>
    <p:sldId id="273" r:id="rId34"/>
    <p:sldId id="27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43335-B8E6-4547-99B8-5D327503D258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D6511-6459-4460-89B0-17AB4E0F0E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8ADBCD7-AEB3-4744-B467-8AD0C5C8083C}" type="slidenum">
              <a:rPr lang="ru-RU" altLang="ru-RU"/>
              <a:pPr eaLnBrk="1" hangingPunct="1">
                <a:spcBef>
                  <a:spcPct val="0"/>
                </a:spcBef>
              </a:pPr>
              <a:t>2</a:t>
            </a:fld>
            <a:endParaRPr lang="ru-RU" altLang="ru-RU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991388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11546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766827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82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4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37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5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90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96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2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667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311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7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87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7D7F848-7BBF-4572-8C52-B9DDC0E1F22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3362B3B-D923-439B-92A6-08CA53932B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79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wmf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297303" y="383649"/>
            <a:ext cx="9068586" cy="2590800"/>
          </a:xfrm>
        </p:spPr>
        <p:txBody>
          <a:bodyPr>
            <a:noAutofit/>
          </a:bodyPr>
          <a:lstStyle/>
          <a:p>
            <a:r>
              <a:rPr lang="ru-RU" sz="3200" dirty="0" smtClean="0"/>
              <a:t>Методологии и технологии проектирования информационных систем</a:t>
            </a:r>
            <a:endParaRPr lang="ru-RU" sz="3200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73966" y="2379537"/>
            <a:ext cx="9070848" cy="457201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Основные положения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386" y="2988764"/>
            <a:ext cx="6646008" cy="36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87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Вопросы</a:t>
            </a:r>
          </a:p>
        </p:txBody>
      </p:sp>
      <p:pic>
        <p:nvPicPr>
          <p:cNvPr id="6147" name="Picture 3" descr="MCj0371076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4673600"/>
            <a:ext cx="13557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1905000" y="1600200"/>
            <a:ext cx="8001000" cy="2895600"/>
          </a:xfrm>
          <a:prstGeom prst="wedgeEllipseCallout">
            <a:avLst>
              <a:gd name="adj1" fmla="val 42597"/>
              <a:gd name="adj2" fmla="val 5208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11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ru-RU" altLang="ru-RU" sz="4000" dirty="0"/>
              <a:t>Что </a:t>
            </a:r>
            <a:r>
              <a:rPr lang="ru-RU" altLang="ru-RU" sz="4000" dirty="0" smtClean="0"/>
              <a:t>такое информационная система?</a:t>
            </a:r>
            <a:endParaRPr lang="ru-RU" altLang="ru-RU" sz="4000" dirty="0"/>
          </a:p>
        </p:txBody>
      </p:sp>
      <p:pic>
        <p:nvPicPr>
          <p:cNvPr id="6149" name="Picture 5" descr="j03012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1" y="4603750"/>
            <a:ext cx="2073275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429000" y="5283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11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i="1"/>
              <a:t>Версии зала...</a:t>
            </a:r>
          </a:p>
        </p:txBody>
      </p:sp>
    </p:spTree>
    <p:extLst>
      <p:ext uri="{BB962C8B-B14F-4D97-AF65-F5344CB8AC3E}">
        <p14:creationId xmlns:p14="http://schemas.microsoft.com/office/powerpoint/2010/main" val="348161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Информационная система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i="1" dirty="0"/>
              <a:t>Информационная система </a:t>
            </a:r>
            <a:r>
              <a:rPr lang="ru-RU" sz="2000" dirty="0"/>
              <a:t>— взаимосвязанная совокупность средств, </a:t>
            </a:r>
            <a:r>
              <a:rPr lang="ru-RU" sz="2000" dirty="0" smtClean="0"/>
              <a:t>методов </a:t>
            </a:r>
            <a:r>
              <a:rPr lang="ru-RU" sz="2000" dirty="0"/>
              <a:t>и персонала, используемых для хранения, обработки и выдачи </a:t>
            </a:r>
            <a:r>
              <a:rPr lang="ru-RU" sz="2000" dirty="0" smtClean="0"/>
              <a:t>информации в </a:t>
            </a:r>
            <a:r>
              <a:rPr lang="ru-RU" sz="2000" dirty="0"/>
              <a:t>интересах достижения поставленных </a:t>
            </a:r>
            <a:r>
              <a:rPr lang="ru-RU" sz="2000" dirty="0" smtClean="0"/>
              <a:t>целей.</a:t>
            </a:r>
          </a:p>
          <a:p>
            <a:r>
              <a:rPr lang="ru-RU" sz="2000" b="1" i="1" dirty="0"/>
              <a:t>Информационная система </a:t>
            </a:r>
            <a:r>
              <a:rPr lang="ru-RU" sz="2000" dirty="0"/>
              <a:t>— </a:t>
            </a:r>
            <a:r>
              <a:rPr lang="ru-RU" sz="2000" dirty="0" smtClean="0"/>
              <a:t>организованная совокупность </a:t>
            </a:r>
            <a:r>
              <a:rPr lang="ru-RU" sz="2000" dirty="0"/>
              <a:t>программно-технических и других вспомогательных средств, </a:t>
            </a:r>
            <a:r>
              <a:rPr lang="ru-RU" sz="2000" dirty="0" smtClean="0"/>
              <a:t>технологических </a:t>
            </a:r>
            <a:r>
              <a:rPr lang="ru-RU" sz="2000" dirty="0"/>
              <a:t>процессов и функционально-определенных групп работников, </a:t>
            </a:r>
            <a:r>
              <a:rPr lang="ru-RU" sz="2000" dirty="0" smtClean="0"/>
              <a:t>обеспечивающих </a:t>
            </a:r>
            <a:r>
              <a:rPr lang="ru-RU" sz="2000" dirty="0"/>
              <a:t>сбор, представление и накопление </a:t>
            </a:r>
            <a:r>
              <a:rPr lang="ru-RU" sz="2000" dirty="0" smtClean="0"/>
              <a:t>информационных </a:t>
            </a:r>
            <a:r>
              <a:rPr lang="ru-RU" sz="2000" dirty="0"/>
              <a:t>ресурсов в </a:t>
            </a:r>
            <a:r>
              <a:rPr lang="ru-RU" sz="2000" dirty="0" smtClean="0"/>
              <a:t>определенной </a:t>
            </a:r>
            <a:r>
              <a:rPr lang="ru-RU" sz="2000" dirty="0"/>
              <a:t>предметной области, поиск </a:t>
            </a:r>
            <a:r>
              <a:rPr lang="ru-RU" sz="2000" dirty="0" smtClean="0"/>
              <a:t>и выдачу </a:t>
            </a:r>
            <a:r>
              <a:rPr lang="ru-RU" sz="2000" dirty="0"/>
              <a:t>сведений, необходимых для </a:t>
            </a:r>
            <a:r>
              <a:rPr lang="ru-RU" sz="2000" dirty="0" smtClean="0"/>
              <a:t>удовлетворения </a:t>
            </a:r>
            <a:r>
              <a:rPr lang="ru-RU" sz="2000" dirty="0"/>
              <a:t>информационных </a:t>
            </a:r>
            <a:r>
              <a:rPr lang="ru-RU" sz="2000" dirty="0" smtClean="0"/>
              <a:t> потребностей </a:t>
            </a:r>
            <a:r>
              <a:rPr lang="ru-RU" sz="2000" dirty="0"/>
              <a:t>установленного </a:t>
            </a:r>
            <a:r>
              <a:rPr lang="ru-RU" sz="2000" dirty="0" smtClean="0"/>
              <a:t>контингента пользователей </a:t>
            </a:r>
            <a:r>
              <a:rPr lang="ru-RU" sz="2000" dirty="0"/>
              <a:t>— абонентов </a:t>
            </a:r>
            <a:r>
              <a:rPr lang="ru-RU" sz="2000" dirty="0" smtClean="0"/>
              <a:t>системы.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57708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ИС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b="1" i="1" dirty="0"/>
              <a:t>Информационная </a:t>
            </a:r>
            <a:r>
              <a:rPr lang="ru-RU" b="1" i="1" dirty="0" smtClean="0"/>
              <a:t>система</a:t>
            </a:r>
            <a:r>
              <a:rPr lang="en-US" b="1" i="1" dirty="0" smtClean="0"/>
              <a:t> </a:t>
            </a:r>
            <a:r>
              <a:rPr lang="ru-RU" dirty="0" smtClean="0"/>
              <a:t>–</a:t>
            </a:r>
            <a:r>
              <a:rPr lang="ru-RU" dirty="0"/>
              <a:t>это объединение одного или более процессов, аппаратных и программных средств, оборудования и людей для обеспечения возможности удовлетворения определенных потребностей или целей.</a:t>
            </a:r>
          </a:p>
          <a:p>
            <a:r>
              <a:rPr lang="ru-RU" b="1" dirty="0" smtClean="0"/>
              <a:t>Информационная </a:t>
            </a:r>
            <a:r>
              <a:rPr lang="ru-RU" b="1" dirty="0"/>
              <a:t>система </a:t>
            </a:r>
            <a:r>
              <a:rPr lang="ru-RU" dirty="0"/>
              <a:t>предназначена для своевременного обеспечения людей надлежащей информацией, то есть для удовлетворения конкретных информационных потребностей в рамках определенной предметной области, при этом результатом функционирования информационных систем является информационная продукция —документы, информационные массивы, базы данных и информационные услуги.</a:t>
            </a:r>
          </a:p>
          <a:p>
            <a:pPr marL="0" indent="0" algn="r">
              <a:buNone/>
            </a:pPr>
            <a:r>
              <a:rPr lang="ru-RU" dirty="0"/>
              <a:t>Стандарте </a:t>
            </a:r>
            <a:r>
              <a:rPr lang="en-US" i="1" dirty="0"/>
              <a:t>ISO/IEC-12207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450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07950"/>
            <a:ext cx="7772400" cy="768350"/>
          </a:xfrm>
        </p:spPr>
        <p:txBody>
          <a:bodyPr/>
          <a:lstStyle/>
          <a:p>
            <a:r>
              <a:rPr lang="ru-RU" altLang="ru-RU" sz="4000"/>
              <a:t>Введение в методологию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990600"/>
            <a:ext cx="8382000" cy="1905000"/>
          </a:xfrm>
        </p:spPr>
        <p:txBody>
          <a:bodyPr/>
          <a:lstStyle/>
          <a:p>
            <a:pPr algn="just"/>
            <a:r>
              <a:rPr lang="ru-RU" altLang="ru-RU" sz="2800" b="1" i="1" u="sng" dirty="0"/>
              <a:t>Методология</a:t>
            </a:r>
            <a:r>
              <a:rPr lang="ru-RU" altLang="ru-RU" sz="2800" i="1" dirty="0"/>
              <a:t> – принципы и способы организации теоретической и практической деятельности. Совокупность методов, применяемых в какой-либо науке.</a:t>
            </a:r>
            <a:endParaRPr lang="en-US" altLang="ru-RU" sz="2800" i="1" dirty="0"/>
          </a:p>
          <a:p>
            <a:pPr algn="just">
              <a:buFontTx/>
              <a:buNone/>
            </a:pPr>
            <a:endParaRPr lang="ru-RU" altLang="ru-RU" dirty="0"/>
          </a:p>
        </p:txBody>
      </p:sp>
      <p:pic>
        <p:nvPicPr>
          <p:cNvPr id="8196" name="Picture 4" descr="MCAN00790_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938" y="3124200"/>
            <a:ext cx="3294062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804231" y="3124200"/>
            <a:ext cx="666336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5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7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8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ru-RU" altLang="ru-RU" sz="2800" dirty="0"/>
              <a:t>Для проектирования </a:t>
            </a:r>
            <a:r>
              <a:rPr lang="ru-RU" altLang="ru-RU" sz="2800" dirty="0" smtClean="0"/>
              <a:t>ИС</a:t>
            </a:r>
            <a:r>
              <a:rPr lang="en-US" altLang="ru-RU" sz="2800" dirty="0" smtClean="0"/>
              <a:t>:</a:t>
            </a:r>
            <a:endParaRPr lang="en-US" altLang="ru-RU" sz="2800" dirty="0"/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ru-RU" altLang="ru-RU" sz="2800" b="1" u="sng" dirty="0"/>
              <a:t>Методология</a:t>
            </a:r>
            <a:r>
              <a:rPr lang="ru-RU" altLang="ru-RU" sz="2800" dirty="0"/>
              <a:t> есть методы, принципы и способы организации деятельности проектной группы для</a:t>
            </a:r>
            <a:r>
              <a:rPr lang="en-US" altLang="ru-RU" sz="2800" dirty="0"/>
              <a:t> </a:t>
            </a:r>
            <a:r>
              <a:rPr lang="ru-RU" altLang="ru-RU" sz="2800" dirty="0"/>
              <a:t>создания </a:t>
            </a:r>
            <a:r>
              <a:rPr lang="ru-RU" altLang="ru-RU" sz="2800" dirty="0" smtClean="0"/>
              <a:t>информационной системы</a:t>
            </a:r>
            <a:endParaRPr lang="en-US" altLang="ru-RU" sz="2800" dirty="0"/>
          </a:p>
        </p:txBody>
      </p:sp>
    </p:spTree>
    <p:extLst>
      <p:ext uri="{BB962C8B-B14F-4D97-AF65-F5344CB8AC3E}">
        <p14:creationId xmlns:p14="http://schemas.microsoft.com/office/powerpoint/2010/main" val="1019792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2250"/>
            <a:ext cx="7772400" cy="768350"/>
          </a:xfrm>
        </p:spPr>
        <p:txBody>
          <a:bodyPr/>
          <a:lstStyle/>
          <a:p>
            <a:r>
              <a:rPr lang="ru-RU" altLang="ru-RU" sz="4000" dirty="0"/>
              <a:t>Введение в </a:t>
            </a:r>
            <a:r>
              <a:rPr lang="ru-RU" altLang="ru-RU" sz="4000" dirty="0" smtClean="0"/>
              <a:t>технологию</a:t>
            </a:r>
            <a:endParaRPr lang="ru-RU" altLang="ru-RU" sz="40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104900"/>
            <a:ext cx="8382000" cy="1905000"/>
          </a:xfrm>
        </p:spPr>
        <p:txBody>
          <a:bodyPr/>
          <a:lstStyle/>
          <a:p>
            <a:r>
              <a:rPr lang="ru-RU" sz="2800" b="1" u="sng" dirty="0"/>
              <a:t>Технология</a:t>
            </a:r>
            <a:r>
              <a:rPr lang="ru-RU" sz="2800" dirty="0"/>
              <a:t> — это совокупность методов, способов, инструментов и процессов для достижения желаемого результата или решения практических задач</a:t>
            </a:r>
          </a:p>
          <a:p>
            <a:pPr algn="just">
              <a:buFontTx/>
              <a:buNone/>
            </a:pPr>
            <a:endParaRPr lang="ru-RU" altLang="ru-RU" dirty="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804231" y="3124200"/>
            <a:ext cx="6663369" cy="3022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ru-RU" altLang="ru-RU" sz="2800" dirty="0"/>
              <a:t>Для проектирования </a:t>
            </a:r>
            <a:r>
              <a:rPr lang="ru-RU" altLang="ru-RU" sz="2800" dirty="0" smtClean="0"/>
              <a:t>ИС</a:t>
            </a:r>
            <a:r>
              <a:rPr lang="en-US" altLang="ru-RU" sz="2800" dirty="0" smtClean="0"/>
              <a:t>:</a:t>
            </a:r>
            <a:endParaRPr lang="en-US" altLang="ru-RU" sz="2800" dirty="0"/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ru-RU" sz="2800" b="1" u="sng" dirty="0" smtClean="0"/>
              <a:t>Технология</a:t>
            </a:r>
            <a:r>
              <a:rPr lang="ru-RU" sz="2800" b="1" dirty="0" smtClean="0"/>
              <a:t> </a:t>
            </a:r>
            <a:r>
              <a:rPr lang="ru-RU" sz="2800" dirty="0" smtClean="0"/>
              <a:t>— </a:t>
            </a:r>
            <a:r>
              <a:rPr lang="ru-RU" sz="2800" dirty="0"/>
              <a:t>это упорядоченный набор методов, правил, этапов и инструментов (включая программное обеспечение), с помощью которых создают, внедряют и развивают информационные системы</a:t>
            </a:r>
            <a:endParaRPr lang="en-US" alt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6400" y="2705100"/>
            <a:ext cx="35814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Методология и технология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Методология</a:t>
            </a:r>
            <a:r>
              <a:rPr lang="ru-RU" sz="2800" dirty="0"/>
              <a:t> включает: стратегию проектирования, принципы моделирования данных и процессов, критерии оценки качества системы</a:t>
            </a:r>
            <a:r>
              <a:rPr lang="ru-RU" sz="2800" dirty="0" smtClean="0"/>
              <a:t>.</a:t>
            </a:r>
          </a:p>
          <a:p>
            <a:r>
              <a:rPr lang="ru-RU" sz="2800" b="1" dirty="0" smtClean="0"/>
              <a:t>Технология</a:t>
            </a:r>
            <a:r>
              <a:rPr lang="ru-RU" sz="2800" dirty="0" smtClean="0"/>
              <a:t> </a:t>
            </a:r>
            <a:r>
              <a:rPr lang="ru-RU" sz="2800" dirty="0"/>
              <a:t>включает: методологию + набор конкретных инструментов (программы, языки) + пошаговые инструкции (регламенты) + организацию работы команды (управление процессом)</a:t>
            </a:r>
          </a:p>
        </p:txBody>
      </p:sp>
    </p:spTree>
    <p:extLst>
      <p:ext uri="{BB962C8B-B14F-4D97-AF65-F5344CB8AC3E}">
        <p14:creationId xmlns:p14="http://schemas.microsoft.com/office/powerpoint/2010/main" val="82738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Методология и технология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Методология</a:t>
            </a:r>
            <a:r>
              <a:rPr lang="ru-RU" sz="2400" dirty="0"/>
              <a:t>: это системный подход, концепция, философия и свод принципов. Она определяет концептуальную модель ИС, этапы жизненного цикла, правила разделения задач и философию разработки (например, структурный подход, объектно-ориентированный подход, </a:t>
            </a:r>
            <a:r>
              <a:rPr lang="ru-RU" sz="2400" dirty="0" err="1"/>
              <a:t>Agile</a:t>
            </a:r>
            <a:r>
              <a:rPr lang="ru-RU" sz="2400" dirty="0" smtClean="0"/>
              <a:t>).</a:t>
            </a:r>
          </a:p>
          <a:p>
            <a:r>
              <a:rPr lang="ru-RU" sz="2400" b="1" dirty="0" smtClean="0"/>
              <a:t>Технология</a:t>
            </a:r>
            <a:r>
              <a:rPr lang="ru-RU" sz="2400" dirty="0"/>
              <a:t>: это практический производственный процесс. Она соединяет методологию, конкретные методы, организационные правила управления проектом и инструментальные программные средства (например, CASE-системы). </a:t>
            </a:r>
          </a:p>
        </p:txBody>
      </p:sp>
    </p:spTree>
    <p:extLst>
      <p:ext uri="{BB962C8B-B14F-4D97-AF65-F5344CB8AC3E}">
        <p14:creationId xmlns:p14="http://schemas.microsoft.com/office/powerpoint/2010/main" val="23988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Методология и технология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Технология первична по отношению к реализации конкретного проекта, но вторична к теории: она базируется на выбранной методологии. </a:t>
            </a:r>
            <a:endParaRPr lang="ru-RU" sz="2800" dirty="0" smtClean="0"/>
          </a:p>
          <a:p>
            <a:r>
              <a:rPr lang="ru-RU" sz="2800" dirty="0" smtClean="0"/>
              <a:t>Без </a:t>
            </a:r>
            <a:r>
              <a:rPr lang="ru-RU" sz="2800" dirty="0"/>
              <a:t>методологии технология — это просто набор разрозненных инструментов, а без технологии методология остается лишь абстрактной теорией</a:t>
            </a:r>
          </a:p>
        </p:txBody>
      </p:sp>
    </p:spTree>
    <p:extLst>
      <p:ext uri="{BB962C8B-B14F-4D97-AF65-F5344CB8AC3E}">
        <p14:creationId xmlns:p14="http://schemas.microsoft.com/office/powerpoint/2010/main" val="389964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 технологии ПИС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1816680"/>
            <a:ext cx="10058400" cy="4187511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 smtClean="0"/>
              <a:t>Технология </a:t>
            </a:r>
            <a:r>
              <a:rPr lang="ru-RU" sz="2800" dirty="0"/>
              <a:t>проектирования определяется как совокупность трех составляющих</a:t>
            </a:r>
            <a:r>
              <a:rPr lang="ru-RU" sz="2400" dirty="0"/>
              <a:t>:</a:t>
            </a:r>
          </a:p>
          <a:p>
            <a:r>
              <a:rPr lang="ru-RU" sz="2400" dirty="0"/>
              <a:t>пошаговой процедуры, определяющей последовательность технологических операций </a:t>
            </a:r>
            <a:r>
              <a:rPr lang="ru-RU" sz="2400" dirty="0" smtClean="0"/>
              <a:t>проектирования;</a:t>
            </a:r>
            <a:endParaRPr lang="ru-RU" sz="2400" dirty="0"/>
          </a:p>
          <a:p>
            <a:r>
              <a:rPr lang="ru-RU" sz="2400" dirty="0"/>
              <a:t>критериев и правил, используемых для оценки результатов выполнения технологических операций;</a:t>
            </a:r>
          </a:p>
          <a:p>
            <a:r>
              <a:rPr lang="ru-RU" sz="2400" dirty="0"/>
              <a:t>нотаций (графических и текстовых средств), используемых для описания проектируемой системы.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224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9660" y="428598"/>
            <a:ext cx="10058400" cy="1371600"/>
          </a:xfrm>
        </p:spPr>
        <p:txBody>
          <a:bodyPr/>
          <a:lstStyle/>
          <a:p>
            <a:r>
              <a:rPr lang="ru-RU" dirty="0" smtClean="0"/>
              <a:t>Технологическая операция</a:t>
            </a:r>
            <a:endParaRPr lang="ru-RU" dirty="0"/>
          </a:p>
        </p:txBody>
      </p:sp>
      <p:pic>
        <p:nvPicPr>
          <p:cNvPr id="2052" name="Picture 4" descr="https://citforum.ru/pictures/it/case/image339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" y="1706244"/>
            <a:ext cx="9700259" cy="452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01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технологии ПИС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технология </a:t>
            </a:r>
            <a:r>
              <a:rPr lang="ru-RU" dirty="0"/>
              <a:t>должна поддерживать полный ЖЦ ПО;</a:t>
            </a:r>
          </a:p>
          <a:p>
            <a:r>
              <a:rPr lang="ru-RU" dirty="0"/>
              <a:t>технология должна обеспечивать гарантированное достижение целей разработки ИС с заданным качеством и в установленное время;</a:t>
            </a:r>
          </a:p>
          <a:p>
            <a:r>
              <a:rPr lang="ru-RU" dirty="0"/>
              <a:t>технология должна обеспечивать возможность выполнения крупных проектов в виде подсистем (т.е. возможность декомпозиции проекта на составные части, разрабатываемые группами исполнителей ограниченной численности с последующей интеграцией составных частей</a:t>
            </a:r>
            <a:r>
              <a:rPr lang="ru-RU" dirty="0" smtClean="0"/>
              <a:t>);</a:t>
            </a:r>
          </a:p>
          <a:p>
            <a:r>
              <a:rPr lang="ru-RU" dirty="0"/>
              <a:t>технология должна обеспечивать возможность ведения работ по проектированию отдельных подсистем небольшими группами (3-7 человек</a:t>
            </a:r>
            <a:r>
              <a:rPr lang="ru-RU" dirty="0" smtClean="0"/>
              <a:t>);</a:t>
            </a:r>
          </a:p>
          <a:p>
            <a:r>
              <a:rPr lang="ru-RU" dirty="0"/>
              <a:t>технология должна обеспечивать минимальное время получения работоспособной </a:t>
            </a:r>
            <a:r>
              <a:rPr lang="ru-RU" dirty="0" smtClean="0"/>
              <a:t>ИС;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137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технологии ПИС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технология должна предусматривать возможность управления конфигурацией проекта, ведения версий проекта и его составляющих, возможность автоматического выпуска проектной документации и синхронизацию ее версий с версиями проекта;</a:t>
            </a:r>
          </a:p>
          <a:p>
            <a:r>
              <a:rPr lang="ru-RU" dirty="0"/>
              <a:t>технология должна обеспечивать независимость выполняемых проектных решений от средств реализации ИС (систем управления базами данных (СУБД), операционных систем, языков и систем программирования);</a:t>
            </a:r>
          </a:p>
          <a:p>
            <a:r>
              <a:rPr lang="ru-RU" dirty="0"/>
              <a:t>технология должна быть поддержана комплексом согласованных CASE-средств, обеспечивающих автоматизацию процессов, выполняемых на всех стадиях ЖЦ.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604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Стандарты технологии ПИС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стандарт проектирования;</a:t>
            </a:r>
          </a:p>
          <a:p>
            <a:r>
              <a:rPr lang="ru-RU" sz="3600" dirty="0"/>
              <a:t>стандарт оформления проектной документации;</a:t>
            </a:r>
          </a:p>
          <a:p>
            <a:r>
              <a:rPr lang="ru-RU" sz="3600" dirty="0"/>
              <a:t>стандарт пользовательского интерфейса.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4532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 проектирования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набор необходимых моделей (диаграмм) на каждой стадии проектирования и степень их детализации;</a:t>
            </a:r>
          </a:p>
          <a:p>
            <a:r>
              <a:rPr lang="ru-RU" dirty="0"/>
              <a:t>правила фиксации проектных решений на диаграммах, в том числе: правила именования объектов (включая соглашения по терминологии), набор атрибутов для всех объектов и правила их заполнения на каждой стадии, правила оформления диаграмм, включая требования к форме и размерам объектов, и т. д.;</a:t>
            </a:r>
          </a:p>
          <a:p>
            <a:r>
              <a:rPr lang="ru-RU" dirty="0"/>
              <a:t>требования к конфигурации рабочих мест разработчиков, включая настройки операционной системы, настройки CASE-средств, общие настройки проекта и т. д.;</a:t>
            </a:r>
          </a:p>
          <a:p>
            <a:r>
              <a:rPr lang="ru-RU" dirty="0"/>
              <a:t>механизм обеспечения совместной работы над проектом, в том числе: правила интеграции подсистем проекта, правила поддержания проекта в одинаковом для всех разработчиков состоянии (регламент обмена проектной информацией, механизм фиксации общих объектов и т.д.), правила проверки проектных решений на непротиворечивость и т. 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162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Стандарт оформления проектной документации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комплектность, состав и структуру документации на каждой стадии проектирования;</a:t>
            </a:r>
          </a:p>
          <a:p>
            <a:r>
              <a:rPr lang="ru-RU" dirty="0"/>
              <a:t>требования к ее оформлению (включая требования к содержанию разделов, подразделов, пунктов, таблиц и т.д.),</a:t>
            </a:r>
          </a:p>
          <a:p>
            <a:r>
              <a:rPr lang="ru-RU" dirty="0"/>
              <a:t>правила подготовки, рассмотрения, согласования и утверждения документации с указанием предельных сроков для каждой стадии;</a:t>
            </a:r>
          </a:p>
          <a:p>
            <a:r>
              <a:rPr lang="ru-RU" dirty="0"/>
              <a:t>требования к настройке издательской системы, используемой в качестве встроенного средства подготовки документации;</a:t>
            </a:r>
          </a:p>
          <a:p>
            <a:r>
              <a:rPr lang="ru-RU" dirty="0"/>
              <a:t>требования к настройке CASE-средств для обеспечения подготовки документации в соответствии с установленными требованиями.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962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 интерфейса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правила оформления экранов (шрифты и цветовая палитра), состав и расположение окон и элементов управления;</a:t>
            </a:r>
          </a:p>
          <a:p>
            <a:r>
              <a:rPr lang="ru-RU" sz="2400" dirty="0"/>
              <a:t>правила использования клавиатуры и мыши;</a:t>
            </a:r>
          </a:p>
          <a:p>
            <a:r>
              <a:rPr lang="ru-RU" sz="2400" dirty="0"/>
              <a:t>правила оформления текстов помощи;</a:t>
            </a:r>
          </a:p>
          <a:p>
            <a:r>
              <a:rPr lang="ru-RU" sz="2400" dirty="0"/>
              <a:t>перечень стандартных сообщений;</a:t>
            </a:r>
          </a:p>
          <a:p>
            <a:r>
              <a:rPr lang="ru-RU" sz="2400" dirty="0"/>
              <a:t>правила обработки реакции пользователя.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7878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/>
              <a:t>Методология</a:t>
            </a:r>
            <a:r>
              <a:rPr lang="ru-RU" altLang="ru-RU" sz="4000" b="1"/>
              <a:t> </a:t>
            </a:r>
            <a:r>
              <a:rPr lang="ru-RU" altLang="ru-RU" sz="4000"/>
              <a:t>создания информационных систем</a:t>
            </a:r>
          </a:p>
        </p:txBody>
      </p:sp>
      <p:sp>
        <p:nvSpPr>
          <p:cNvPr id="18435" name="Объект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 smtClean="0"/>
              <a:t> </a:t>
            </a:r>
            <a:r>
              <a:rPr lang="ru-RU" altLang="ru-RU" sz="2800" b="1" dirty="0" smtClean="0"/>
              <a:t>Методология </a:t>
            </a:r>
            <a:r>
              <a:rPr lang="ru-RU" altLang="ru-RU" sz="2800" dirty="0" smtClean="0"/>
              <a:t>создания информационных систем заключается в организации процесса построения информационной системы и обеспечении управления этим процессом для того, чтобы гарантировать выполнение требований как к самой системе, так и к характеристикам процесса разработки. </a:t>
            </a:r>
          </a:p>
        </p:txBody>
      </p:sp>
    </p:spTree>
    <p:extLst>
      <p:ext uri="{BB962C8B-B14F-4D97-AF65-F5344CB8AC3E}">
        <p14:creationId xmlns:p14="http://schemas.microsoft.com/office/powerpoint/2010/main" val="337611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 dirty="0" smtClean="0"/>
              <a:t>Цель методологии </a:t>
            </a:r>
            <a:r>
              <a:rPr lang="ru-RU" sz="4000" dirty="0"/>
              <a:t>построения информационных систем </a:t>
            </a:r>
          </a:p>
        </p:txBody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 smtClean="0"/>
              <a:t>Цель методологии заключается в регламентации процесса проектирования ИС и обеспечении управления этим процессом с тем, чтобы гарантировать выполнение требований как к самой ИС, так и к характеристикам процесса разработки </a:t>
            </a:r>
          </a:p>
        </p:txBody>
      </p:sp>
    </p:spTree>
    <p:extLst>
      <p:ext uri="{BB962C8B-B14F-4D97-AF65-F5344CB8AC3E}">
        <p14:creationId xmlns:p14="http://schemas.microsoft.com/office/powerpoint/2010/main" val="319498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 dirty="0"/>
              <a:t>Основные задачи методология проектирования </a:t>
            </a:r>
            <a:r>
              <a:rPr lang="ru-RU" sz="4000" dirty="0" smtClean="0"/>
              <a:t>ИС</a:t>
            </a:r>
            <a:endParaRPr lang="ru-RU" sz="4000" dirty="0"/>
          </a:p>
        </p:txBody>
      </p:sp>
      <p:sp>
        <p:nvSpPr>
          <p:cNvPr id="19458" name="Rectangle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60000" eaLnBrk="1" hangingPunct="1">
              <a:spcBef>
                <a:spcPts val="600"/>
              </a:spcBef>
            </a:pPr>
            <a:r>
              <a:rPr lang="ru-RU" sz="2400" dirty="0"/>
              <a:t>обеспечивать создание </a:t>
            </a:r>
            <a:r>
              <a:rPr lang="ru-RU" sz="2400" dirty="0" smtClean="0"/>
              <a:t>ИС</a:t>
            </a:r>
            <a:r>
              <a:rPr lang="ru-RU" sz="2400" dirty="0"/>
              <a:t>, отвечающих целям и задачам организации, а также предъявляемым требованиям по автоматизации деловых процессов заказчика; </a:t>
            </a:r>
          </a:p>
          <a:p>
            <a:pPr marL="360000" eaLnBrk="1" hangingPunct="1">
              <a:spcBef>
                <a:spcPts val="600"/>
              </a:spcBef>
            </a:pPr>
            <a:r>
              <a:rPr lang="ru-RU" sz="2400" dirty="0"/>
              <a:t>гарантировать создание системы с заданным качеством в заданные сроки и в рамках установленного бюджета проекта; </a:t>
            </a:r>
          </a:p>
          <a:p>
            <a:pPr marL="360000" eaLnBrk="1" hangingPunct="1">
              <a:spcBef>
                <a:spcPts val="600"/>
              </a:spcBef>
            </a:pPr>
            <a:r>
              <a:rPr lang="ru-RU" sz="2400" dirty="0"/>
              <a:t>поддерживать удобную дисциплину сопровождения, модификации и наращивания системы; </a:t>
            </a:r>
          </a:p>
          <a:p>
            <a:pPr marL="360000" eaLnBrk="1" hangingPunct="1">
              <a:spcBef>
                <a:spcPts val="600"/>
              </a:spcBef>
            </a:pPr>
            <a:r>
              <a:rPr lang="ru-RU" sz="2400" dirty="0"/>
              <a:t>обеспечивать преемственность разработки, т.е. использование в разрабатываемой ИС существующей информационной инфраструктуры организации (задела в области информационных технологий).</a:t>
            </a:r>
          </a:p>
          <a:p>
            <a:pPr eaLnBrk="1" hangingPunct="1">
              <a:lnSpc>
                <a:spcPct val="800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7751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 i="1" dirty="0"/>
              <a:t>Проектирование ИС</a:t>
            </a:r>
            <a:r>
              <a:rPr lang="ru-RU" sz="3600" dirty="0"/>
              <a:t> охватывает три основные области:</a:t>
            </a:r>
          </a:p>
        </p:txBody>
      </p:sp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xfrm>
            <a:off x="925417" y="2060576"/>
            <a:ext cx="9296496" cy="4525963"/>
          </a:xfrm>
        </p:spPr>
        <p:txBody>
          <a:bodyPr>
            <a:normAutofit fontScale="92500" lnSpcReduction="10000"/>
          </a:bodyPr>
          <a:lstStyle/>
          <a:p>
            <a:pPr marL="360000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800" dirty="0"/>
              <a:t>проектирование объектов данных, которые будут реализованы в базе данных; </a:t>
            </a:r>
          </a:p>
          <a:p>
            <a:pPr marL="360000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800" dirty="0"/>
              <a:t>проектирование программ, экранных форм, отчетов, которые будут обеспечивать выполнение запросов к данным; </a:t>
            </a:r>
          </a:p>
          <a:p>
            <a:pPr marL="360000"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sz="2800" dirty="0"/>
              <a:t>учет конкретной среды или технологии, а именно: топологии сети, конфигурации аппаратных средств, используемой архитектуры (файл-сервер или клиент-сервер), параллельной обработки, распределенной обработки данных и т.п.</a:t>
            </a:r>
          </a:p>
          <a:p>
            <a:pPr eaLnBrk="1" hangingPunct="1">
              <a:lnSpc>
                <a:spcPct val="90000"/>
              </a:lnSpc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0421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Заголовок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/>
              <a:t>Методология проектирования информационных систем</a:t>
            </a:r>
          </a:p>
        </p:txBody>
      </p:sp>
      <p:sp>
        <p:nvSpPr>
          <p:cNvPr id="21506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400"/>
              <a:t>Методология проектирования информационных систем описывает процесс создания и сопровождения систем в виде модели жизненного цикла (ЖЦ) ИС, представляя его как некоторую последовательность стадий и выполняемых на них процессов. </a:t>
            </a:r>
          </a:p>
          <a:p>
            <a:pPr eaLnBrk="1" hangingPunct="1"/>
            <a:r>
              <a:rPr lang="ru-RU" altLang="ru-RU" sz="2400"/>
              <a:t>Для каждого этапа определяются состав и последовательность выполняемых работ, получаемые результаты, методы и средства, необходимые для выполнения работ, роли и ответственность участников и т.д. </a:t>
            </a:r>
          </a:p>
        </p:txBody>
      </p:sp>
    </p:spTree>
    <p:extLst>
      <p:ext uri="{BB962C8B-B14F-4D97-AF65-F5344CB8AC3E}">
        <p14:creationId xmlns:p14="http://schemas.microsoft.com/office/powerpoint/2010/main" val="358091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400" dirty="0"/>
              <a:t>Модель жизненного цикла отражает различные состояния системы, начиная с момента возникновения необходимости в данной ИС и заканчивая моментом ее полного выхода из употребления.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dirty="0"/>
              <a:t>Модель жизненного цикла - структура, содержащая процессы, действия и задачи, которые осуществляются в ходе разработки, функционирования и сопровождения программного продукта в течение всей жизни системы, от определения требований до завершения ее использования.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ЖЦ 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100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874964" y="1989138"/>
            <a:ext cx="7793037" cy="113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ru-RU" altLang="ru-RU" sz="320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432176" y="2133601"/>
          <a:ext cx="5470525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VISIO" r:id="rId3" imgW="5471160" imgH="3584448" progId="Visio.Drawing.4">
                  <p:embed/>
                </p:oleObj>
              </mc:Choice>
              <mc:Fallback>
                <p:oleObj name="VISIO" r:id="rId3" imgW="5471160" imgH="3584448" progId="Visio.Drawing.4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2133601"/>
                        <a:ext cx="5470525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641916" y="5837583"/>
            <a:ext cx="845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000">
                <a:solidFill>
                  <a:schemeClr val="folHlink"/>
                </a:solidFill>
                <a:latin typeface="Tahoma" panose="020B0604030504040204" pitchFamily="34" charset="0"/>
              </a:rPr>
              <a:t>Стандартные фазы разработки ПО</a:t>
            </a:r>
            <a:endParaRPr lang="ru-RU" altLang="ru-RU" sz="2000">
              <a:latin typeface="Tahoma" panose="020B0604030504040204" pitchFamily="34" charset="0"/>
            </a:endParaRP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dirty="0"/>
              <a:t>Жизненный цикл разработки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1567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mtClean="0"/>
              <a:t>Процесс создания ИС</a:t>
            </a:r>
          </a:p>
        </p:txBody>
      </p:sp>
      <p:sp>
        <p:nvSpPr>
          <p:cNvPr id="22530" name="Rectangle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400" dirty="0" smtClean="0"/>
              <a:t>Согласно современной методологии, процесс создания ИС представляет собой процесс построения и последовательного преобразования ряда согласованных моделей на всех этапах жизненного цикла (ЖЦ) ИС. </a:t>
            </a:r>
          </a:p>
          <a:p>
            <a:pPr eaLnBrk="1" hangingPunct="1"/>
            <a:r>
              <a:rPr lang="ru-RU" sz="2400" dirty="0" smtClean="0"/>
              <a:t>На каждом этапе ЖЦ создаются специфичные для него модели - организации, требований к ИС, проекта ИС, требований к приложениям и т.д. </a:t>
            </a:r>
          </a:p>
        </p:txBody>
      </p:sp>
    </p:spTree>
    <p:extLst>
      <p:ext uri="{BB962C8B-B14F-4D97-AF65-F5344CB8AC3E}">
        <p14:creationId xmlns:p14="http://schemas.microsoft.com/office/powerpoint/2010/main" val="2122358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12674" name="Текс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r>
              <a:rPr lang="ru-RU" sz="7200" dirty="0"/>
              <a:t>Модели и их роль в создании систем</a:t>
            </a:r>
          </a:p>
          <a:p>
            <a:pPr algn="ctr" eaLnBrk="1" hangingPunct="1"/>
            <a:endParaRPr lang="ru-RU" sz="7200" dirty="0"/>
          </a:p>
          <a:p>
            <a:pPr algn="ctr" eaLnBrk="1" hangingPunct="1"/>
            <a:endParaRPr lang="ru-RU" sz="7200" dirty="0"/>
          </a:p>
          <a:p>
            <a:pPr algn="ctr" eaLnBrk="1" hangingPunct="1"/>
            <a:endParaRPr lang="ru-RU" sz="7200" dirty="0"/>
          </a:p>
        </p:txBody>
      </p:sp>
    </p:spTree>
    <p:extLst>
      <p:ext uri="{BB962C8B-B14F-4D97-AF65-F5344CB8AC3E}">
        <p14:creationId xmlns:p14="http://schemas.microsoft.com/office/powerpoint/2010/main" val="311994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5788" y="437373"/>
            <a:ext cx="10058400" cy="903383"/>
          </a:xfrm>
        </p:spPr>
        <p:txBody>
          <a:bodyPr/>
          <a:lstStyle/>
          <a:p>
            <a:r>
              <a:rPr lang="ru-RU" dirty="0" smtClean="0"/>
              <a:t>Сложность систем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5788" y="1849732"/>
            <a:ext cx="5609422" cy="4628186"/>
          </a:xfrm>
        </p:spPr>
        <p:txBody>
          <a:bodyPr>
            <a:normAutofit fontScale="92500" lnSpcReduction="10000"/>
          </a:bodyPr>
          <a:lstStyle/>
          <a:p>
            <a:r>
              <a:rPr lang="ru-RU" sz="2800" dirty="0"/>
              <a:t>Проблема сложности является главной проблемой, которую приходится решать при создании больших и сложных систем любой </a:t>
            </a:r>
            <a:r>
              <a:rPr lang="ru-RU" sz="2800" dirty="0" smtClean="0"/>
              <a:t>природы.</a:t>
            </a:r>
          </a:p>
          <a:p>
            <a:r>
              <a:rPr lang="ru-RU" sz="2800" dirty="0" smtClean="0"/>
              <a:t>«</a:t>
            </a:r>
            <a:r>
              <a:rPr lang="ru-RU" sz="2800" dirty="0"/>
              <a:t>Сложность является самым существенным и неотъемлемым свойством программных систем</a:t>
            </a:r>
            <a:r>
              <a:rPr lang="ru-RU" sz="2800" dirty="0" smtClean="0"/>
              <a:t>»</a:t>
            </a:r>
          </a:p>
          <a:p>
            <a:pPr algn="r"/>
            <a:r>
              <a:rPr lang="ru-RU" sz="2800" dirty="0"/>
              <a:t/>
            </a:r>
            <a:br>
              <a:rPr lang="ru-RU" sz="2800" dirty="0"/>
            </a:br>
            <a:r>
              <a:rPr lang="ru-RU" sz="2800" i="1" dirty="0"/>
              <a:t>Фредерик Брукс, руководитель проекта </a:t>
            </a:r>
            <a:r>
              <a:rPr lang="en-US" sz="2800" i="1" dirty="0"/>
              <a:t>OS</a:t>
            </a:r>
            <a:r>
              <a:rPr lang="ru-RU" sz="2800" i="1" dirty="0"/>
              <a:t>/ 360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239" y="308472"/>
            <a:ext cx="5277079" cy="630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19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dirty="0" smtClean="0"/>
              <a:t>Основные особенности крупных проектов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ru-RU" b="1" dirty="0" smtClean="0"/>
              <a:t>Техническая сложность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000" dirty="0" smtClean="0"/>
              <a:t>Структурная сложность (большое количество элементов и сложные взаимосвязи между ними)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000" dirty="0" smtClean="0"/>
              <a:t>Отсутствие полных аналогов, ограничивающее возможность использования типовых проектных решений и прикладных систем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000" dirty="0" smtClean="0"/>
              <a:t>Необходимость интеграции существующих и вновь разрабатываемых приложений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000" dirty="0" smtClean="0"/>
              <a:t>Функционирование в неоднородной среде на нескольких аппаратных платформах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000" dirty="0" smtClean="0"/>
              <a:t>Высокие требования к надёжности и производительности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1520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dirty="0" smtClean="0"/>
              <a:t>Основные особенности крупных проектов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799" y="2103120"/>
            <a:ext cx="10478877" cy="3931920"/>
          </a:xfrm>
        </p:spPr>
        <p:txBody>
          <a:bodyPr rtlCol="0">
            <a:normAutofit lnSpcReduction="10000"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ru-RU" b="1" dirty="0" smtClean="0"/>
              <a:t>Сложность управления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400" dirty="0" smtClean="0"/>
              <a:t>Сильное воздействие внешней среды (политика, экономическая ситуация, контракты, много заинтересованных лиц, противоречивые требования)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400" dirty="0" smtClean="0"/>
              <a:t>Большой коллектив разработчиков, много различных проектов и продуктов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400" dirty="0" smtClean="0"/>
              <a:t>Разобщённость и разнородность отдельных групп, разработчиков по уровню квалификации и традициям использования инструментальных средств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sz="2400" dirty="0"/>
              <a:t>З</a:t>
            </a:r>
            <a:r>
              <a:rPr lang="ru-RU" sz="2400" dirty="0" smtClean="0"/>
              <a:t>начительная временная протяжённость проекта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0719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Преодоление сложности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103120"/>
            <a:ext cx="10369138" cy="3931920"/>
          </a:xfrm>
        </p:spPr>
        <p:txBody>
          <a:bodyPr/>
          <a:lstStyle/>
          <a:p>
            <a:r>
              <a:rPr lang="ru-RU" sz="3600" dirty="0"/>
              <a:t>Главный способ преодоления сложности разработки больших систем  - правильная </a:t>
            </a:r>
            <a:r>
              <a:rPr lang="ru-RU" sz="3600" dirty="0" smtClean="0"/>
              <a:t>декомпозиция</a:t>
            </a:r>
          </a:p>
          <a:p>
            <a:r>
              <a:rPr lang="ru-RU" sz="3600" dirty="0"/>
              <a:t>Графическое моделирование – средство преодоления сложности больших систем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29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5" name="Заголовок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112634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200" dirty="0" smtClean="0"/>
              <a:t>Определение модели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1828800"/>
            <a:ext cx="10058400" cy="4498428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ru-RU" sz="2400" b="1" dirty="0"/>
              <a:t>Модель – формализованное описание системы на определённом уровне абстракции</a:t>
            </a:r>
            <a:endParaRPr lang="ru-RU" sz="2400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ru-RU" dirty="0" smtClean="0"/>
              <a:t>Модель определяет конкретный аспект системы, использует набор диаграмм и документов заданного формата, а также отражает точку зрения и является объектом деятельности различных людей с конкретными интересами, ролями или задачами.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dirty="0" smtClean="0"/>
              <a:t>Моделирование – процесс создания точного описания системы в виде совокупности моделей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ru-RU" i="1" dirty="0" smtClean="0"/>
              <a:t>М есть модель системы </a:t>
            </a:r>
            <a:r>
              <a:rPr lang="en-US" i="1" dirty="0" smtClean="0"/>
              <a:t>S</a:t>
            </a:r>
            <a:r>
              <a:rPr lang="ru-RU" i="1" dirty="0" smtClean="0"/>
              <a:t>, если М  может быть использована для получения ответов на вопросы, относительно создаваемой системы, с точностью  А.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62729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09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2800" b="1" i="1"/>
              <a:t>Модели </a:t>
            </a:r>
            <a:r>
              <a:rPr lang="ru-RU" sz="2800" b="1"/>
              <a:t>– средства для визуализации, описания, проектирования и документирования архитектуры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103120"/>
            <a:ext cx="5870028" cy="3931920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ru-RU" dirty="0" smtClean="0"/>
          </a:p>
          <a:p>
            <a:pPr marL="0" indent="457200">
              <a:buNone/>
              <a:defRPr/>
            </a:pPr>
            <a:r>
              <a:rPr lang="ru-RU" dirty="0" smtClean="0"/>
              <a:t>«</a:t>
            </a:r>
            <a:r>
              <a:rPr lang="en-US" dirty="0" smtClean="0"/>
              <a:t> </a:t>
            </a:r>
            <a:r>
              <a:rPr lang="ru-RU" dirty="0" smtClean="0"/>
              <a:t>Моделирование </a:t>
            </a:r>
            <a:r>
              <a:rPr lang="ru-RU" dirty="0" smtClean="0"/>
              <a:t>является центральным звеном всей деятельности по созданию ПО. Модели строятся для того, чтобы понять и осмыслить структуру и поведение будущей системы, облегчить управление процессом её создания и уменьшить возможный риск, а также документировать принимаемые проектные </a:t>
            </a:r>
            <a:r>
              <a:rPr lang="ru-RU" dirty="0" smtClean="0"/>
              <a:t>решения</a:t>
            </a:r>
            <a:r>
              <a:rPr lang="en-US" dirty="0" smtClean="0"/>
              <a:t> </a:t>
            </a:r>
            <a:r>
              <a:rPr lang="ru-RU" dirty="0" smtClean="0"/>
              <a:t>»</a:t>
            </a:r>
            <a:endParaRPr lang="ru-RU" dirty="0" smtClean="0"/>
          </a:p>
          <a:p>
            <a:pPr marL="0" indent="0" algn="r">
              <a:buNone/>
              <a:defRPr/>
            </a:pPr>
            <a:r>
              <a:rPr lang="ru-RU" dirty="0" smtClean="0"/>
              <a:t> </a:t>
            </a:r>
            <a:r>
              <a:rPr lang="ru-RU" i="1" dirty="0" err="1"/>
              <a:t>Гради</a:t>
            </a:r>
            <a:r>
              <a:rPr lang="ru-RU" i="1" dirty="0"/>
              <a:t> Буч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814" y="1689735"/>
            <a:ext cx="4025462" cy="4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3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Два основных подхода к разработке систем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 smtClean="0"/>
              <a:t>Функционально – модульный, или структурный</a:t>
            </a:r>
          </a:p>
          <a:p>
            <a:pPr lvl="1"/>
            <a:r>
              <a:rPr lang="ru-RU" sz="1800" dirty="0" smtClean="0"/>
              <a:t>Функциональная, иди алгоритмическая декомпозиция: структура системы описывается в терминах иерархии её функций и передачи информации между отдельными функциональными элементами, а поведение системы описывается в терминах последовательности выполнения процедур, реализующих алгоритмы функций</a:t>
            </a:r>
          </a:p>
          <a:p>
            <a:r>
              <a:rPr lang="ru-RU" sz="2400" dirty="0" err="1" smtClean="0"/>
              <a:t>Объектно</a:t>
            </a:r>
            <a:r>
              <a:rPr lang="ru-RU" sz="2400" dirty="0" smtClean="0"/>
              <a:t> </a:t>
            </a:r>
            <a:r>
              <a:rPr lang="ru-RU" sz="2400" dirty="0"/>
              <a:t>– ориентированный</a:t>
            </a:r>
          </a:p>
          <a:p>
            <a:pPr lvl="1"/>
            <a:r>
              <a:rPr lang="ru-RU" sz="1800" dirty="0" smtClean="0"/>
              <a:t>Объектная декомпозиция: структура системы описывается в терминах объектов и связей между ними, а поведение системы описывается в терминах обмена сообщениями между объектами. </a:t>
            </a:r>
          </a:p>
          <a:p>
            <a:pPr marL="274320" lvl="1" indent="0">
              <a:buNone/>
            </a:pPr>
            <a:r>
              <a:rPr lang="ru-RU" sz="1800" dirty="0" smtClean="0"/>
              <a:t>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482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3" name="Заголовок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18040"/>
          </a:xfrm>
        </p:spPr>
        <p:txBody>
          <a:bodyPr/>
          <a:lstStyle/>
          <a:p>
            <a:r>
              <a:rPr lang="ru-RU" dirty="0" smtClean="0"/>
              <a:t>Язык моделирования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1798320"/>
            <a:ext cx="10058400" cy="3931920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Элементы модели</a:t>
            </a:r>
            <a:r>
              <a:rPr lang="ru-RU" sz="2400" dirty="0" smtClean="0"/>
              <a:t> – фундаментальные концепции моделирования и их семантика</a:t>
            </a:r>
          </a:p>
          <a:p>
            <a:r>
              <a:rPr lang="ru-RU" sz="2400" b="1" dirty="0" smtClean="0"/>
              <a:t>Нотация</a:t>
            </a:r>
            <a:r>
              <a:rPr lang="ru-RU" sz="2400" dirty="0" smtClean="0"/>
              <a:t>  - визуальное представление элементов моделирования</a:t>
            </a:r>
          </a:p>
          <a:p>
            <a:r>
              <a:rPr lang="ru-RU" sz="2400" b="1" dirty="0" smtClean="0"/>
              <a:t>Руководство по использованию </a:t>
            </a:r>
            <a:r>
              <a:rPr lang="ru-RU" sz="2400" dirty="0" smtClean="0"/>
              <a:t>– правила применения элементов для построения моделей ПО</a:t>
            </a:r>
          </a:p>
          <a:p>
            <a:r>
              <a:rPr lang="ru-RU" sz="2400" dirty="0" smtClean="0"/>
              <a:t>Важность использования графических языков моделирования:</a:t>
            </a:r>
          </a:p>
          <a:p>
            <a:pPr lvl="1"/>
            <a:r>
              <a:rPr lang="ru-RU" sz="2000" dirty="0" smtClean="0"/>
              <a:t>общение с экспертами организации;</a:t>
            </a:r>
          </a:p>
          <a:p>
            <a:pPr lvl="1"/>
            <a:r>
              <a:rPr lang="ru-RU" sz="2000" dirty="0" smtClean="0"/>
              <a:t>получение общего представления о системе;</a:t>
            </a:r>
          </a:p>
          <a:p>
            <a:pPr lvl="1"/>
            <a:r>
              <a:rPr lang="ru-RU" sz="2000" dirty="0" smtClean="0"/>
              <a:t>изучение методов проектирования.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3125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авон">
    <a:dk1>
      <a:sysClr val="windowText" lastClr="000000"/>
    </a:dk1>
    <a:lt1>
      <a:sysClr val="window" lastClr="FFFFFF"/>
    </a:lt1>
    <a:dk2>
      <a:srgbClr val="1485A4"/>
    </a:dk2>
    <a:lt2>
      <a:srgbClr val="E3DED1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F49100"/>
    </a:hlink>
    <a:folHlink>
      <a:srgbClr val="739D9B"/>
    </a:folHlink>
  </a:clrScheme>
</a:themeOverride>
</file>

<file path=ppt/theme/themeOverride2.xml><?xml version="1.0" encoding="utf-8"?>
<a:themeOverride xmlns:a="http://schemas.openxmlformats.org/drawingml/2006/main">
  <a:clrScheme name="Савон">
    <a:dk1>
      <a:sysClr val="windowText" lastClr="000000"/>
    </a:dk1>
    <a:lt1>
      <a:sysClr val="window" lastClr="FFFFFF"/>
    </a:lt1>
    <a:dk2>
      <a:srgbClr val="1485A4"/>
    </a:dk2>
    <a:lt2>
      <a:srgbClr val="E3DED1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F49100"/>
    </a:hlink>
    <a:folHlink>
      <a:srgbClr val="739D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1747</Words>
  <Application>Microsoft Office PowerPoint</Application>
  <PresentationFormat>Широкоэкранный</PresentationFormat>
  <Paragraphs>139</Paragraphs>
  <Slides>34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2" baseType="lpstr">
      <vt:lpstr>Arial</vt:lpstr>
      <vt:lpstr>Calibri</vt:lpstr>
      <vt:lpstr>Century Gothic</vt:lpstr>
      <vt:lpstr>Garamond</vt:lpstr>
      <vt:lpstr>Tahoma</vt:lpstr>
      <vt:lpstr>Times New Roman</vt:lpstr>
      <vt:lpstr>Савон</vt:lpstr>
      <vt:lpstr>VISIO</vt:lpstr>
      <vt:lpstr>Методологии и технологии проектирования информационных систем</vt:lpstr>
      <vt:lpstr>Вопросы</vt:lpstr>
      <vt:lpstr>Информационная система</vt:lpstr>
      <vt:lpstr>Определение ИС</vt:lpstr>
      <vt:lpstr>Введение в методологию</vt:lpstr>
      <vt:lpstr>Введение в технологию</vt:lpstr>
      <vt:lpstr>Методология и технология</vt:lpstr>
      <vt:lpstr>Методология и технология</vt:lpstr>
      <vt:lpstr>Методология и технология</vt:lpstr>
      <vt:lpstr>Определение технологии ПИС</vt:lpstr>
      <vt:lpstr>Технологическая операция</vt:lpstr>
      <vt:lpstr>Требования к технологии ПИС</vt:lpstr>
      <vt:lpstr>Требования к технологии ПИС</vt:lpstr>
      <vt:lpstr>Стандарты технологии ПИС</vt:lpstr>
      <vt:lpstr>Стандарт проектирования</vt:lpstr>
      <vt:lpstr>Стандарт оформления проектной документации</vt:lpstr>
      <vt:lpstr>Стандарт интерфейса</vt:lpstr>
      <vt:lpstr>Методология создания информационных систем</vt:lpstr>
      <vt:lpstr>Цель методологии построения информационных систем </vt:lpstr>
      <vt:lpstr>Основные задачи методология проектирования ИС</vt:lpstr>
      <vt:lpstr>Проектирование ИС охватывает три основные области:</vt:lpstr>
      <vt:lpstr>Методология проектирования информационных систем</vt:lpstr>
      <vt:lpstr>Модель ЖЦ ИС</vt:lpstr>
      <vt:lpstr>Жизненный цикл разработки информационных систем</vt:lpstr>
      <vt:lpstr>Процесс создания ИС</vt:lpstr>
      <vt:lpstr>   </vt:lpstr>
      <vt:lpstr>Сложность систем</vt:lpstr>
      <vt:lpstr>Основные особенности крупных проектов</vt:lpstr>
      <vt:lpstr>Основные особенности крупных проектов</vt:lpstr>
      <vt:lpstr>Преодоление сложности</vt:lpstr>
      <vt:lpstr>Определение модели</vt:lpstr>
      <vt:lpstr>Модели – средства для визуализации, описания, проектирования и документирования архитектуры системы</vt:lpstr>
      <vt:lpstr>Два основных подхода к разработке систем </vt:lpstr>
      <vt:lpstr>Язык моделирования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RePack by Diakov</cp:lastModifiedBy>
  <cp:revision>31</cp:revision>
  <dcterms:created xsi:type="dcterms:W3CDTF">2026-09-10T05:39:41Z</dcterms:created>
  <dcterms:modified xsi:type="dcterms:W3CDTF">2026-09-21T00:38:19Z</dcterms:modified>
</cp:coreProperties>
</file>
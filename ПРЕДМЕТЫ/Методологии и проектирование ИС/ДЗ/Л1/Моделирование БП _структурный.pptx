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6" r:id="rId1"/>
  </p:sldMasterIdLst>
  <p:notesMasterIdLst>
    <p:notesMasterId r:id="rId86"/>
  </p:notesMasterIdLst>
  <p:sldIdLst>
    <p:sldId id="341" r:id="rId2"/>
    <p:sldId id="340" r:id="rId3"/>
    <p:sldId id="256" r:id="rId4"/>
    <p:sldId id="257" r:id="rId5"/>
    <p:sldId id="258" r:id="rId6"/>
    <p:sldId id="259" r:id="rId7"/>
    <p:sldId id="260" r:id="rId8"/>
    <p:sldId id="342" r:id="rId9"/>
    <p:sldId id="396" r:id="rId10"/>
    <p:sldId id="397" r:id="rId11"/>
    <p:sldId id="398" r:id="rId12"/>
    <p:sldId id="399" r:id="rId13"/>
    <p:sldId id="400" r:id="rId14"/>
    <p:sldId id="381" r:id="rId15"/>
    <p:sldId id="401" r:id="rId16"/>
    <p:sldId id="402" r:id="rId17"/>
    <p:sldId id="262" r:id="rId18"/>
    <p:sldId id="343" r:id="rId19"/>
    <p:sldId id="344" r:id="rId20"/>
    <p:sldId id="345" r:id="rId21"/>
    <p:sldId id="346" r:id="rId22"/>
    <p:sldId id="347" r:id="rId23"/>
    <p:sldId id="261" r:id="rId24"/>
    <p:sldId id="348" r:id="rId25"/>
    <p:sldId id="263" r:id="rId26"/>
    <p:sldId id="351" r:id="rId27"/>
    <p:sldId id="265" r:id="rId28"/>
    <p:sldId id="358" r:id="rId29"/>
    <p:sldId id="266" r:id="rId30"/>
    <p:sldId id="359" r:id="rId31"/>
    <p:sldId id="382" r:id="rId32"/>
    <p:sldId id="383" r:id="rId33"/>
    <p:sldId id="384" r:id="rId34"/>
    <p:sldId id="354" r:id="rId35"/>
    <p:sldId id="355" r:id="rId36"/>
    <p:sldId id="356" r:id="rId37"/>
    <p:sldId id="267" r:id="rId38"/>
    <p:sldId id="268" r:id="rId39"/>
    <p:sldId id="315" r:id="rId40"/>
    <p:sldId id="360" r:id="rId41"/>
    <p:sldId id="361" r:id="rId42"/>
    <p:sldId id="362" r:id="rId43"/>
    <p:sldId id="363" r:id="rId44"/>
    <p:sldId id="364" r:id="rId45"/>
    <p:sldId id="365" r:id="rId46"/>
    <p:sldId id="366" r:id="rId47"/>
    <p:sldId id="367" r:id="rId48"/>
    <p:sldId id="368" r:id="rId49"/>
    <p:sldId id="369" r:id="rId50"/>
    <p:sldId id="370" r:id="rId51"/>
    <p:sldId id="371" r:id="rId52"/>
    <p:sldId id="372" r:id="rId53"/>
    <p:sldId id="373" r:id="rId54"/>
    <p:sldId id="374" r:id="rId55"/>
    <p:sldId id="375" r:id="rId56"/>
    <p:sldId id="376" r:id="rId57"/>
    <p:sldId id="377" r:id="rId58"/>
    <p:sldId id="378" r:id="rId59"/>
    <p:sldId id="379" r:id="rId60"/>
    <p:sldId id="380" r:id="rId61"/>
    <p:sldId id="269" r:id="rId62"/>
    <p:sldId id="270" r:id="rId63"/>
    <p:sldId id="271" r:id="rId64"/>
    <p:sldId id="272" r:id="rId65"/>
    <p:sldId id="273" r:id="rId66"/>
    <p:sldId id="274" r:id="rId67"/>
    <p:sldId id="275" r:id="rId68"/>
    <p:sldId id="276" r:id="rId69"/>
    <p:sldId id="316" r:id="rId70"/>
    <p:sldId id="317" r:id="rId71"/>
    <p:sldId id="385" r:id="rId72"/>
    <p:sldId id="386" r:id="rId73"/>
    <p:sldId id="387" r:id="rId74"/>
    <p:sldId id="388" r:id="rId75"/>
    <p:sldId id="389" r:id="rId76"/>
    <p:sldId id="277" r:id="rId77"/>
    <p:sldId id="278" r:id="rId78"/>
    <p:sldId id="279" r:id="rId79"/>
    <p:sldId id="390" r:id="rId80"/>
    <p:sldId id="391" r:id="rId81"/>
    <p:sldId id="392" r:id="rId82"/>
    <p:sldId id="393" r:id="rId83"/>
    <p:sldId id="394" r:id="rId84"/>
    <p:sldId id="395" r:id="rId85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881" autoAdjust="0"/>
  </p:normalViewPr>
  <p:slideViewPr>
    <p:cSldViewPr snapToObjects="1">
      <p:cViewPr varScale="1">
        <p:scale>
          <a:sx n="87" d="100"/>
          <a:sy n="87" d="100"/>
        </p:scale>
        <p:origin x="141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1094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76F779-5952-4CDC-AEBD-45D3CC052593}" type="doc">
      <dgm:prSet loTypeId="urn:microsoft.com/office/officeart/2005/8/layout/vList5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ru-RU"/>
        </a:p>
      </dgm:t>
    </dgm:pt>
    <dgm:pt modelId="{E4EE6B77-A755-4814-96CE-E97F9AF956B7}">
      <dgm:prSet phldrT="[Текст]" custT="1"/>
      <dgm:spPr/>
      <dgm:t>
        <a:bodyPr/>
        <a:lstStyle/>
        <a:p>
          <a:r>
            <a:rPr lang="ru-RU" sz="2000" dirty="0" smtClean="0"/>
            <a:t>основные</a:t>
          </a:r>
          <a:endParaRPr lang="ru-RU" sz="2000" dirty="0"/>
        </a:p>
      </dgm:t>
    </dgm:pt>
    <dgm:pt modelId="{5CAFE257-4119-4B73-A4E2-C7A406D2A7EC}" type="parTrans" cxnId="{05E175B6-3602-4B67-82C5-09076ECA5EC3}">
      <dgm:prSet/>
      <dgm:spPr/>
      <dgm:t>
        <a:bodyPr/>
        <a:lstStyle/>
        <a:p>
          <a:endParaRPr lang="ru-RU" sz="2000"/>
        </a:p>
      </dgm:t>
    </dgm:pt>
    <dgm:pt modelId="{EAA3E203-05EC-41C8-8546-CE8DF193BF75}" type="sibTrans" cxnId="{05E175B6-3602-4B67-82C5-09076ECA5EC3}">
      <dgm:prSet/>
      <dgm:spPr/>
      <dgm:t>
        <a:bodyPr/>
        <a:lstStyle/>
        <a:p>
          <a:endParaRPr lang="ru-RU" sz="2000"/>
        </a:p>
      </dgm:t>
    </dgm:pt>
    <dgm:pt modelId="{0B988A1A-E87C-427B-8089-425A29E31902}">
      <dgm:prSet phldrT="[Текст]" custT="1"/>
      <dgm:spPr/>
      <dgm:t>
        <a:bodyPr/>
        <a:lstStyle/>
        <a:p>
          <a:r>
            <a:rPr lang="ru-RU" sz="1800" dirty="0" smtClean="0"/>
            <a:t>непосредственно связанные с созданием стоимости, ориентированные на производство товаров или оказание услуг, составляющих основную деятельность организации и обеспечивающих получение дохода</a:t>
          </a:r>
          <a:endParaRPr lang="ru-RU" sz="1800" dirty="0"/>
        </a:p>
      </dgm:t>
    </dgm:pt>
    <dgm:pt modelId="{98D0E6E3-4CA0-47B1-98B9-829FAFBFB523}" type="parTrans" cxnId="{44340EB8-763D-449B-91DE-38AA77B92B23}">
      <dgm:prSet/>
      <dgm:spPr/>
      <dgm:t>
        <a:bodyPr/>
        <a:lstStyle/>
        <a:p>
          <a:endParaRPr lang="ru-RU" sz="2000"/>
        </a:p>
      </dgm:t>
    </dgm:pt>
    <dgm:pt modelId="{FE128D3E-CAF2-4553-9C74-4B4D551A7DAD}" type="sibTrans" cxnId="{44340EB8-763D-449B-91DE-38AA77B92B23}">
      <dgm:prSet/>
      <dgm:spPr/>
      <dgm:t>
        <a:bodyPr/>
        <a:lstStyle/>
        <a:p>
          <a:endParaRPr lang="ru-RU" sz="2000"/>
        </a:p>
      </dgm:t>
    </dgm:pt>
    <dgm:pt modelId="{3E5D5D34-0897-48E3-A191-F417A290E0AF}">
      <dgm:prSet phldrT="[Текст]" custT="1"/>
      <dgm:spPr/>
      <dgm:t>
        <a:bodyPr/>
        <a:lstStyle/>
        <a:p>
          <a:r>
            <a:rPr lang="ru-RU" sz="2000" dirty="0" smtClean="0"/>
            <a:t>обеспечивающие </a:t>
          </a:r>
          <a:endParaRPr lang="ru-RU" sz="2000" dirty="0"/>
        </a:p>
      </dgm:t>
    </dgm:pt>
    <dgm:pt modelId="{640BB2E6-30C4-4691-96BA-CECAD3B20C60}" type="parTrans" cxnId="{C0E14C15-0BE9-47B9-814C-314204D80E67}">
      <dgm:prSet/>
      <dgm:spPr/>
      <dgm:t>
        <a:bodyPr/>
        <a:lstStyle/>
        <a:p>
          <a:endParaRPr lang="ru-RU" sz="2000"/>
        </a:p>
      </dgm:t>
    </dgm:pt>
    <dgm:pt modelId="{4D175946-78E4-4CD8-A8C0-564FD795F79D}" type="sibTrans" cxnId="{C0E14C15-0BE9-47B9-814C-314204D80E67}">
      <dgm:prSet/>
      <dgm:spPr/>
      <dgm:t>
        <a:bodyPr/>
        <a:lstStyle/>
        <a:p>
          <a:endParaRPr lang="ru-RU" sz="2000"/>
        </a:p>
      </dgm:t>
    </dgm:pt>
    <dgm:pt modelId="{234971D5-0010-4150-B5FE-339B2580382D}">
      <dgm:prSet phldrT="[Текст]" custT="1"/>
      <dgm:spPr/>
      <dgm:t>
        <a:bodyPr/>
        <a:lstStyle/>
        <a:p>
          <a:r>
            <a:rPr lang="ru-RU" sz="1800" dirty="0" smtClean="0"/>
            <a:t>не увеличивают ценность продукта или услуги для потребителя, но необходимы для деятельности организации</a:t>
          </a:r>
          <a:endParaRPr lang="ru-RU" sz="1800" dirty="0"/>
        </a:p>
      </dgm:t>
    </dgm:pt>
    <dgm:pt modelId="{08B67450-B85C-4D11-ABE7-8AF63E6843DB}" type="parTrans" cxnId="{A7A0D2C0-3AAF-4A9E-9E03-0FF7EDE353D7}">
      <dgm:prSet/>
      <dgm:spPr/>
      <dgm:t>
        <a:bodyPr/>
        <a:lstStyle/>
        <a:p>
          <a:endParaRPr lang="ru-RU" sz="2000"/>
        </a:p>
      </dgm:t>
    </dgm:pt>
    <dgm:pt modelId="{8A8DEB42-1B86-429E-A646-3547E080F8AE}" type="sibTrans" cxnId="{A7A0D2C0-3AAF-4A9E-9E03-0FF7EDE353D7}">
      <dgm:prSet/>
      <dgm:spPr/>
      <dgm:t>
        <a:bodyPr/>
        <a:lstStyle/>
        <a:p>
          <a:endParaRPr lang="ru-RU" sz="2000"/>
        </a:p>
      </dgm:t>
    </dgm:pt>
    <dgm:pt modelId="{0A94D922-2390-42DD-B5E5-9844444CD27E}">
      <dgm:prSet phldrT="[Текст]" custT="1"/>
      <dgm:spPr/>
      <dgm:t>
        <a:bodyPr/>
        <a:lstStyle/>
        <a:p>
          <a:r>
            <a:rPr lang="ru-RU" sz="2000" dirty="0" smtClean="0"/>
            <a:t>управления</a:t>
          </a:r>
          <a:endParaRPr lang="ru-RU" sz="2000" dirty="0"/>
        </a:p>
      </dgm:t>
    </dgm:pt>
    <dgm:pt modelId="{852A1AFD-4203-4A42-AF44-FC926D4C6957}" type="parTrans" cxnId="{20A0337B-24D3-456B-925B-40298E68BF03}">
      <dgm:prSet/>
      <dgm:spPr/>
      <dgm:t>
        <a:bodyPr/>
        <a:lstStyle/>
        <a:p>
          <a:endParaRPr lang="ru-RU" sz="2000"/>
        </a:p>
      </dgm:t>
    </dgm:pt>
    <dgm:pt modelId="{D5900AC7-0B60-44EC-BD7A-39C4D21E1FC7}" type="sibTrans" cxnId="{20A0337B-24D3-456B-925B-40298E68BF03}">
      <dgm:prSet/>
      <dgm:spPr/>
      <dgm:t>
        <a:bodyPr/>
        <a:lstStyle/>
        <a:p>
          <a:endParaRPr lang="ru-RU" sz="2000"/>
        </a:p>
      </dgm:t>
    </dgm:pt>
    <dgm:pt modelId="{5FCCFD3E-6F8F-44F8-B93C-3AFA0E8C4092}">
      <dgm:prSet phldrT="[Текст]" custT="1"/>
      <dgm:spPr/>
      <dgm:t>
        <a:bodyPr/>
        <a:lstStyle/>
        <a:p>
          <a:r>
            <a:rPr lang="ru-RU" sz="1800" dirty="0" smtClean="0"/>
            <a:t>охватывают весь комплекс функций управления на уровне каждого бизнес-процесса и системы в целом</a:t>
          </a:r>
          <a:endParaRPr lang="ru-RU" sz="1800" dirty="0"/>
        </a:p>
      </dgm:t>
    </dgm:pt>
    <dgm:pt modelId="{03C813FC-5F14-457B-80B4-BC0C8F05EA79}" type="parTrans" cxnId="{10245293-50C3-448B-8DC8-3BC8C719C8DB}">
      <dgm:prSet/>
      <dgm:spPr/>
      <dgm:t>
        <a:bodyPr/>
        <a:lstStyle/>
        <a:p>
          <a:endParaRPr lang="ru-RU" sz="2000"/>
        </a:p>
      </dgm:t>
    </dgm:pt>
    <dgm:pt modelId="{50B0E9ED-9ABB-4D38-8BE3-33A2329674C9}" type="sibTrans" cxnId="{10245293-50C3-448B-8DC8-3BC8C719C8DB}">
      <dgm:prSet/>
      <dgm:spPr/>
      <dgm:t>
        <a:bodyPr/>
        <a:lstStyle/>
        <a:p>
          <a:endParaRPr lang="ru-RU" sz="2000"/>
        </a:p>
      </dgm:t>
    </dgm:pt>
    <dgm:pt modelId="{4A104914-DB3A-4251-B8A8-EE99FE57E225}" type="pres">
      <dgm:prSet presAssocID="{F976F779-5952-4CDC-AEBD-45D3CC05259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5E29267-77F7-4A22-A1BB-AE854E099436}" type="pres">
      <dgm:prSet presAssocID="{E4EE6B77-A755-4814-96CE-E97F9AF956B7}" presName="linNode" presStyleCnt="0"/>
      <dgm:spPr/>
    </dgm:pt>
    <dgm:pt modelId="{EC413405-D93C-442A-A7D5-4BD3A67D2C9E}" type="pres">
      <dgm:prSet presAssocID="{E4EE6B77-A755-4814-96CE-E97F9AF956B7}" presName="parentText" presStyleLbl="node1" presStyleIdx="0" presStyleCnt="3" custScaleX="90301" custLinFactNeighborX="-2123" custLinFactNeighborY="7736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49B950E-249C-44E7-B704-16E5A217F5AD}" type="pres">
      <dgm:prSet presAssocID="{E4EE6B77-A755-4814-96CE-E97F9AF956B7}" presName="descendantText" presStyleLbl="alignAccFollowNode1" presStyleIdx="0" presStyleCnt="3" custScaleX="112796" custScaleY="18168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D15CF61-8B4B-4997-AFD5-A2AF4E306BF5}" type="pres">
      <dgm:prSet presAssocID="{EAA3E203-05EC-41C8-8546-CE8DF193BF75}" presName="sp" presStyleCnt="0"/>
      <dgm:spPr/>
    </dgm:pt>
    <dgm:pt modelId="{537697DC-AAD6-4659-8F91-7BDDF4A9C7FF}" type="pres">
      <dgm:prSet presAssocID="{3E5D5D34-0897-48E3-A191-F417A290E0AF}" presName="linNode" presStyleCnt="0"/>
      <dgm:spPr/>
    </dgm:pt>
    <dgm:pt modelId="{C27B624E-E296-406C-8343-032061F259EC}" type="pres">
      <dgm:prSet presAssocID="{3E5D5D34-0897-48E3-A191-F417A290E0AF}" presName="parentText" presStyleLbl="node1" presStyleIdx="1" presStyleCnt="3" custScaleX="90482" custLinFactNeighborX="-212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51B2390-0E12-4E20-B79E-1D23486CB1F1}" type="pres">
      <dgm:prSet presAssocID="{3E5D5D34-0897-48E3-A191-F417A290E0AF}" presName="descendantText" presStyleLbl="alignAccFollowNode1" presStyleIdx="1" presStyleCnt="3" custScaleX="11279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5B6841B-621E-4164-A9A7-56FB6E6ED27B}" type="pres">
      <dgm:prSet presAssocID="{4D175946-78E4-4CD8-A8C0-564FD795F79D}" presName="sp" presStyleCnt="0"/>
      <dgm:spPr/>
    </dgm:pt>
    <dgm:pt modelId="{1474927C-F78A-4781-A609-45274165AA28}" type="pres">
      <dgm:prSet presAssocID="{0A94D922-2390-42DD-B5E5-9844444CD27E}" presName="linNode" presStyleCnt="0"/>
      <dgm:spPr/>
    </dgm:pt>
    <dgm:pt modelId="{60BBD3B9-4552-4182-9B96-7C509F0B8D7C}" type="pres">
      <dgm:prSet presAssocID="{0A94D922-2390-42DD-B5E5-9844444CD27E}" presName="parentText" presStyleLbl="node1" presStyleIdx="2" presStyleCnt="3" custScaleX="90482" custLinFactNeighborX="-2124" custLinFactNeighborY="-208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C6EC57D-1CB5-4B6D-B39E-2B9321CF193C}" type="pres">
      <dgm:prSet presAssocID="{0A94D922-2390-42DD-B5E5-9844444CD27E}" presName="descendantText" presStyleLbl="alignAccFollowNode1" presStyleIdx="2" presStyleCnt="3" custScaleX="11279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0E14C15-0BE9-47B9-814C-314204D80E67}" srcId="{F976F779-5952-4CDC-AEBD-45D3CC052593}" destId="{3E5D5D34-0897-48E3-A191-F417A290E0AF}" srcOrd="1" destOrd="0" parTransId="{640BB2E6-30C4-4691-96BA-CECAD3B20C60}" sibTransId="{4D175946-78E4-4CD8-A8C0-564FD795F79D}"/>
    <dgm:cxn modelId="{E67A2264-EB62-4811-9EE8-BA58D4B8FD93}" type="presOf" srcId="{234971D5-0010-4150-B5FE-339B2580382D}" destId="{051B2390-0E12-4E20-B79E-1D23486CB1F1}" srcOrd="0" destOrd="0" presId="urn:microsoft.com/office/officeart/2005/8/layout/vList5"/>
    <dgm:cxn modelId="{358F36E8-B866-4CD7-A235-C77CFB6194C0}" type="presOf" srcId="{0A94D922-2390-42DD-B5E5-9844444CD27E}" destId="{60BBD3B9-4552-4182-9B96-7C509F0B8D7C}" srcOrd="0" destOrd="0" presId="urn:microsoft.com/office/officeart/2005/8/layout/vList5"/>
    <dgm:cxn modelId="{20A0337B-24D3-456B-925B-40298E68BF03}" srcId="{F976F779-5952-4CDC-AEBD-45D3CC052593}" destId="{0A94D922-2390-42DD-B5E5-9844444CD27E}" srcOrd="2" destOrd="0" parTransId="{852A1AFD-4203-4A42-AF44-FC926D4C6957}" sibTransId="{D5900AC7-0B60-44EC-BD7A-39C4D21E1FC7}"/>
    <dgm:cxn modelId="{9682C89A-45E0-42B2-9D19-3EFFBA201EB8}" type="presOf" srcId="{F976F779-5952-4CDC-AEBD-45D3CC052593}" destId="{4A104914-DB3A-4251-B8A8-EE99FE57E225}" srcOrd="0" destOrd="0" presId="urn:microsoft.com/office/officeart/2005/8/layout/vList5"/>
    <dgm:cxn modelId="{A7A0D2C0-3AAF-4A9E-9E03-0FF7EDE353D7}" srcId="{3E5D5D34-0897-48E3-A191-F417A290E0AF}" destId="{234971D5-0010-4150-B5FE-339B2580382D}" srcOrd="0" destOrd="0" parTransId="{08B67450-B85C-4D11-ABE7-8AF63E6843DB}" sibTransId="{8A8DEB42-1B86-429E-A646-3547E080F8AE}"/>
    <dgm:cxn modelId="{81DF1883-0AED-4845-A016-ABD4DDB73378}" type="presOf" srcId="{E4EE6B77-A755-4814-96CE-E97F9AF956B7}" destId="{EC413405-D93C-442A-A7D5-4BD3A67D2C9E}" srcOrd="0" destOrd="0" presId="urn:microsoft.com/office/officeart/2005/8/layout/vList5"/>
    <dgm:cxn modelId="{05E175B6-3602-4B67-82C5-09076ECA5EC3}" srcId="{F976F779-5952-4CDC-AEBD-45D3CC052593}" destId="{E4EE6B77-A755-4814-96CE-E97F9AF956B7}" srcOrd="0" destOrd="0" parTransId="{5CAFE257-4119-4B73-A4E2-C7A406D2A7EC}" sibTransId="{EAA3E203-05EC-41C8-8546-CE8DF193BF75}"/>
    <dgm:cxn modelId="{44340EB8-763D-449B-91DE-38AA77B92B23}" srcId="{E4EE6B77-A755-4814-96CE-E97F9AF956B7}" destId="{0B988A1A-E87C-427B-8089-425A29E31902}" srcOrd="0" destOrd="0" parTransId="{98D0E6E3-4CA0-47B1-98B9-829FAFBFB523}" sibTransId="{FE128D3E-CAF2-4553-9C74-4B4D551A7DAD}"/>
    <dgm:cxn modelId="{450560F6-F456-4C57-A706-7611CF28891F}" type="presOf" srcId="{5FCCFD3E-6F8F-44F8-B93C-3AFA0E8C4092}" destId="{1C6EC57D-1CB5-4B6D-B39E-2B9321CF193C}" srcOrd="0" destOrd="0" presId="urn:microsoft.com/office/officeart/2005/8/layout/vList5"/>
    <dgm:cxn modelId="{C71103C1-40B2-4819-839F-2DAA49389335}" type="presOf" srcId="{0B988A1A-E87C-427B-8089-425A29E31902}" destId="{B49B950E-249C-44E7-B704-16E5A217F5AD}" srcOrd="0" destOrd="0" presId="urn:microsoft.com/office/officeart/2005/8/layout/vList5"/>
    <dgm:cxn modelId="{C5FCFDA7-4C63-4DC2-AC4E-990CC8AC3560}" type="presOf" srcId="{3E5D5D34-0897-48E3-A191-F417A290E0AF}" destId="{C27B624E-E296-406C-8343-032061F259EC}" srcOrd="0" destOrd="0" presId="urn:microsoft.com/office/officeart/2005/8/layout/vList5"/>
    <dgm:cxn modelId="{10245293-50C3-448B-8DC8-3BC8C719C8DB}" srcId="{0A94D922-2390-42DD-B5E5-9844444CD27E}" destId="{5FCCFD3E-6F8F-44F8-B93C-3AFA0E8C4092}" srcOrd="0" destOrd="0" parTransId="{03C813FC-5F14-457B-80B4-BC0C8F05EA79}" sibTransId="{50B0E9ED-9ABB-4D38-8BE3-33A2329674C9}"/>
    <dgm:cxn modelId="{7CE5D85A-9BAC-4398-89B6-14C03180579B}" type="presParOf" srcId="{4A104914-DB3A-4251-B8A8-EE99FE57E225}" destId="{75E29267-77F7-4A22-A1BB-AE854E099436}" srcOrd="0" destOrd="0" presId="urn:microsoft.com/office/officeart/2005/8/layout/vList5"/>
    <dgm:cxn modelId="{19419E6B-4764-4B9B-832E-BB428E155492}" type="presParOf" srcId="{75E29267-77F7-4A22-A1BB-AE854E099436}" destId="{EC413405-D93C-442A-A7D5-4BD3A67D2C9E}" srcOrd="0" destOrd="0" presId="urn:microsoft.com/office/officeart/2005/8/layout/vList5"/>
    <dgm:cxn modelId="{3764E1C6-4A22-42BA-8D44-6A181FDFA635}" type="presParOf" srcId="{75E29267-77F7-4A22-A1BB-AE854E099436}" destId="{B49B950E-249C-44E7-B704-16E5A217F5AD}" srcOrd="1" destOrd="0" presId="urn:microsoft.com/office/officeart/2005/8/layout/vList5"/>
    <dgm:cxn modelId="{C7270DD2-FBBF-4752-96FD-DD20AA574B73}" type="presParOf" srcId="{4A104914-DB3A-4251-B8A8-EE99FE57E225}" destId="{FD15CF61-8B4B-4997-AFD5-A2AF4E306BF5}" srcOrd="1" destOrd="0" presId="urn:microsoft.com/office/officeart/2005/8/layout/vList5"/>
    <dgm:cxn modelId="{ACDDEC2B-D7DF-4241-ACA2-8320513BCC8F}" type="presParOf" srcId="{4A104914-DB3A-4251-B8A8-EE99FE57E225}" destId="{537697DC-AAD6-4659-8F91-7BDDF4A9C7FF}" srcOrd="2" destOrd="0" presId="urn:microsoft.com/office/officeart/2005/8/layout/vList5"/>
    <dgm:cxn modelId="{C2A4D28F-11BE-46D2-842B-9C954C9C4986}" type="presParOf" srcId="{537697DC-AAD6-4659-8F91-7BDDF4A9C7FF}" destId="{C27B624E-E296-406C-8343-032061F259EC}" srcOrd="0" destOrd="0" presId="urn:microsoft.com/office/officeart/2005/8/layout/vList5"/>
    <dgm:cxn modelId="{0B6E7199-B8A5-4461-B0A3-F911DF598E6B}" type="presParOf" srcId="{537697DC-AAD6-4659-8F91-7BDDF4A9C7FF}" destId="{051B2390-0E12-4E20-B79E-1D23486CB1F1}" srcOrd="1" destOrd="0" presId="urn:microsoft.com/office/officeart/2005/8/layout/vList5"/>
    <dgm:cxn modelId="{2AC91414-5785-47CE-9E83-1B338C8B2067}" type="presParOf" srcId="{4A104914-DB3A-4251-B8A8-EE99FE57E225}" destId="{D5B6841B-621E-4164-A9A7-56FB6E6ED27B}" srcOrd="3" destOrd="0" presId="urn:microsoft.com/office/officeart/2005/8/layout/vList5"/>
    <dgm:cxn modelId="{B3476E65-B7B1-4D10-A5A4-FDFAD077D78A}" type="presParOf" srcId="{4A104914-DB3A-4251-B8A8-EE99FE57E225}" destId="{1474927C-F78A-4781-A609-45274165AA28}" srcOrd="4" destOrd="0" presId="urn:microsoft.com/office/officeart/2005/8/layout/vList5"/>
    <dgm:cxn modelId="{6AC57D81-6425-44AC-89B7-EC49596775E7}" type="presParOf" srcId="{1474927C-F78A-4781-A609-45274165AA28}" destId="{60BBD3B9-4552-4182-9B96-7C509F0B8D7C}" srcOrd="0" destOrd="0" presId="urn:microsoft.com/office/officeart/2005/8/layout/vList5"/>
    <dgm:cxn modelId="{DEC4539E-F8E7-4D42-B63B-6FBA8A9D4534}" type="presParOf" srcId="{1474927C-F78A-4781-A609-45274165AA28}" destId="{1C6EC57D-1CB5-4B6D-B39E-2B9321CF193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141BF0-9283-45E2-B9AF-834987C61E4E}" type="doc">
      <dgm:prSet loTypeId="urn:microsoft.com/office/officeart/2005/8/layout/vList5" loCatId="list" qsTypeId="urn:microsoft.com/office/officeart/2005/8/quickstyle/simple2" qsCatId="simple" csTypeId="urn:microsoft.com/office/officeart/2005/8/colors/accent1_2#2" csCatId="accent1" phldr="1"/>
      <dgm:spPr/>
      <dgm:t>
        <a:bodyPr/>
        <a:lstStyle/>
        <a:p>
          <a:endParaRPr lang="ru-RU"/>
        </a:p>
      </dgm:t>
    </dgm:pt>
    <dgm:pt modelId="{DAC05E12-E7DB-4694-A16C-897EF2A9C033}">
      <dgm:prSet phldrT="[Текст]" custT="1"/>
      <dgm:spPr/>
      <dgm:t>
        <a:bodyPr/>
        <a:lstStyle/>
        <a:p>
          <a:r>
            <a:rPr lang="ru-RU" sz="2800" dirty="0" smtClean="0"/>
            <a:t>AS-IS</a:t>
          </a:r>
          <a:endParaRPr lang="ru-RU" sz="2800" dirty="0"/>
        </a:p>
      </dgm:t>
    </dgm:pt>
    <dgm:pt modelId="{554AE94A-C3F4-4C73-AC71-B5713C2B9B2D}" type="parTrans" cxnId="{C09BD209-89A6-4D4C-B975-33001E9EF2F2}">
      <dgm:prSet/>
      <dgm:spPr/>
      <dgm:t>
        <a:bodyPr/>
        <a:lstStyle/>
        <a:p>
          <a:endParaRPr lang="ru-RU"/>
        </a:p>
      </dgm:t>
    </dgm:pt>
    <dgm:pt modelId="{F662AAE4-CB8D-46D2-9D5C-972361F1A2EC}" type="sibTrans" cxnId="{C09BD209-89A6-4D4C-B975-33001E9EF2F2}">
      <dgm:prSet/>
      <dgm:spPr/>
      <dgm:t>
        <a:bodyPr/>
        <a:lstStyle/>
        <a:p>
          <a:endParaRPr lang="ru-RU"/>
        </a:p>
      </dgm:t>
    </dgm:pt>
    <dgm:pt modelId="{17BFE839-B24E-4A74-B84A-931B392331A6}">
      <dgm:prSet phldrT="[Текст]" custT="1"/>
      <dgm:spPr/>
      <dgm:t>
        <a:bodyPr/>
        <a:lstStyle/>
        <a:p>
          <a:r>
            <a:rPr lang="ru-RU" sz="1800" dirty="0" smtClean="0"/>
            <a:t>"</a:t>
          </a:r>
          <a:r>
            <a:rPr lang="ru-RU" sz="1600" dirty="0" smtClean="0"/>
            <a:t>как есть"</a:t>
          </a:r>
          <a:endParaRPr lang="ru-RU" sz="1600" dirty="0"/>
        </a:p>
      </dgm:t>
    </dgm:pt>
    <dgm:pt modelId="{F2531048-D97E-4D55-991C-0600154EF947}" type="parTrans" cxnId="{E294B873-F4EF-4545-AC74-877139C243F5}">
      <dgm:prSet/>
      <dgm:spPr/>
      <dgm:t>
        <a:bodyPr/>
        <a:lstStyle/>
        <a:p>
          <a:endParaRPr lang="ru-RU"/>
        </a:p>
      </dgm:t>
    </dgm:pt>
    <dgm:pt modelId="{7851754A-9623-4CDE-A898-6652D7BA365A}" type="sibTrans" cxnId="{E294B873-F4EF-4545-AC74-877139C243F5}">
      <dgm:prSet/>
      <dgm:spPr/>
      <dgm:t>
        <a:bodyPr/>
        <a:lstStyle/>
        <a:p>
          <a:endParaRPr lang="ru-RU"/>
        </a:p>
      </dgm:t>
    </dgm:pt>
    <dgm:pt modelId="{06C70F56-D627-498C-9C5F-16D452A3965D}">
      <dgm:prSet phldrT="[Текст]" custT="1"/>
      <dgm:spPr/>
      <dgm:t>
        <a:bodyPr/>
        <a:lstStyle/>
        <a:p>
          <a:r>
            <a:rPr lang="ru-RU" sz="1600" dirty="0" smtClean="0"/>
            <a:t>отражающие существующее на момент обследования положение дел в организации позволяющие понять, каким образом функционирует данная организация</a:t>
          </a:r>
          <a:endParaRPr lang="ru-RU" sz="1600" dirty="0"/>
        </a:p>
      </dgm:t>
    </dgm:pt>
    <dgm:pt modelId="{4FD1A21D-F75D-4358-BC26-78F38BDD111E}" type="parTrans" cxnId="{23DDD4ED-4640-42C9-A4EB-6611119A0E4F}">
      <dgm:prSet/>
      <dgm:spPr/>
      <dgm:t>
        <a:bodyPr/>
        <a:lstStyle/>
        <a:p>
          <a:endParaRPr lang="ru-RU"/>
        </a:p>
      </dgm:t>
    </dgm:pt>
    <dgm:pt modelId="{C0B10D7C-20C5-4143-ABF2-307D5E1A6D72}" type="sibTrans" cxnId="{23DDD4ED-4640-42C9-A4EB-6611119A0E4F}">
      <dgm:prSet/>
      <dgm:spPr/>
      <dgm:t>
        <a:bodyPr/>
        <a:lstStyle/>
        <a:p>
          <a:endParaRPr lang="ru-RU"/>
        </a:p>
      </dgm:t>
    </dgm:pt>
    <dgm:pt modelId="{8A2447A1-4610-453A-9F96-36D6D1653213}">
      <dgm:prSet phldrT="[Текст]" custT="1"/>
      <dgm:spPr/>
      <dgm:t>
        <a:bodyPr/>
        <a:lstStyle/>
        <a:p>
          <a:r>
            <a:rPr lang="ru-RU" sz="2800" dirty="0" smtClean="0"/>
            <a:t>TO-BE</a:t>
          </a:r>
          <a:endParaRPr lang="ru-RU" sz="2800" dirty="0"/>
        </a:p>
      </dgm:t>
    </dgm:pt>
    <dgm:pt modelId="{4CADF8E7-97EE-4107-9004-82AC4CB1AB90}" type="parTrans" cxnId="{36305531-92A8-4017-A24A-22E46E1D60C8}">
      <dgm:prSet/>
      <dgm:spPr/>
      <dgm:t>
        <a:bodyPr/>
        <a:lstStyle/>
        <a:p>
          <a:endParaRPr lang="ru-RU"/>
        </a:p>
      </dgm:t>
    </dgm:pt>
    <dgm:pt modelId="{5AF23381-1165-4AD9-82C6-A5E70533A526}" type="sibTrans" cxnId="{36305531-92A8-4017-A24A-22E46E1D60C8}">
      <dgm:prSet/>
      <dgm:spPr/>
      <dgm:t>
        <a:bodyPr/>
        <a:lstStyle/>
        <a:p>
          <a:endParaRPr lang="ru-RU"/>
        </a:p>
      </dgm:t>
    </dgm:pt>
    <dgm:pt modelId="{5EAAC7E6-57F7-4F28-893B-E0DF0D476F6D}">
      <dgm:prSet phldrT="[Текст]" custT="1"/>
      <dgm:spPr/>
      <dgm:t>
        <a:bodyPr/>
        <a:lstStyle/>
        <a:p>
          <a:r>
            <a:rPr lang="ru-RU" sz="1800" dirty="0" smtClean="0"/>
            <a:t>"как будет"</a:t>
          </a:r>
          <a:endParaRPr lang="ru-RU" sz="1800" dirty="0"/>
        </a:p>
      </dgm:t>
    </dgm:pt>
    <dgm:pt modelId="{D50389CC-F602-4678-BB7F-F88042AAB56E}" type="parTrans" cxnId="{1A281F7E-5E88-4A23-9CC6-ECD7678B8A0B}">
      <dgm:prSet/>
      <dgm:spPr/>
      <dgm:t>
        <a:bodyPr/>
        <a:lstStyle/>
        <a:p>
          <a:endParaRPr lang="ru-RU"/>
        </a:p>
      </dgm:t>
    </dgm:pt>
    <dgm:pt modelId="{1561F3E7-0C20-4215-BF38-BE8D5D188D7E}" type="sibTrans" cxnId="{1A281F7E-5E88-4A23-9CC6-ECD7678B8A0B}">
      <dgm:prSet/>
      <dgm:spPr/>
      <dgm:t>
        <a:bodyPr/>
        <a:lstStyle/>
        <a:p>
          <a:endParaRPr lang="ru-RU"/>
        </a:p>
      </dgm:t>
    </dgm:pt>
    <dgm:pt modelId="{0DE67CA2-3E77-4A63-8E2B-E0D896CBB9CB}">
      <dgm:prSet phldrT="[Текст]" custT="1"/>
      <dgm:spPr/>
      <dgm:t>
        <a:bodyPr/>
        <a:lstStyle/>
        <a:p>
          <a:r>
            <a:rPr lang="ru-RU" sz="1800" dirty="0" smtClean="0"/>
            <a:t>отражает представление о новых процессах и технологиях работы организации</a:t>
          </a:r>
          <a:endParaRPr lang="ru-RU" sz="1800" dirty="0"/>
        </a:p>
      </dgm:t>
    </dgm:pt>
    <dgm:pt modelId="{6640DD66-AC9A-417C-879C-8AD8F451893D}" type="parTrans" cxnId="{C54C3FA9-DBE0-4684-87EF-5E1A86B2033A}">
      <dgm:prSet/>
      <dgm:spPr/>
      <dgm:t>
        <a:bodyPr/>
        <a:lstStyle/>
        <a:p>
          <a:endParaRPr lang="ru-RU"/>
        </a:p>
      </dgm:t>
    </dgm:pt>
    <dgm:pt modelId="{C336EB60-DDF2-40DA-977A-9B1FD57E4436}" type="sibTrans" cxnId="{C54C3FA9-DBE0-4684-87EF-5E1A86B2033A}">
      <dgm:prSet/>
      <dgm:spPr/>
      <dgm:t>
        <a:bodyPr/>
        <a:lstStyle/>
        <a:p>
          <a:endParaRPr lang="ru-RU"/>
        </a:p>
      </dgm:t>
    </dgm:pt>
    <dgm:pt modelId="{CF0594DB-B5D0-4361-838F-D858A378EACF}">
      <dgm:prSet phldrT="[Текст]" custT="1"/>
      <dgm:spPr/>
      <dgm:t>
        <a:bodyPr/>
        <a:lstStyle/>
        <a:p>
          <a:r>
            <a:rPr lang="ru-RU" sz="1600" dirty="0" smtClean="0"/>
            <a:t>позволяет выявить узкие места и сформулировать предложения по улучшению ситуации</a:t>
          </a:r>
          <a:endParaRPr lang="ru-RU" sz="1600" dirty="0"/>
        </a:p>
      </dgm:t>
    </dgm:pt>
    <dgm:pt modelId="{67C949B3-5055-4F09-965E-8D052DDB2728}" type="parTrans" cxnId="{4B26CC67-BD4A-48B5-BADB-E2EBD8A31DF2}">
      <dgm:prSet/>
      <dgm:spPr/>
      <dgm:t>
        <a:bodyPr/>
        <a:lstStyle/>
        <a:p>
          <a:endParaRPr lang="ru-RU"/>
        </a:p>
      </dgm:t>
    </dgm:pt>
    <dgm:pt modelId="{8FD6E657-A0FF-4D19-875C-17799D6C16DA}" type="sibTrans" cxnId="{4B26CC67-BD4A-48B5-BADB-E2EBD8A31DF2}">
      <dgm:prSet/>
      <dgm:spPr/>
      <dgm:t>
        <a:bodyPr/>
        <a:lstStyle/>
        <a:p>
          <a:endParaRPr lang="ru-RU"/>
        </a:p>
      </dgm:t>
    </dgm:pt>
    <dgm:pt modelId="{D097AB5A-4A70-41C4-BD38-5546638F8819}" type="pres">
      <dgm:prSet presAssocID="{E9141BF0-9283-45E2-B9AF-834987C61E4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A172833-6DC5-431C-8B66-457A1B916068}" type="pres">
      <dgm:prSet presAssocID="{DAC05E12-E7DB-4694-A16C-897EF2A9C033}" presName="linNode" presStyleCnt="0"/>
      <dgm:spPr/>
    </dgm:pt>
    <dgm:pt modelId="{5BFBF0D1-0A94-4879-883E-5D46591BC3B6}" type="pres">
      <dgm:prSet presAssocID="{DAC05E12-E7DB-4694-A16C-897EF2A9C033}" presName="parentText" presStyleLbl="node1" presStyleIdx="0" presStyleCnt="2" custScaleX="74632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BEA551A-FF56-49CD-BD9F-49A5956EC718}" type="pres">
      <dgm:prSet presAssocID="{DAC05E12-E7DB-4694-A16C-897EF2A9C033}" presName="descendantText" presStyleLbl="alignAccFollowNode1" presStyleIdx="0" presStyleCnt="2" custScaleX="112547" custScaleY="11690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F0034BE-F915-4AA8-906F-8D5B7B9BBE17}" type="pres">
      <dgm:prSet presAssocID="{F662AAE4-CB8D-46D2-9D5C-972361F1A2EC}" presName="sp" presStyleCnt="0"/>
      <dgm:spPr/>
    </dgm:pt>
    <dgm:pt modelId="{4BCE736D-9677-454A-A714-D0AB4D954C94}" type="pres">
      <dgm:prSet presAssocID="{8A2447A1-4610-453A-9F96-36D6D1653213}" presName="linNode" presStyleCnt="0"/>
      <dgm:spPr/>
    </dgm:pt>
    <dgm:pt modelId="{0A47F509-6706-4EC0-8E14-29DC3D3467CE}" type="pres">
      <dgm:prSet presAssocID="{8A2447A1-4610-453A-9F96-36D6D1653213}" presName="parentText" presStyleLbl="node1" presStyleIdx="1" presStyleCnt="2" custScaleX="74632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9B4EC60-CDFF-437C-8DF0-32DAE54AF740}" type="pres">
      <dgm:prSet presAssocID="{8A2447A1-4610-453A-9F96-36D6D1653213}" presName="descendantText" presStyleLbl="alignAccFollowNode1" presStyleIdx="1" presStyleCnt="2" custScaleX="11254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2821B5E-EE15-4337-B6AC-77ADC8605507}" type="presOf" srcId="{17BFE839-B24E-4A74-B84A-931B392331A6}" destId="{0BEA551A-FF56-49CD-BD9F-49A5956EC718}" srcOrd="0" destOrd="0" presId="urn:microsoft.com/office/officeart/2005/8/layout/vList5"/>
    <dgm:cxn modelId="{C09BD209-89A6-4D4C-B975-33001E9EF2F2}" srcId="{E9141BF0-9283-45E2-B9AF-834987C61E4E}" destId="{DAC05E12-E7DB-4694-A16C-897EF2A9C033}" srcOrd="0" destOrd="0" parTransId="{554AE94A-C3F4-4C73-AC71-B5713C2B9B2D}" sibTransId="{F662AAE4-CB8D-46D2-9D5C-972361F1A2EC}"/>
    <dgm:cxn modelId="{D41E8128-9478-4FF3-8E67-AF248758C240}" type="presOf" srcId="{E9141BF0-9283-45E2-B9AF-834987C61E4E}" destId="{D097AB5A-4A70-41C4-BD38-5546638F8819}" srcOrd="0" destOrd="0" presId="urn:microsoft.com/office/officeart/2005/8/layout/vList5"/>
    <dgm:cxn modelId="{23DDD4ED-4640-42C9-A4EB-6611119A0E4F}" srcId="{DAC05E12-E7DB-4694-A16C-897EF2A9C033}" destId="{06C70F56-D627-498C-9C5F-16D452A3965D}" srcOrd="1" destOrd="0" parTransId="{4FD1A21D-F75D-4358-BC26-78F38BDD111E}" sibTransId="{C0B10D7C-20C5-4143-ABF2-307D5E1A6D72}"/>
    <dgm:cxn modelId="{C54C3FA9-DBE0-4684-87EF-5E1A86B2033A}" srcId="{8A2447A1-4610-453A-9F96-36D6D1653213}" destId="{0DE67CA2-3E77-4A63-8E2B-E0D896CBB9CB}" srcOrd="1" destOrd="0" parTransId="{6640DD66-AC9A-417C-879C-8AD8F451893D}" sibTransId="{C336EB60-DDF2-40DA-977A-9B1FD57E4436}"/>
    <dgm:cxn modelId="{1A281F7E-5E88-4A23-9CC6-ECD7678B8A0B}" srcId="{8A2447A1-4610-453A-9F96-36D6D1653213}" destId="{5EAAC7E6-57F7-4F28-893B-E0DF0D476F6D}" srcOrd="0" destOrd="0" parTransId="{D50389CC-F602-4678-BB7F-F88042AAB56E}" sibTransId="{1561F3E7-0C20-4215-BF38-BE8D5D188D7E}"/>
    <dgm:cxn modelId="{79F99B59-371A-4CC0-ACF2-113227BB0BD1}" type="presOf" srcId="{0DE67CA2-3E77-4A63-8E2B-E0D896CBB9CB}" destId="{39B4EC60-CDFF-437C-8DF0-32DAE54AF740}" srcOrd="0" destOrd="1" presId="urn:microsoft.com/office/officeart/2005/8/layout/vList5"/>
    <dgm:cxn modelId="{F8B57156-ABFB-48A2-A45A-1FE470BBC175}" type="presOf" srcId="{CF0594DB-B5D0-4361-838F-D858A378EACF}" destId="{0BEA551A-FF56-49CD-BD9F-49A5956EC718}" srcOrd="0" destOrd="2" presId="urn:microsoft.com/office/officeart/2005/8/layout/vList5"/>
    <dgm:cxn modelId="{36305531-92A8-4017-A24A-22E46E1D60C8}" srcId="{E9141BF0-9283-45E2-B9AF-834987C61E4E}" destId="{8A2447A1-4610-453A-9F96-36D6D1653213}" srcOrd="1" destOrd="0" parTransId="{4CADF8E7-97EE-4107-9004-82AC4CB1AB90}" sibTransId="{5AF23381-1165-4AD9-82C6-A5E70533A526}"/>
    <dgm:cxn modelId="{AE1D789B-236B-4070-9138-DFCF6B6A6646}" type="presOf" srcId="{5EAAC7E6-57F7-4F28-893B-E0DF0D476F6D}" destId="{39B4EC60-CDFF-437C-8DF0-32DAE54AF740}" srcOrd="0" destOrd="0" presId="urn:microsoft.com/office/officeart/2005/8/layout/vList5"/>
    <dgm:cxn modelId="{E294B873-F4EF-4545-AC74-877139C243F5}" srcId="{DAC05E12-E7DB-4694-A16C-897EF2A9C033}" destId="{17BFE839-B24E-4A74-B84A-931B392331A6}" srcOrd="0" destOrd="0" parTransId="{F2531048-D97E-4D55-991C-0600154EF947}" sibTransId="{7851754A-9623-4CDE-A898-6652D7BA365A}"/>
    <dgm:cxn modelId="{88DDBB4D-A5DF-4A39-8975-A84ED6D81207}" type="presOf" srcId="{8A2447A1-4610-453A-9F96-36D6D1653213}" destId="{0A47F509-6706-4EC0-8E14-29DC3D3467CE}" srcOrd="0" destOrd="0" presId="urn:microsoft.com/office/officeart/2005/8/layout/vList5"/>
    <dgm:cxn modelId="{4B26CC67-BD4A-48B5-BADB-E2EBD8A31DF2}" srcId="{DAC05E12-E7DB-4694-A16C-897EF2A9C033}" destId="{CF0594DB-B5D0-4361-838F-D858A378EACF}" srcOrd="2" destOrd="0" parTransId="{67C949B3-5055-4F09-965E-8D052DDB2728}" sibTransId="{8FD6E657-A0FF-4D19-875C-17799D6C16DA}"/>
    <dgm:cxn modelId="{4984E2E1-0076-4493-B968-1C170B6BBB83}" type="presOf" srcId="{06C70F56-D627-498C-9C5F-16D452A3965D}" destId="{0BEA551A-FF56-49CD-BD9F-49A5956EC718}" srcOrd="0" destOrd="1" presId="urn:microsoft.com/office/officeart/2005/8/layout/vList5"/>
    <dgm:cxn modelId="{038A3128-B136-4344-822C-339A042FCE76}" type="presOf" srcId="{DAC05E12-E7DB-4694-A16C-897EF2A9C033}" destId="{5BFBF0D1-0A94-4879-883E-5D46591BC3B6}" srcOrd="0" destOrd="0" presId="urn:microsoft.com/office/officeart/2005/8/layout/vList5"/>
    <dgm:cxn modelId="{AE34B338-EC8D-4A64-B2EF-9726765A3B2A}" type="presParOf" srcId="{D097AB5A-4A70-41C4-BD38-5546638F8819}" destId="{2A172833-6DC5-431C-8B66-457A1B916068}" srcOrd="0" destOrd="0" presId="urn:microsoft.com/office/officeart/2005/8/layout/vList5"/>
    <dgm:cxn modelId="{2CC07B62-B40F-4AAA-99EB-C0B61ECA3DC4}" type="presParOf" srcId="{2A172833-6DC5-431C-8B66-457A1B916068}" destId="{5BFBF0D1-0A94-4879-883E-5D46591BC3B6}" srcOrd="0" destOrd="0" presId="urn:microsoft.com/office/officeart/2005/8/layout/vList5"/>
    <dgm:cxn modelId="{E9A73037-478E-4349-875E-91140365DD11}" type="presParOf" srcId="{2A172833-6DC5-431C-8B66-457A1B916068}" destId="{0BEA551A-FF56-49CD-BD9F-49A5956EC718}" srcOrd="1" destOrd="0" presId="urn:microsoft.com/office/officeart/2005/8/layout/vList5"/>
    <dgm:cxn modelId="{6ABBBC8E-192A-46B3-83F7-0C4141FDCA86}" type="presParOf" srcId="{D097AB5A-4A70-41C4-BD38-5546638F8819}" destId="{CF0034BE-F915-4AA8-906F-8D5B7B9BBE17}" srcOrd="1" destOrd="0" presId="urn:microsoft.com/office/officeart/2005/8/layout/vList5"/>
    <dgm:cxn modelId="{D819F2FB-2B22-4F57-B99D-ED2E0CBA79B7}" type="presParOf" srcId="{D097AB5A-4A70-41C4-BD38-5546638F8819}" destId="{4BCE736D-9677-454A-A714-D0AB4D954C94}" srcOrd="2" destOrd="0" presId="urn:microsoft.com/office/officeart/2005/8/layout/vList5"/>
    <dgm:cxn modelId="{20572C16-E918-42D8-9BC9-821F2978A643}" type="presParOf" srcId="{4BCE736D-9677-454A-A714-D0AB4D954C94}" destId="{0A47F509-6706-4EC0-8E14-29DC3D3467CE}" srcOrd="0" destOrd="0" presId="urn:microsoft.com/office/officeart/2005/8/layout/vList5"/>
    <dgm:cxn modelId="{48296DD4-4461-4376-BEEF-80220ACDBC31}" type="presParOf" srcId="{4BCE736D-9677-454A-A714-D0AB4D954C94}" destId="{39B4EC60-CDFF-437C-8DF0-32DAE54AF74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9B950E-249C-44E7-B704-16E5A217F5AD}">
      <dsp:nvSpPr>
        <dsp:cNvPr id="0" name=""/>
        <dsp:cNvSpPr/>
      </dsp:nvSpPr>
      <dsp:spPr>
        <a:xfrm rot="5400000">
          <a:off x="4158317" y="-1743569"/>
          <a:ext cx="1868942" cy="535880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непосредственно связанные с созданием стоимости, ориентированные на производство товаров или оказание услуг, составляющих основную деятельность организации и обеспечивающих получение дохода</a:t>
          </a:r>
          <a:endParaRPr lang="ru-RU" sz="1800" kern="1200" dirty="0"/>
        </a:p>
      </dsp:txBody>
      <dsp:txXfrm rot="-5400000">
        <a:off x="2413387" y="92595"/>
        <a:ext cx="5267568" cy="1686474"/>
      </dsp:txXfrm>
    </dsp:sp>
    <dsp:sp modelId="{EC413405-D93C-442A-A7D5-4BD3A67D2C9E}">
      <dsp:nvSpPr>
        <dsp:cNvPr id="0" name=""/>
        <dsp:cNvSpPr/>
      </dsp:nvSpPr>
      <dsp:spPr>
        <a:xfrm>
          <a:off x="0" y="392369"/>
          <a:ext cx="2413176" cy="1285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основные</a:t>
          </a:r>
          <a:endParaRPr lang="ru-RU" sz="2000" kern="1200" dirty="0"/>
        </a:p>
      </dsp:txBody>
      <dsp:txXfrm>
        <a:off x="62771" y="455140"/>
        <a:ext cx="2287634" cy="1160333"/>
      </dsp:txXfrm>
    </dsp:sp>
    <dsp:sp modelId="{051B2390-0E12-4E20-B79E-1D23486CB1F1}">
      <dsp:nvSpPr>
        <dsp:cNvPr id="0" name=""/>
        <dsp:cNvSpPr/>
      </dsp:nvSpPr>
      <dsp:spPr>
        <a:xfrm rot="5400000">
          <a:off x="4578063" y="-99127"/>
          <a:ext cx="1028699" cy="535332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не увеличивают ценность продукта или услуги для потребителя, но необходимы для деятельности организации</a:t>
          </a:r>
          <a:endParaRPr lang="ru-RU" sz="1800" kern="1200" dirty="0"/>
        </a:p>
      </dsp:txBody>
      <dsp:txXfrm rot="-5400000">
        <a:off x="2415752" y="2113401"/>
        <a:ext cx="5303105" cy="928265"/>
      </dsp:txXfrm>
    </dsp:sp>
    <dsp:sp modelId="{C27B624E-E296-406C-8343-032061F259EC}">
      <dsp:nvSpPr>
        <dsp:cNvPr id="0" name=""/>
        <dsp:cNvSpPr/>
      </dsp:nvSpPr>
      <dsp:spPr>
        <a:xfrm>
          <a:off x="0" y="1934596"/>
          <a:ext cx="2415541" cy="1285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обеспечивающие </a:t>
          </a:r>
          <a:endParaRPr lang="ru-RU" sz="2000" kern="1200" dirty="0"/>
        </a:p>
      </dsp:txBody>
      <dsp:txXfrm>
        <a:off x="62771" y="1997367"/>
        <a:ext cx="2289999" cy="1160333"/>
      </dsp:txXfrm>
    </dsp:sp>
    <dsp:sp modelId="{1C6EC57D-1CB5-4B6D-B39E-2B9321CF193C}">
      <dsp:nvSpPr>
        <dsp:cNvPr id="0" name=""/>
        <dsp:cNvSpPr/>
      </dsp:nvSpPr>
      <dsp:spPr>
        <a:xfrm rot="5400000">
          <a:off x="4578063" y="1251040"/>
          <a:ext cx="1028699" cy="535332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охватывают весь комплекс функций управления на уровне каждого бизнес-процесса и системы в целом</a:t>
          </a:r>
          <a:endParaRPr lang="ru-RU" sz="1800" kern="1200" dirty="0"/>
        </a:p>
      </dsp:txBody>
      <dsp:txXfrm rot="-5400000">
        <a:off x="2415752" y="3463569"/>
        <a:ext cx="5303105" cy="928265"/>
      </dsp:txXfrm>
    </dsp:sp>
    <dsp:sp modelId="{60BBD3B9-4552-4182-9B96-7C509F0B8D7C}">
      <dsp:nvSpPr>
        <dsp:cNvPr id="0" name=""/>
        <dsp:cNvSpPr/>
      </dsp:nvSpPr>
      <dsp:spPr>
        <a:xfrm>
          <a:off x="0" y="3257980"/>
          <a:ext cx="2415541" cy="1285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управления</a:t>
          </a:r>
          <a:endParaRPr lang="ru-RU" sz="2000" kern="1200" dirty="0"/>
        </a:p>
      </dsp:txBody>
      <dsp:txXfrm>
        <a:off x="62771" y="3320751"/>
        <a:ext cx="2289999" cy="11603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EA551A-FF56-49CD-BD9F-49A5956EC718}">
      <dsp:nvSpPr>
        <dsp:cNvPr id="0" name=""/>
        <dsp:cNvSpPr/>
      </dsp:nvSpPr>
      <dsp:spPr>
        <a:xfrm rot="5400000">
          <a:off x="3887462" y="-1684082"/>
          <a:ext cx="2085726" cy="55984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"</a:t>
          </a:r>
          <a:r>
            <a:rPr lang="ru-RU" sz="1600" kern="1200" dirty="0" smtClean="0"/>
            <a:t>как есть"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отражающие существующее на момент обследования положение дел в организации позволяющие понять, каким образом функционирует данная организация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позволяет выявить узкие места и сформулировать предложения по улучшению ситуации</a:t>
          </a:r>
          <a:endParaRPr lang="ru-RU" sz="1600" kern="1200" dirty="0"/>
        </a:p>
      </dsp:txBody>
      <dsp:txXfrm rot="-5400000">
        <a:off x="2131093" y="174104"/>
        <a:ext cx="5496648" cy="1882092"/>
      </dsp:txXfrm>
    </dsp:sp>
    <dsp:sp modelId="{5BFBF0D1-0A94-4879-883E-5D46591BC3B6}">
      <dsp:nvSpPr>
        <dsp:cNvPr id="0" name=""/>
        <dsp:cNvSpPr/>
      </dsp:nvSpPr>
      <dsp:spPr>
        <a:xfrm>
          <a:off x="42841" y="55"/>
          <a:ext cx="2088251" cy="22301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08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/>
            <a:t>AS-IS</a:t>
          </a:r>
          <a:endParaRPr lang="ru-RU" sz="2800" kern="1200" dirty="0"/>
        </a:p>
      </dsp:txBody>
      <dsp:txXfrm>
        <a:off x="144781" y="101995"/>
        <a:ext cx="1884371" cy="2026309"/>
      </dsp:txXfrm>
    </dsp:sp>
    <dsp:sp modelId="{39B4EC60-CDFF-437C-8DF0-32DAE54AF740}">
      <dsp:nvSpPr>
        <dsp:cNvPr id="0" name=""/>
        <dsp:cNvSpPr/>
      </dsp:nvSpPr>
      <dsp:spPr>
        <a:xfrm rot="5400000">
          <a:off x="4038249" y="657616"/>
          <a:ext cx="1784151" cy="55984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"как будет"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отражает представление о новых процессах и технологиях работы организации</a:t>
          </a:r>
          <a:endParaRPr lang="ru-RU" sz="1800" kern="1200" dirty="0"/>
        </a:p>
      </dsp:txBody>
      <dsp:txXfrm rot="-5400000">
        <a:off x="2131093" y="2651868"/>
        <a:ext cx="5511370" cy="1609961"/>
      </dsp:txXfrm>
    </dsp:sp>
    <dsp:sp modelId="{0A47F509-6706-4EC0-8E14-29DC3D3467CE}">
      <dsp:nvSpPr>
        <dsp:cNvPr id="0" name=""/>
        <dsp:cNvSpPr/>
      </dsp:nvSpPr>
      <dsp:spPr>
        <a:xfrm>
          <a:off x="42841" y="2341754"/>
          <a:ext cx="2088251" cy="22301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08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/>
            <a:t>TO-BE</a:t>
          </a:r>
          <a:endParaRPr lang="ru-RU" sz="2800" kern="1200" dirty="0"/>
        </a:p>
      </dsp:txBody>
      <dsp:txXfrm>
        <a:off x="144781" y="2443694"/>
        <a:ext cx="1884371" cy="20263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B964C48-8B72-4824-BDA7-0792910EA0B9}" type="datetimeFigureOut">
              <a:rPr lang="ru-RU"/>
              <a:pPr>
                <a:defRPr/>
              </a:pPr>
              <a:t>16.09.2026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D7A8364-CBDE-4247-BBB1-E79FAD2F48E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524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2468752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3405199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2939629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701675"/>
            <a:ext cx="4586287" cy="3440113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5411" name="Rectangle 3"/>
          <p:cNvSpPr>
            <a:spLocks noGrp="1"/>
          </p:cNvSpPr>
          <p:nvPr>
            <p:ph type="body" idx="1"/>
          </p:nvPr>
        </p:nvSpPr>
        <p:spPr bwMode="auto">
          <a:xfrm>
            <a:off x="939800" y="4351338"/>
            <a:ext cx="5014913" cy="4141787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800556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5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922237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53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810392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57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20433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46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559003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6675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2238896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1864088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4212049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1154264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31500668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13897579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26217438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35708906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12360032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32071998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41359933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10476919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14424166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23419789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18572568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29785576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32685474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20100952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27602293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16797385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22302533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13740397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29962254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42259983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13486571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2088709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14245680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12624614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49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692537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8236417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647483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/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63259-5F47-46DF-AEF2-E6684196AB6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0D18C-6BCF-4345-A418-9FEBEA17E3C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/>
          <p:cNvSpPr/>
          <p:nvPr/>
        </p:nvSpPr>
        <p:spPr>
          <a:xfrm>
            <a:off x="4495800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Oval 7"/>
          <p:cNvSpPr/>
          <p:nvPr/>
        </p:nvSpPr>
        <p:spPr>
          <a:xfrm>
            <a:off x="4695825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8"/>
          <p:cNvSpPr/>
          <p:nvPr/>
        </p:nvSpPr>
        <p:spPr>
          <a:xfrm>
            <a:off x="4297363" y="3924300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001F3-35F6-4561-937F-CB3E7B65404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E50275-C8EA-478C-9549-75D21B37E9F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92B70C-1494-48A2-87BF-717BCA4B8DC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2D9155-FD41-4EF9-BEBD-3F8F78605FA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C91B70-C02E-4AEC-92A4-D6C0D192619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A8DEB1-1626-4D17-AF14-D6703FF33D4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97F8A-D0A9-41BA-BED4-F61531A12F4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371502-42D5-4429-BD86-34A8E699475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AC310-B49B-4A89-8FE4-CB80A7E71F0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1150938" y="214313"/>
            <a:ext cx="7804150" cy="591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6B9EA2-BB80-4A41-B179-571B0A7FE42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Заголовок и объект над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77724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82688" y="4151313"/>
            <a:ext cx="77724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FA94E6-ADB3-4E1C-9A21-916F6B86DF3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Заголовок, картинка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Картинка 2"/>
          <p:cNvSpPr>
            <a:spLocks noGrp="1"/>
          </p:cNvSpPr>
          <p:nvPr>
            <p:ph type="clipArt" sz="half" idx="1"/>
          </p:nvPr>
        </p:nvSpPr>
        <p:spPr>
          <a:xfrm>
            <a:off x="1182688" y="2017713"/>
            <a:ext cx="3810000" cy="4114800"/>
          </a:xfrm>
        </p:spPr>
        <p:txBody>
          <a:bodyPr rtlCol="0">
            <a:normAutofit/>
          </a:bodyPr>
          <a:lstStyle/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840B0-166A-4A94-9D7D-8C05A786CEB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Заголовок, текст и карти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Картинка 3"/>
          <p:cNvSpPr>
            <a:spLocks noGrp="1"/>
          </p:cNvSpPr>
          <p:nvPr>
            <p:ph type="clipArt" sz="half" idx="2"/>
          </p:nvPr>
        </p:nvSpPr>
        <p:spPr>
          <a:xfrm>
            <a:off x="5145088" y="2017713"/>
            <a:ext cx="3810000" cy="4114800"/>
          </a:xfrm>
        </p:spPr>
        <p:txBody>
          <a:bodyPr rtlCol="0">
            <a:normAutofit/>
          </a:bodyPr>
          <a:lstStyle/>
          <a:p>
            <a:pPr lvl="0"/>
            <a:endParaRPr lang="ru-RU" noProof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0DDAE6-F0C9-4D25-8608-797D3EE5546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C4F2B3-8366-4152-B3A1-B3FD79F898B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Заголовок и текст над объек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77724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182688" y="4151313"/>
            <a:ext cx="7772400" cy="1981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EF5A4E-6E9D-40AF-8379-1E259F2A746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  <a:endParaRPr lang="en-US" altLang="ru-R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2700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8813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925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fld id="{93A36957-859F-4366-A1D0-B1B5EDAC723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Oval 6"/>
          <p:cNvSpPr/>
          <p:nvPr/>
        </p:nvSpPr>
        <p:spPr>
          <a:xfrm>
            <a:off x="8458200" y="6499225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69913" y="6499225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2" r:id="rId2"/>
    <p:sldLayoutId id="2147483974" r:id="rId3"/>
    <p:sldLayoutId id="2147483971" r:id="rId4"/>
    <p:sldLayoutId id="2147483970" r:id="rId5"/>
    <p:sldLayoutId id="2147483969" r:id="rId6"/>
    <p:sldLayoutId id="2147483968" r:id="rId7"/>
    <p:sldLayoutId id="2147483967" r:id="rId8"/>
    <p:sldLayoutId id="2147483966" r:id="rId9"/>
    <p:sldLayoutId id="2147483965" r:id="rId10"/>
    <p:sldLayoutId id="2147483964" r:id="rId11"/>
    <p:sldLayoutId id="2147483975" r:id="rId12"/>
    <p:sldLayoutId id="2147483976" r:id="rId13"/>
    <p:sldLayoutId id="2147483977" r:id="rId14"/>
    <p:sldLayoutId id="2147483978" r:id="rId15"/>
    <p:sldLayoutId id="2147483979" r:id="rId16"/>
    <p:sldLayoutId id="2147483980" r:id="rId17"/>
  </p:sldLayoutIdLst>
  <p:txStyles>
    <p:titleStyle>
      <a:lvl1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  <a:lvl2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2pPr>
      <a:lvl3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3pPr>
      <a:lvl4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4pPr>
      <a:lvl5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5pPr>
      <a:lvl6pPr marL="4572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6pPr>
      <a:lvl7pPr marL="9144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7pPr>
      <a:lvl8pPr marL="13716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8pPr>
      <a:lvl9pPr marL="18288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7F7F7F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oleObject" Target="../embeddings/oleObject1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1.png"/><Relationship Id="rId4" Type="http://schemas.openxmlformats.org/officeDocument/2006/relationships/oleObject" Target="../embeddings/oleObject2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6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3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55.w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9.emf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Line 2"/>
          <p:cNvSpPr>
            <a:spLocks noChangeShapeType="1"/>
          </p:cNvSpPr>
          <p:nvPr/>
        </p:nvSpPr>
        <p:spPr bwMode="auto">
          <a:xfrm>
            <a:off x="323850" y="3033713"/>
            <a:ext cx="8496300" cy="0"/>
          </a:xfrm>
          <a:prstGeom prst="line">
            <a:avLst/>
          </a:prstGeom>
          <a:noFill/>
          <a:ln w="25400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0482" name="Line 3"/>
          <p:cNvSpPr>
            <a:spLocks noChangeShapeType="1"/>
          </p:cNvSpPr>
          <p:nvPr/>
        </p:nvSpPr>
        <p:spPr bwMode="auto">
          <a:xfrm>
            <a:off x="323850" y="4005263"/>
            <a:ext cx="8496300" cy="0"/>
          </a:xfrm>
          <a:prstGeom prst="line">
            <a:avLst/>
          </a:prstGeom>
          <a:noFill/>
          <a:ln w="25400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0483" name="Text Box 4"/>
          <p:cNvSpPr txBox="1">
            <a:spLocks noChangeArrowheads="1"/>
          </p:cNvSpPr>
          <p:nvPr/>
        </p:nvSpPr>
        <p:spPr bwMode="auto">
          <a:xfrm>
            <a:off x="323850" y="3159125"/>
            <a:ext cx="84963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4000">
                <a:solidFill>
                  <a:srgbClr val="333399"/>
                </a:solidFill>
                <a:latin typeface="Arial" charset="0"/>
              </a:rPr>
              <a:t>Моделирование бизнес-процессов</a:t>
            </a:r>
          </a:p>
        </p:txBody>
      </p:sp>
      <p:sp>
        <p:nvSpPr>
          <p:cNvPr id="20484" name="Text Box 5"/>
          <p:cNvSpPr txBox="1">
            <a:spLocks noChangeArrowheads="1"/>
          </p:cNvSpPr>
          <p:nvPr/>
        </p:nvSpPr>
        <p:spPr bwMode="auto">
          <a:xfrm>
            <a:off x="323850" y="549275"/>
            <a:ext cx="8496300" cy="208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r"/>
            <a:endParaRPr lang="ru-RU" altLang="ru-RU" sz="2400" i="1" dirty="0">
              <a:latin typeface="Book Antiqua" pitchFamily="18" charset="0"/>
            </a:endParaRPr>
          </a:p>
        </p:txBody>
      </p:sp>
      <p:sp>
        <p:nvSpPr>
          <p:cNvPr id="20485" name="Text Box 6"/>
          <p:cNvSpPr txBox="1">
            <a:spLocks noChangeArrowheads="1"/>
          </p:cNvSpPr>
          <p:nvPr/>
        </p:nvSpPr>
        <p:spPr bwMode="auto">
          <a:xfrm>
            <a:off x="323850" y="4221163"/>
            <a:ext cx="8496300" cy="208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ru-RU" altLang="ru-RU" sz="24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990600"/>
            <a:ext cx="7772400" cy="1311275"/>
          </a:xfrm>
          <a:solidFill>
            <a:srgbClr val="BBE0E3"/>
          </a:solidFill>
          <a:extLst/>
        </p:spPr>
        <p:txBody>
          <a:bodyPr anchor="t">
            <a:sp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4000" smtClean="0">
                <a:solidFill>
                  <a:srgbClr val="333399"/>
                </a:solidFill>
              </a:rPr>
              <a:t> Нотации и инструменты моделирования процессов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subTitle" idx="1"/>
          </p:nvPr>
        </p:nvSpPr>
        <p:spPr>
          <a:extLst/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ru-RU" altLang="ru-RU" smtClean="0"/>
          </a:p>
        </p:txBody>
      </p:sp>
      <p:pic>
        <p:nvPicPr>
          <p:cNvPr id="22531" name="Picture 4" descr="Business%20Process%2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3048000"/>
            <a:ext cx="6553200" cy="340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title"/>
          </p:nvPr>
        </p:nvSpPr>
        <p:spPr>
          <a:xfrm>
            <a:off x="1150938" y="549275"/>
            <a:ext cx="7793037" cy="11271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Понятие модели </a:t>
            </a:r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827088" y="1989138"/>
            <a:ext cx="8066087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b="1" i="1"/>
              <a:t>Модель</a:t>
            </a:r>
            <a:r>
              <a:rPr lang="ru-RU" altLang="ru-RU" i="1"/>
              <a:t> </a:t>
            </a:r>
            <a:r>
              <a:rPr lang="ru-RU" altLang="ru-RU"/>
              <a:t>представляет искусственный, созданный человеком объект любой природы (умозрительный или материально реализованный), который замещает или воспроизводит исследуемый объект 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827088" y="2997200"/>
            <a:ext cx="81375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Процесс построения, изучения и применения моделей называется </a:t>
            </a:r>
            <a:r>
              <a:rPr lang="ru-RU" altLang="ru-RU" b="1" i="1"/>
              <a:t>моделированием</a:t>
            </a:r>
            <a:r>
              <a:rPr lang="ru-RU" altLang="ru-RU"/>
              <a:t> </a:t>
            </a:r>
          </a:p>
        </p:txBody>
      </p:sp>
      <p:sp>
        <p:nvSpPr>
          <p:cNvPr id="2057" name="Text Box 9"/>
          <p:cNvSpPr txBox="1">
            <a:spLocks noChangeArrowheads="1"/>
          </p:cNvSpPr>
          <p:nvPr/>
        </p:nvSpPr>
        <p:spPr bwMode="auto">
          <a:xfrm>
            <a:off x="755650" y="3789363"/>
            <a:ext cx="8137525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i="1"/>
              <a:t>Модель - </a:t>
            </a:r>
            <a:r>
              <a:rPr lang="ru-RU" altLang="ru-RU" b="1" i="1"/>
              <a:t>упрощенный, приближенный</a:t>
            </a:r>
            <a:r>
              <a:rPr lang="ru-RU" altLang="ru-RU"/>
              <a:t> образ, который отражает наиболее существенные (с точки зрения цели моделирования) свойства оригинала </a:t>
            </a:r>
          </a:p>
        </p:txBody>
      </p:sp>
      <p:sp>
        <p:nvSpPr>
          <p:cNvPr id="2080" name="Text Box 32"/>
          <p:cNvSpPr txBox="1">
            <a:spLocks noChangeArrowheads="1"/>
          </p:cNvSpPr>
          <p:nvPr/>
        </p:nvSpPr>
        <p:spPr bwMode="auto">
          <a:xfrm>
            <a:off x="827088" y="4824413"/>
            <a:ext cx="7993062" cy="1328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Соответствие модели оригиналу называется </a:t>
            </a:r>
            <a:r>
              <a:rPr lang="ru-RU" altLang="ru-RU" b="1" i="1"/>
              <a:t>адекватностью</a:t>
            </a:r>
            <a:r>
              <a:rPr lang="ru-RU" altLang="ru-RU"/>
              <a:t> модели. </a:t>
            </a:r>
          </a:p>
          <a:p>
            <a:pPr>
              <a:spcBef>
                <a:spcPct val="50000"/>
              </a:spcBef>
            </a:pPr>
            <a:r>
              <a:rPr lang="ru-RU" altLang="ru-RU"/>
              <a:t>Адекватность включает требования полноты и точности (правильности). Требования должны выполняться в той мере, которая </a:t>
            </a:r>
            <a:r>
              <a:rPr lang="ru-RU" altLang="ru-RU" i="1"/>
              <a:t>достаточна для достижения цели</a:t>
            </a:r>
            <a:r>
              <a:rPr lang="ru-RU" altLang="ru-RU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5" grpId="0"/>
      <p:bldP spid="2056" grpId="0"/>
      <p:bldP spid="2057" grpId="0"/>
      <p:bldP spid="208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2150"/>
            <a:ext cx="7793037" cy="98425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Понятие модели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692275" y="2924175"/>
            <a:ext cx="1366838" cy="1296988"/>
            <a:chOff x="1478" y="2034"/>
            <a:chExt cx="1605" cy="1612"/>
          </a:xfrm>
        </p:grpSpPr>
        <p:sp>
          <p:nvSpPr>
            <p:cNvPr id="25617" name="Rectangle 7"/>
            <p:cNvSpPr>
              <a:spLocks noChangeArrowheads="1"/>
            </p:cNvSpPr>
            <p:nvPr/>
          </p:nvSpPr>
          <p:spPr bwMode="auto">
            <a:xfrm>
              <a:off x="1478" y="2034"/>
              <a:ext cx="1605" cy="1612"/>
            </a:xfrm>
            <a:prstGeom prst="rect">
              <a:avLst/>
            </a:prstGeom>
            <a:solidFill>
              <a:srgbClr val="FFFF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FF"/>
              </a:extrusionClr>
            </a:sp3d>
          </p:spPr>
          <p:txBody>
            <a:bodyPr>
              <a:flatTx/>
            </a:bodyPr>
            <a:lstStyle/>
            <a:p>
              <a:endParaRPr lang="ru-RU" altLang="ru-RU"/>
            </a:p>
          </p:txBody>
        </p:sp>
        <p:sp>
          <p:nvSpPr>
            <p:cNvPr id="25618" name="Oval 8"/>
            <p:cNvSpPr>
              <a:spLocks noChangeArrowheads="1"/>
            </p:cNvSpPr>
            <p:nvPr/>
          </p:nvSpPr>
          <p:spPr bwMode="auto">
            <a:xfrm>
              <a:off x="1526" y="2034"/>
              <a:ext cx="1490" cy="14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 altLang="ru-RU"/>
            </a:p>
          </p:txBody>
        </p:sp>
        <p:sp>
          <p:nvSpPr>
            <p:cNvPr id="25619" name="Line 9"/>
            <p:cNvSpPr>
              <a:spLocks noChangeShapeType="1"/>
            </p:cNvSpPr>
            <p:nvPr/>
          </p:nvSpPr>
          <p:spPr bwMode="auto">
            <a:xfrm>
              <a:off x="2235" y="2191"/>
              <a:ext cx="1" cy="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620" name="Line 10"/>
            <p:cNvSpPr>
              <a:spLocks noChangeShapeType="1"/>
            </p:cNvSpPr>
            <p:nvPr/>
          </p:nvSpPr>
          <p:spPr bwMode="auto">
            <a:xfrm>
              <a:off x="2234" y="3291"/>
              <a:ext cx="1" cy="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621" name="Line 11"/>
            <p:cNvSpPr>
              <a:spLocks noChangeShapeType="1"/>
            </p:cNvSpPr>
            <p:nvPr/>
          </p:nvSpPr>
          <p:spPr bwMode="auto">
            <a:xfrm rot="-5400000">
              <a:off x="1639" y="2767"/>
              <a:ext cx="1" cy="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622" name="Line 12"/>
            <p:cNvSpPr>
              <a:spLocks noChangeShapeType="1"/>
            </p:cNvSpPr>
            <p:nvPr/>
          </p:nvSpPr>
          <p:spPr bwMode="auto">
            <a:xfrm rot="-5400000">
              <a:off x="2817" y="2767"/>
              <a:ext cx="1" cy="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623" name="Line 13"/>
            <p:cNvSpPr>
              <a:spLocks noChangeShapeType="1"/>
            </p:cNvSpPr>
            <p:nvPr/>
          </p:nvSpPr>
          <p:spPr bwMode="auto">
            <a:xfrm flipV="1">
              <a:off x="2161" y="2442"/>
              <a:ext cx="442" cy="4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624" name="Line 14"/>
            <p:cNvSpPr>
              <a:spLocks noChangeShapeType="1"/>
            </p:cNvSpPr>
            <p:nvPr/>
          </p:nvSpPr>
          <p:spPr bwMode="auto">
            <a:xfrm>
              <a:off x="1998" y="2580"/>
              <a:ext cx="317" cy="2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4716463" y="2852738"/>
            <a:ext cx="3382962" cy="1209675"/>
            <a:chOff x="2467" y="1948"/>
            <a:chExt cx="2131" cy="762"/>
          </a:xfrm>
        </p:grpSpPr>
        <p:sp>
          <p:nvSpPr>
            <p:cNvPr id="25609" name="Text Box 15"/>
            <p:cNvSpPr txBox="1">
              <a:spLocks noChangeArrowheads="1"/>
            </p:cNvSpPr>
            <p:nvPr/>
          </p:nvSpPr>
          <p:spPr bwMode="auto">
            <a:xfrm>
              <a:off x="2677" y="1948"/>
              <a:ext cx="515" cy="2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760" tIns="14256" rIns="23760" bIns="14256"/>
            <a:lstStyle/>
            <a:p>
              <a:pPr algn="ctr">
                <a:lnSpc>
                  <a:spcPct val="80000"/>
                </a:lnSpc>
              </a:pPr>
              <a:r>
                <a:rPr lang="ru-RU" altLang="ru-RU" sz="1200"/>
                <a:t>Датчик времени</a:t>
              </a:r>
              <a:endParaRPr lang="ru-RU" altLang="ru-RU"/>
            </a:p>
          </p:txBody>
        </p:sp>
        <p:sp>
          <p:nvSpPr>
            <p:cNvPr id="25610" name="Text Box 16"/>
            <p:cNvSpPr txBox="1">
              <a:spLocks noChangeArrowheads="1"/>
            </p:cNvSpPr>
            <p:nvPr/>
          </p:nvSpPr>
          <p:spPr bwMode="auto">
            <a:xfrm>
              <a:off x="3738" y="1949"/>
              <a:ext cx="625" cy="2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760" tIns="14256" rIns="23760" bIns="14256"/>
            <a:lstStyle/>
            <a:p>
              <a:pPr algn="ctr">
                <a:lnSpc>
                  <a:spcPct val="64000"/>
                </a:lnSpc>
                <a:spcBef>
                  <a:spcPts val="300"/>
                </a:spcBef>
              </a:pPr>
              <a:endParaRPr lang="ru-RU" altLang="ru-RU" sz="1200"/>
            </a:p>
            <a:p>
              <a:pPr algn="ctr">
                <a:lnSpc>
                  <a:spcPct val="64000"/>
                </a:lnSpc>
                <a:spcBef>
                  <a:spcPts val="300"/>
                </a:spcBef>
              </a:pPr>
              <a:r>
                <a:rPr lang="ru-RU" altLang="ru-RU" sz="1200"/>
                <a:t>Индикатор</a:t>
              </a:r>
              <a:endParaRPr lang="ru-RU" altLang="ru-RU"/>
            </a:p>
          </p:txBody>
        </p:sp>
        <p:sp>
          <p:nvSpPr>
            <p:cNvPr id="25611" name="Text Box 17"/>
            <p:cNvSpPr txBox="1">
              <a:spLocks noChangeArrowheads="1"/>
            </p:cNvSpPr>
            <p:nvPr/>
          </p:nvSpPr>
          <p:spPr bwMode="auto">
            <a:xfrm>
              <a:off x="3148" y="2461"/>
              <a:ext cx="590" cy="2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760" tIns="14256" rIns="23760" bIns="14256"/>
            <a:lstStyle/>
            <a:p>
              <a:pPr algn="ctr">
                <a:lnSpc>
                  <a:spcPct val="80000"/>
                </a:lnSpc>
              </a:pPr>
              <a:r>
                <a:rPr lang="ru-RU" altLang="ru-RU" sz="1200"/>
                <a:t>Эталон </a:t>
              </a:r>
            </a:p>
            <a:p>
              <a:pPr algn="ctr">
                <a:lnSpc>
                  <a:spcPct val="80000"/>
                </a:lnSpc>
              </a:pPr>
              <a:r>
                <a:rPr lang="ru-RU" altLang="ru-RU" sz="1200"/>
                <a:t>времени</a:t>
              </a:r>
              <a:endParaRPr lang="ru-RU" altLang="ru-RU"/>
            </a:p>
          </p:txBody>
        </p:sp>
        <p:sp>
          <p:nvSpPr>
            <p:cNvPr id="25612" name="Line 18"/>
            <p:cNvSpPr>
              <a:spLocks noChangeShapeType="1"/>
            </p:cNvSpPr>
            <p:nvPr/>
          </p:nvSpPr>
          <p:spPr bwMode="auto">
            <a:xfrm>
              <a:off x="2467" y="2081"/>
              <a:ext cx="2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613" name="Line 19"/>
            <p:cNvSpPr>
              <a:spLocks noChangeShapeType="1"/>
            </p:cNvSpPr>
            <p:nvPr/>
          </p:nvSpPr>
          <p:spPr bwMode="auto">
            <a:xfrm>
              <a:off x="4388" y="2081"/>
              <a:ext cx="2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614" name="Line 20"/>
            <p:cNvSpPr>
              <a:spLocks noChangeShapeType="1"/>
            </p:cNvSpPr>
            <p:nvPr/>
          </p:nvSpPr>
          <p:spPr bwMode="auto">
            <a:xfrm flipH="1" flipV="1">
              <a:off x="2972" y="2197"/>
              <a:ext cx="326" cy="2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615" name="Line 21"/>
            <p:cNvSpPr>
              <a:spLocks noChangeShapeType="1"/>
            </p:cNvSpPr>
            <p:nvPr/>
          </p:nvSpPr>
          <p:spPr bwMode="auto">
            <a:xfrm flipV="1">
              <a:off x="3618" y="2198"/>
              <a:ext cx="320" cy="2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616" name="Line 22"/>
            <p:cNvSpPr>
              <a:spLocks noChangeShapeType="1"/>
            </p:cNvSpPr>
            <p:nvPr/>
          </p:nvSpPr>
          <p:spPr bwMode="auto">
            <a:xfrm>
              <a:off x="3192" y="2081"/>
              <a:ext cx="54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1042988" y="4437063"/>
            <a:ext cx="2590800" cy="3333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ru-RU" altLang="ru-RU" sz="1400"/>
              <a:t>модель внешнего вида часов</a:t>
            </a:r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4643438" y="4365625"/>
            <a:ext cx="3379787" cy="2635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ru-RU" altLang="ru-RU" sz="1400"/>
              <a:t>структурная схема часов</a:t>
            </a:r>
          </a:p>
        </p:txBody>
      </p:sp>
      <p:sp>
        <p:nvSpPr>
          <p:cNvPr id="10268" name="Text Box 28"/>
          <p:cNvSpPr txBox="1">
            <a:spLocks noChangeArrowheads="1"/>
          </p:cNvSpPr>
          <p:nvPr/>
        </p:nvSpPr>
        <p:spPr bwMode="auto">
          <a:xfrm>
            <a:off x="1042988" y="1916113"/>
            <a:ext cx="78501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Для одного и того же объекта может быть построено множество различных моделей, отвечающих различным целям  </a:t>
            </a:r>
          </a:p>
        </p:txBody>
      </p:sp>
      <p:sp>
        <p:nvSpPr>
          <p:cNvPr id="10270" name="Text Box 30"/>
          <p:cNvSpPr txBox="1">
            <a:spLocks noChangeArrowheads="1"/>
          </p:cNvSpPr>
          <p:nvPr/>
        </p:nvSpPr>
        <p:spPr bwMode="auto">
          <a:xfrm>
            <a:off x="827088" y="4770438"/>
            <a:ext cx="79216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b="1"/>
              <a:t>Виды подобия</a:t>
            </a:r>
            <a:r>
              <a:rPr lang="ru-RU" altLang="ru-RU"/>
              <a:t>: </a:t>
            </a:r>
            <a:r>
              <a:rPr lang="ru-RU" altLang="ru-RU" i="1"/>
              <a:t>прямое </a:t>
            </a:r>
            <a:r>
              <a:rPr lang="ru-RU" altLang="ru-RU"/>
              <a:t>(макет, фотография),</a:t>
            </a:r>
            <a:r>
              <a:rPr lang="ru-RU" altLang="ru-RU" i="1"/>
              <a:t> косвенное </a:t>
            </a:r>
            <a:r>
              <a:rPr lang="ru-RU" altLang="ru-RU"/>
              <a:t>(подобие по аналогии),</a:t>
            </a:r>
            <a:r>
              <a:rPr lang="ru-RU" altLang="ru-RU" i="1"/>
              <a:t> условное</a:t>
            </a:r>
            <a:r>
              <a:rPr lang="ru-RU" altLang="ru-RU"/>
              <a:t> (на основе соглашений)</a:t>
            </a:r>
          </a:p>
        </p:txBody>
      </p:sp>
      <p:sp>
        <p:nvSpPr>
          <p:cNvPr id="10271" name="Text Box 31"/>
          <p:cNvSpPr txBox="1">
            <a:spLocks noChangeArrowheads="1"/>
          </p:cNvSpPr>
          <p:nvPr/>
        </p:nvSpPr>
        <p:spPr bwMode="auto">
          <a:xfrm>
            <a:off x="827088" y="5516563"/>
            <a:ext cx="81375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Процесс моделирования имеет свойство </a:t>
            </a:r>
            <a:r>
              <a:rPr lang="ru-RU" altLang="ru-RU" i="1"/>
              <a:t>динамичности</a:t>
            </a:r>
            <a:r>
              <a:rPr lang="ru-RU" altLang="ru-RU"/>
              <a:t>: </a:t>
            </a:r>
          </a:p>
          <a:p>
            <a:r>
              <a:rPr lang="ru-RU" altLang="ru-RU"/>
              <a:t>модели развиваются, уточняются, переходят одна в другую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3" grpId="0" animBg="1"/>
      <p:bldP spid="10264" grpId="0" animBg="1"/>
      <p:bldP spid="10268" grpId="0"/>
      <p:bldP spid="10270" grpId="0"/>
      <p:bldP spid="1027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2150"/>
            <a:ext cx="7793037" cy="98425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Классификация моделей 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755650" y="2205038"/>
            <a:ext cx="2016125" cy="1079500"/>
            <a:chOff x="431" y="1389"/>
            <a:chExt cx="1202" cy="684"/>
          </a:xfrm>
        </p:grpSpPr>
        <p:sp>
          <p:nvSpPr>
            <p:cNvPr id="26649" name="Text Box 8"/>
            <p:cNvSpPr txBox="1">
              <a:spLocks noChangeArrowheads="1"/>
            </p:cNvSpPr>
            <p:nvPr/>
          </p:nvSpPr>
          <p:spPr bwMode="auto">
            <a:xfrm>
              <a:off x="431" y="1389"/>
              <a:ext cx="890" cy="164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модели</a:t>
              </a:r>
            </a:p>
          </p:txBody>
        </p:sp>
        <p:sp>
          <p:nvSpPr>
            <p:cNvPr id="26650" name="Text Box 9"/>
            <p:cNvSpPr txBox="1">
              <a:spLocks noChangeArrowheads="1"/>
            </p:cNvSpPr>
            <p:nvPr/>
          </p:nvSpPr>
          <p:spPr bwMode="auto">
            <a:xfrm>
              <a:off x="743" y="1650"/>
              <a:ext cx="890" cy="164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познавательные</a:t>
              </a:r>
            </a:p>
          </p:txBody>
        </p:sp>
        <p:sp>
          <p:nvSpPr>
            <p:cNvPr id="26651" name="Text Box 10"/>
            <p:cNvSpPr txBox="1">
              <a:spLocks noChangeArrowheads="1"/>
            </p:cNvSpPr>
            <p:nvPr/>
          </p:nvSpPr>
          <p:spPr bwMode="auto">
            <a:xfrm>
              <a:off x="743" y="1909"/>
              <a:ext cx="890" cy="164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нормативные</a:t>
              </a:r>
            </a:p>
          </p:txBody>
        </p:sp>
        <p:sp>
          <p:nvSpPr>
            <p:cNvPr id="26652" name="Line 16"/>
            <p:cNvSpPr>
              <a:spLocks noChangeShapeType="1"/>
            </p:cNvSpPr>
            <p:nvPr/>
          </p:nvSpPr>
          <p:spPr bwMode="auto">
            <a:xfrm>
              <a:off x="617" y="1549"/>
              <a:ext cx="0" cy="4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653" name="Line 17"/>
            <p:cNvSpPr>
              <a:spLocks noChangeShapeType="1"/>
            </p:cNvSpPr>
            <p:nvPr/>
          </p:nvSpPr>
          <p:spPr bwMode="auto">
            <a:xfrm>
              <a:off x="617" y="1732"/>
              <a:ext cx="1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654" name="Line 18"/>
            <p:cNvSpPr>
              <a:spLocks noChangeShapeType="1"/>
            </p:cNvSpPr>
            <p:nvPr/>
          </p:nvSpPr>
          <p:spPr bwMode="auto">
            <a:xfrm>
              <a:off x="617" y="1997"/>
              <a:ext cx="12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1308" name="Text Box 44"/>
          <p:cNvSpPr txBox="1">
            <a:spLocks noChangeArrowheads="1"/>
          </p:cNvSpPr>
          <p:nvPr/>
        </p:nvSpPr>
        <p:spPr bwMode="auto">
          <a:xfrm>
            <a:off x="3094038" y="1916113"/>
            <a:ext cx="5903912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600" i="1"/>
              <a:t>Познавательные </a:t>
            </a:r>
            <a:r>
              <a:rPr lang="ru-RU" altLang="ru-RU" sz="1600"/>
              <a:t>(</a:t>
            </a:r>
            <a:r>
              <a:rPr lang="ru-RU" altLang="ru-RU" sz="1600" i="1"/>
              <a:t>объяснительные</a:t>
            </a:r>
            <a:r>
              <a:rPr lang="ru-RU" altLang="ru-RU" sz="1600"/>
              <a:t>) модели отражают уже существующие объекты </a:t>
            </a:r>
          </a:p>
        </p:txBody>
      </p:sp>
      <p:sp>
        <p:nvSpPr>
          <p:cNvPr id="11309" name="Text Box 45"/>
          <p:cNvSpPr txBox="1">
            <a:spLocks noChangeArrowheads="1"/>
          </p:cNvSpPr>
          <p:nvPr/>
        </p:nvSpPr>
        <p:spPr bwMode="auto">
          <a:xfrm>
            <a:off x="3094038" y="2492375"/>
            <a:ext cx="5942012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600" i="1"/>
              <a:t>Нормативные </a:t>
            </a:r>
            <a:r>
              <a:rPr lang="ru-RU" altLang="ru-RU" sz="1600"/>
              <a:t>(</a:t>
            </a:r>
            <a:r>
              <a:rPr lang="ru-RU" altLang="ru-RU" sz="1600" i="1"/>
              <a:t>прагматические</a:t>
            </a:r>
            <a:r>
              <a:rPr lang="ru-RU" altLang="ru-RU" sz="1600"/>
              <a:t>) модели отражают объекты, которые должны быть осуществлены </a:t>
            </a:r>
          </a:p>
        </p:txBody>
      </p:sp>
      <p:sp>
        <p:nvSpPr>
          <p:cNvPr id="11310" name="Text Box 46"/>
          <p:cNvSpPr txBox="1">
            <a:spLocks noChangeArrowheads="1"/>
          </p:cNvSpPr>
          <p:nvPr/>
        </p:nvSpPr>
        <p:spPr bwMode="auto">
          <a:xfrm>
            <a:off x="3094038" y="3068638"/>
            <a:ext cx="58705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600"/>
              <a:t>Градации нормативных моделей: от референтной (для целого класса объектов) до модели конкретного объекта 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755650" y="5229225"/>
            <a:ext cx="2016125" cy="1079500"/>
            <a:chOff x="431" y="1389"/>
            <a:chExt cx="1202" cy="684"/>
          </a:xfrm>
        </p:grpSpPr>
        <p:sp>
          <p:nvSpPr>
            <p:cNvPr id="26643" name="Text Box 49"/>
            <p:cNvSpPr txBox="1">
              <a:spLocks noChangeArrowheads="1"/>
            </p:cNvSpPr>
            <p:nvPr/>
          </p:nvSpPr>
          <p:spPr bwMode="auto">
            <a:xfrm>
              <a:off x="431" y="1389"/>
              <a:ext cx="890" cy="164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модели</a:t>
              </a:r>
            </a:p>
          </p:txBody>
        </p:sp>
        <p:sp>
          <p:nvSpPr>
            <p:cNvPr id="26644" name="Text Box 50"/>
            <p:cNvSpPr txBox="1">
              <a:spLocks noChangeArrowheads="1"/>
            </p:cNvSpPr>
            <p:nvPr/>
          </p:nvSpPr>
          <p:spPr bwMode="auto">
            <a:xfrm>
              <a:off x="743" y="1650"/>
              <a:ext cx="890" cy="164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материальные</a:t>
              </a:r>
            </a:p>
          </p:txBody>
        </p:sp>
        <p:sp>
          <p:nvSpPr>
            <p:cNvPr id="26645" name="Text Box 51"/>
            <p:cNvSpPr txBox="1">
              <a:spLocks noChangeArrowheads="1"/>
            </p:cNvSpPr>
            <p:nvPr/>
          </p:nvSpPr>
          <p:spPr bwMode="auto">
            <a:xfrm>
              <a:off x="743" y="1909"/>
              <a:ext cx="890" cy="164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абстрактные</a:t>
              </a:r>
            </a:p>
          </p:txBody>
        </p:sp>
        <p:sp>
          <p:nvSpPr>
            <p:cNvPr id="26646" name="Line 52"/>
            <p:cNvSpPr>
              <a:spLocks noChangeShapeType="1"/>
            </p:cNvSpPr>
            <p:nvPr/>
          </p:nvSpPr>
          <p:spPr bwMode="auto">
            <a:xfrm>
              <a:off x="617" y="1549"/>
              <a:ext cx="0" cy="4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647" name="Line 53"/>
            <p:cNvSpPr>
              <a:spLocks noChangeShapeType="1"/>
            </p:cNvSpPr>
            <p:nvPr/>
          </p:nvSpPr>
          <p:spPr bwMode="auto">
            <a:xfrm>
              <a:off x="617" y="1732"/>
              <a:ext cx="1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648" name="Line 54"/>
            <p:cNvSpPr>
              <a:spLocks noChangeShapeType="1"/>
            </p:cNvSpPr>
            <p:nvPr/>
          </p:nvSpPr>
          <p:spPr bwMode="auto">
            <a:xfrm>
              <a:off x="617" y="1997"/>
              <a:ext cx="12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55"/>
          <p:cNvGrpSpPr>
            <a:grpSpLocks/>
          </p:cNvGrpSpPr>
          <p:nvPr/>
        </p:nvGrpSpPr>
        <p:grpSpPr bwMode="auto">
          <a:xfrm>
            <a:off x="755650" y="3717925"/>
            <a:ext cx="2016125" cy="1079500"/>
            <a:chOff x="431" y="1389"/>
            <a:chExt cx="1202" cy="684"/>
          </a:xfrm>
        </p:grpSpPr>
        <p:sp>
          <p:nvSpPr>
            <p:cNvPr id="26637" name="Text Box 56"/>
            <p:cNvSpPr txBox="1">
              <a:spLocks noChangeArrowheads="1"/>
            </p:cNvSpPr>
            <p:nvPr/>
          </p:nvSpPr>
          <p:spPr bwMode="auto">
            <a:xfrm>
              <a:off x="431" y="1389"/>
              <a:ext cx="890" cy="164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модели</a:t>
              </a:r>
            </a:p>
          </p:txBody>
        </p:sp>
        <p:sp>
          <p:nvSpPr>
            <p:cNvPr id="26638" name="Text Box 57"/>
            <p:cNvSpPr txBox="1">
              <a:spLocks noChangeArrowheads="1"/>
            </p:cNvSpPr>
            <p:nvPr/>
          </p:nvSpPr>
          <p:spPr bwMode="auto">
            <a:xfrm>
              <a:off x="743" y="1650"/>
              <a:ext cx="890" cy="164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статические</a:t>
              </a:r>
            </a:p>
          </p:txBody>
        </p:sp>
        <p:sp>
          <p:nvSpPr>
            <p:cNvPr id="26639" name="Text Box 58"/>
            <p:cNvSpPr txBox="1">
              <a:spLocks noChangeArrowheads="1"/>
            </p:cNvSpPr>
            <p:nvPr/>
          </p:nvSpPr>
          <p:spPr bwMode="auto">
            <a:xfrm>
              <a:off x="743" y="1909"/>
              <a:ext cx="890" cy="164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динамические</a:t>
              </a:r>
            </a:p>
          </p:txBody>
        </p:sp>
        <p:sp>
          <p:nvSpPr>
            <p:cNvPr id="26640" name="Line 59"/>
            <p:cNvSpPr>
              <a:spLocks noChangeShapeType="1"/>
            </p:cNvSpPr>
            <p:nvPr/>
          </p:nvSpPr>
          <p:spPr bwMode="auto">
            <a:xfrm>
              <a:off x="617" y="1549"/>
              <a:ext cx="0" cy="4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641" name="Line 60"/>
            <p:cNvSpPr>
              <a:spLocks noChangeShapeType="1"/>
            </p:cNvSpPr>
            <p:nvPr/>
          </p:nvSpPr>
          <p:spPr bwMode="auto">
            <a:xfrm>
              <a:off x="617" y="1732"/>
              <a:ext cx="1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642" name="Line 61"/>
            <p:cNvSpPr>
              <a:spLocks noChangeShapeType="1"/>
            </p:cNvSpPr>
            <p:nvPr/>
          </p:nvSpPr>
          <p:spPr bwMode="auto">
            <a:xfrm>
              <a:off x="617" y="1997"/>
              <a:ext cx="12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1326" name="Text Box 62"/>
          <p:cNvSpPr txBox="1">
            <a:spLocks noChangeArrowheads="1"/>
          </p:cNvSpPr>
          <p:nvPr/>
        </p:nvSpPr>
        <p:spPr bwMode="auto">
          <a:xfrm>
            <a:off x="3094038" y="3789363"/>
            <a:ext cx="56165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600" i="1"/>
              <a:t>Статические</a:t>
            </a:r>
            <a:r>
              <a:rPr lang="ru-RU" altLang="ru-RU" sz="1600"/>
              <a:t> модели не учитывают временной фактор </a:t>
            </a:r>
          </a:p>
        </p:txBody>
      </p:sp>
      <p:sp>
        <p:nvSpPr>
          <p:cNvPr id="11327" name="Text Box 63"/>
          <p:cNvSpPr txBox="1">
            <a:spLocks noChangeArrowheads="1"/>
          </p:cNvSpPr>
          <p:nvPr/>
        </p:nvSpPr>
        <p:spPr bwMode="auto">
          <a:xfrm>
            <a:off x="3094038" y="4149725"/>
            <a:ext cx="5688012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600" i="1"/>
              <a:t>Динамические</a:t>
            </a:r>
            <a:r>
              <a:rPr lang="ru-RU" altLang="ru-RU" sz="1600"/>
              <a:t> модели отражают изменения объекта, происходящие с течением времени </a:t>
            </a:r>
          </a:p>
        </p:txBody>
      </p:sp>
      <p:sp>
        <p:nvSpPr>
          <p:cNvPr id="11328" name="Text Box 64"/>
          <p:cNvSpPr txBox="1">
            <a:spLocks noChangeArrowheads="1"/>
          </p:cNvSpPr>
          <p:nvPr/>
        </p:nvSpPr>
        <p:spPr bwMode="auto">
          <a:xfrm>
            <a:off x="3094038" y="4724400"/>
            <a:ext cx="56165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600"/>
              <a:t>Динамическая модель сама может быть статична или находиться в динамике (имитационная модель)</a:t>
            </a:r>
          </a:p>
        </p:txBody>
      </p:sp>
      <p:sp>
        <p:nvSpPr>
          <p:cNvPr id="11329" name="Text Box 65"/>
          <p:cNvSpPr txBox="1">
            <a:spLocks noChangeArrowheads="1"/>
          </p:cNvSpPr>
          <p:nvPr/>
        </p:nvSpPr>
        <p:spPr bwMode="auto">
          <a:xfrm>
            <a:off x="3094038" y="5445125"/>
            <a:ext cx="55451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600" i="1"/>
              <a:t>Материальные </a:t>
            </a:r>
            <a:r>
              <a:rPr lang="ru-RU" altLang="ru-RU" sz="1600"/>
              <a:t>модели построены из реальных объектов </a:t>
            </a:r>
          </a:p>
        </p:txBody>
      </p:sp>
      <p:sp>
        <p:nvSpPr>
          <p:cNvPr id="11330" name="Text Box 66"/>
          <p:cNvSpPr txBox="1">
            <a:spLocks noChangeArrowheads="1"/>
          </p:cNvSpPr>
          <p:nvPr/>
        </p:nvSpPr>
        <p:spPr bwMode="auto">
          <a:xfrm>
            <a:off x="3094038" y="5805488"/>
            <a:ext cx="5688012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600" i="1"/>
              <a:t>Абстрактные</a:t>
            </a:r>
            <a:r>
              <a:rPr lang="ru-RU" altLang="ru-RU" sz="1600"/>
              <a:t> модели - это идеальные конструкции, выполненные средствами мышления, сознания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08" grpId="0"/>
      <p:bldP spid="11309" grpId="0"/>
      <p:bldP spid="11310" grpId="0"/>
      <p:bldP spid="11326" grpId="0"/>
      <p:bldP spid="11327" grpId="0"/>
      <p:bldP spid="11328" grpId="0"/>
      <p:bldP spid="11329" grpId="0"/>
      <p:bldP spid="113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549275"/>
            <a:ext cx="7793037" cy="11271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Классификация моделей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684213" y="2205038"/>
            <a:ext cx="2016125" cy="1079500"/>
            <a:chOff x="431" y="1389"/>
            <a:chExt cx="1202" cy="684"/>
          </a:xfrm>
        </p:grpSpPr>
        <p:sp>
          <p:nvSpPr>
            <p:cNvPr id="48151" name="Text Box 21"/>
            <p:cNvSpPr txBox="1">
              <a:spLocks noChangeArrowheads="1"/>
            </p:cNvSpPr>
            <p:nvPr/>
          </p:nvSpPr>
          <p:spPr bwMode="auto">
            <a:xfrm>
              <a:off x="431" y="1389"/>
              <a:ext cx="890" cy="164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модели</a:t>
              </a:r>
            </a:p>
          </p:txBody>
        </p:sp>
        <p:sp>
          <p:nvSpPr>
            <p:cNvPr id="48152" name="Text Box 22"/>
            <p:cNvSpPr txBox="1">
              <a:spLocks noChangeArrowheads="1"/>
            </p:cNvSpPr>
            <p:nvPr/>
          </p:nvSpPr>
          <p:spPr bwMode="auto">
            <a:xfrm>
              <a:off x="743" y="1650"/>
              <a:ext cx="890" cy="164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декларативные</a:t>
              </a:r>
            </a:p>
          </p:txBody>
        </p:sp>
        <p:sp>
          <p:nvSpPr>
            <p:cNvPr id="48153" name="Text Box 23"/>
            <p:cNvSpPr txBox="1">
              <a:spLocks noChangeArrowheads="1"/>
            </p:cNvSpPr>
            <p:nvPr/>
          </p:nvSpPr>
          <p:spPr bwMode="auto">
            <a:xfrm>
              <a:off x="743" y="1909"/>
              <a:ext cx="890" cy="164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процедурные</a:t>
              </a:r>
            </a:p>
          </p:txBody>
        </p:sp>
        <p:sp>
          <p:nvSpPr>
            <p:cNvPr id="48154" name="Line 24"/>
            <p:cNvSpPr>
              <a:spLocks noChangeShapeType="1"/>
            </p:cNvSpPr>
            <p:nvPr/>
          </p:nvSpPr>
          <p:spPr bwMode="auto">
            <a:xfrm>
              <a:off x="617" y="1549"/>
              <a:ext cx="0" cy="4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8155" name="Line 25"/>
            <p:cNvSpPr>
              <a:spLocks noChangeShapeType="1"/>
            </p:cNvSpPr>
            <p:nvPr/>
          </p:nvSpPr>
          <p:spPr bwMode="auto">
            <a:xfrm>
              <a:off x="617" y="1732"/>
              <a:ext cx="1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8156" name="Line 26"/>
            <p:cNvSpPr>
              <a:spLocks noChangeShapeType="1"/>
            </p:cNvSpPr>
            <p:nvPr/>
          </p:nvSpPr>
          <p:spPr bwMode="auto">
            <a:xfrm>
              <a:off x="617" y="1997"/>
              <a:ext cx="12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611188" y="3573463"/>
            <a:ext cx="2305050" cy="1079500"/>
            <a:chOff x="385" y="2251"/>
            <a:chExt cx="1452" cy="680"/>
          </a:xfrm>
        </p:grpSpPr>
        <p:sp>
          <p:nvSpPr>
            <p:cNvPr id="48145" name="Text Box 28"/>
            <p:cNvSpPr txBox="1">
              <a:spLocks noChangeArrowheads="1"/>
            </p:cNvSpPr>
            <p:nvPr/>
          </p:nvSpPr>
          <p:spPr bwMode="auto">
            <a:xfrm>
              <a:off x="385" y="2251"/>
              <a:ext cx="940" cy="163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модели</a:t>
              </a:r>
            </a:p>
          </p:txBody>
        </p:sp>
        <p:sp>
          <p:nvSpPr>
            <p:cNvPr id="48146" name="Text Box 29"/>
            <p:cNvSpPr txBox="1">
              <a:spLocks noChangeArrowheads="1"/>
            </p:cNvSpPr>
            <p:nvPr/>
          </p:nvSpPr>
          <p:spPr bwMode="auto">
            <a:xfrm>
              <a:off x="715" y="2510"/>
              <a:ext cx="1122" cy="149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детерминированные</a:t>
              </a:r>
            </a:p>
          </p:txBody>
        </p:sp>
        <p:sp>
          <p:nvSpPr>
            <p:cNvPr id="48147" name="Text Box 30"/>
            <p:cNvSpPr txBox="1">
              <a:spLocks noChangeArrowheads="1"/>
            </p:cNvSpPr>
            <p:nvPr/>
          </p:nvSpPr>
          <p:spPr bwMode="auto">
            <a:xfrm>
              <a:off x="715" y="2768"/>
              <a:ext cx="1122" cy="163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стохастические</a:t>
              </a:r>
            </a:p>
          </p:txBody>
        </p:sp>
        <p:sp>
          <p:nvSpPr>
            <p:cNvPr id="48148" name="Line 31"/>
            <p:cNvSpPr>
              <a:spLocks noChangeShapeType="1"/>
            </p:cNvSpPr>
            <p:nvPr/>
          </p:nvSpPr>
          <p:spPr bwMode="auto">
            <a:xfrm>
              <a:off x="582" y="2410"/>
              <a:ext cx="0" cy="4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8149" name="Line 32"/>
            <p:cNvSpPr>
              <a:spLocks noChangeShapeType="1"/>
            </p:cNvSpPr>
            <p:nvPr/>
          </p:nvSpPr>
          <p:spPr bwMode="auto">
            <a:xfrm>
              <a:off x="582" y="2592"/>
              <a:ext cx="13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8150" name="Line 33"/>
            <p:cNvSpPr>
              <a:spLocks noChangeShapeType="1"/>
            </p:cNvSpPr>
            <p:nvPr/>
          </p:nvSpPr>
          <p:spPr bwMode="auto">
            <a:xfrm>
              <a:off x="582" y="2855"/>
              <a:ext cx="13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755650" y="5229225"/>
            <a:ext cx="2016125" cy="1079500"/>
            <a:chOff x="431" y="1389"/>
            <a:chExt cx="1202" cy="684"/>
          </a:xfrm>
        </p:grpSpPr>
        <p:sp>
          <p:nvSpPr>
            <p:cNvPr id="48139" name="Text Box 36"/>
            <p:cNvSpPr txBox="1">
              <a:spLocks noChangeArrowheads="1"/>
            </p:cNvSpPr>
            <p:nvPr/>
          </p:nvSpPr>
          <p:spPr bwMode="auto">
            <a:xfrm>
              <a:off x="431" y="1389"/>
              <a:ext cx="890" cy="164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модели</a:t>
              </a:r>
            </a:p>
          </p:txBody>
        </p:sp>
        <p:sp>
          <p:nvSpPr>
            <p:cNvPr id="48140" name="Text Box 37"/>
            <p:cNvSpPr txBox="1">
              <a:spLocks noChangeArrowheads="1"/>
            </p:cNvSpPr>
            <p:nvPr/>
          </p:nvSpPr>
          <p:spPr bwMode="auto">
            <a:xfrm>
              <a:off x="743" y="1650"/>
              <a:ext cx="890" cy="164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формальные</a:t>
              </a:r>
            </a:p>
          </p:txBody>
        </p:sp>
        <p:sp>
          <p:nvSpPr>
            <p:cNvPr id="48141" name="Text Box 38"/>
            <p:cNvSpPr txBox="1">
              <a:spLocks noChangeArrowheads="1"/>
            </p:cNvSpPr>
            <p:nvPr/>
          </p:nvSpPr>
          <p:spPr bwMode="auto">
            <a:xfrm>
              <a:off x="743" y="1909"/>
              <a:ext cx="890" cy="164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23625" tIns="14175" rIns="23625" bIns="14175"/>
            <a:lstStyle/>
            <a:p>
              <a:pPr algn="ctr"/>
              <a:r>
                <a:rPr lang="ru-RU" altLang="ru-RU" sz="1400"/>
                <a:t>содержательные</a:t>
              </a:r>
            </a:p>
          </p:txBody>
        </p:sp>
        <p:sp>
          <p:nvSpPr>
            <p:cNvPr id="48142" name="Line 39"/>
            <p:cNvSpPr>
              <a:spLocks noChangeShapeType="1"/>
            </p:cNvSpPr>
            <p:nvPr/>
          </p:nvSpPr>
          <p:spPr bwMode="auto">
            <a:xfrm>
              <a:off x="617" y="1549"/>
              <a:ext cx="0" cy="4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8143" name="Line 40"/>
            <p:cNvSpPr>
              <a:spLocks noChangeShapeType="1"/>
            </p:cNvSpPr>
            <p:nvPr/>
          </p:nvSpPr>
          <p:spPr bwMode="auto">
            <a:xfrm>
              <a:off x="617" y="1732"/>
              <a:ext cx="1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8144" name="Line 41"/>
            <p:cNvSpPr>
              <a:spLocks noChangeShapeType="1"/>
            </p:cNvSpPr>
            <p:nvPr/>
          </p:nvSpPr>
          <p:spPr bwMode="auto">
            <a:xfrm>
              <a:off x="617" y="1997"/>
              <a:ext cx="12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2330" name="Text Box 42"/>
          <p:cNvSpPr txBox="1">
            <a:spLocks noChangeArrowheads="1"/>
          </p:cNvSpPr>
          <p:nvPr/>
        </p:nvSpPr>
        <p:spPr bwMode="auto">
          <a:xfrm>
            <a:off x="3132138" y="1916113"/>
            <a:ext cx="576103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600" i="1"/>
              <a:t>Декларативные </a:t>
            </a:r>
            <a:r>
              <a:rPr lang="ru-RU" altLang="ru-RU" sz="1600"/>
              <a:t>модели отражают свойства, структуры, состояния объектов</a:t>
            </a:r>
          </a:p>
        </p:txBody>
      </p:sp>
      <p:sp>
        <p:nvSpPr>
          <p:cNvPr id="12333" name="Text Box 45"/>
          <p:cNvSpPr txBox="1">
            <a:spLocks noChangeArrowheads="1"/>
          </p:cNvSpPr>
          <p:nvPr/>
        </p:nvSpPr>
        <p:spPr bwMode="auto">
          <a:xfrm>
            <a:off x="3203575" y="2492375"/>
            <a:ext cx="576103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600" i="1"/>
              <a:t>Процедурные </a:t>
            </a:r>
            <a:r>
              <a:rPr lang="ru-RU" altLang="ru-RU" sz="1600"/>
              <a:t>модели отражают процедурное, операционное знание </a:t>
            </a:r>
          </a:p>
        </p:txBody>
      </p:sp>
      <p:sp>
        <p:nvSpPr>
          <p:cNvPr id="12334" name="Text Box 46"/>
          <p:cNvSpPr txBox="1">
            <a:spLocks noChangeArrowheads="1"/>
          </p:cNvSpPr>
          <p:nvPr/>
        </p:nvSpPr>
        <p:spPr bwMode="auto">
          <a:xfrm>
            <a:off x="3276600" y="3357563"/>
            <a:ext cx="56165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600" i="1"/>
              <a:t>Детерминированные </a:t>
            </a:r>
            <a:r>
              <a:rPr lang="ru-RU" altLang="ru-RU" sz="1600"/>
              <a:t>модели отражают процессы и явления, не подверженные случайностям </a:t>
            </a:r>
          </a:p>
        </p:txBody>
      </p:sp>
      <p:sp>
        <p:nvSpPr>
          <p:cNvPr id="12335" name="Text Box 47"/>
          <p:cNvSpPr txBox="1">
            <a:spLocks noChangeArrowheads="1"/>
          </p:cNvSpPr>
          <p:nvPr/>
        </p:nvSpPr>
        <p:spPr bwMode="auto">
          <a:xfrm>
            <a:off x="3276600" y="4005263"/>
            <a:ext cx="5545138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600" i="1"/>
              <a:t>Стохастические </a:t>
            </a:r>
            <a:r>
              <a:rPr lang="ru-RU" altLang="ru-RU" sz="1600"/>
              <a:t>– отражают</a:t>
            </a:r>
            <a:r>
              <a:rPr lang="ru-RU" altLang="ru-RU" sz="1600" i="1"/>
              <a:t> </a:t>
            </a:r>
            <a:r>
              <a:rPr lang="ru-RU" altLang="ru-RU" sz="1600"/>
              <a:t>случайные процессы, описываемые вероятностными характеристиками и статистическими закономерностями  </a:t>
            </a:r>
          </a:p>
        </p:txBody>
      </p:sp>
      <p:sp>
        <p:nvSpPr>
          <p:cNvPr id="12336" name="Text Box 48"/>
          <p:cNvSpPr txBox="1">
            <a:spLocks noChangeArrowheads="1"/>
          </p:cNvSpPr>
          <p:nvPr/>
        </p:nvSpPr>
        <p:spPr bwMode="auto">
          <a:xfrm>
            <a:off x="3203575" y="5734050"/>
            <a:ext cx="5688013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600"/>
              <a:t>В </a:t>
            </a:r>
            <a:r>
              <a:rPr lang="ru-RU" altLang="ru-RU" sz="1600" i="1"/>
              <a:t>содержательных</a:t>
            </a:r>
            <a:r>
              <a:rPr lang="ru-RU" altLang="ru-RU" sz="1600"/>
              <a:t> моделях сохраняется семантика моделируемого объекта </a:t>
            </a:r>
          </a:p>
        </p:txBody>
      </p:sp>
      <p:sp>
        <p:nvSpPr>
          <p:cNvPr id="12337" name="Text Box 49"/>
          <p:cNvSpPr txBox="1">
            <a:spLocks noChangeArrowheads="1"/>
          </p:cNvSpPr>
          <p:nvPr/>
        </p:nvSpPr>
        <p:spPr bwMode="auto">
          <a:xfrm>
            <a:off x="3203575" y="5013325"/>
            <a:ext cx="576103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600" i="1"/>
              <a:t>Формализованные</a:t>
            </a:r>
            <a:r>
              <a:rPr lang="ru-RU" altLang="ru-RU" sz="1600"/>
              <a:t> модели могут не иметь смысловой интерпретации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2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2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30" grpId="0"/>
      <p:bldP spid="12333" grpId="0"/>
      <p:bldP spid="12334" grpId="0"/>
      <p:bldP spid="12335" grpId="0"/>
      <p:bldP spid="12336" grpId="0"/>
      <p:bldP spid="123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765175"/>
            <a:ext cx="7793037" cy="9112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Языки описания моделей</a:t>
            </a: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900113" y="1989138"/>
            <a:ext cx="79930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i="1"/>
              <a:t>Языки описания моделей</a:t>
            </a:r>
            <a:r>
              <a:rPr lang="ru-RU" altLang="ru-RU"/>
              <a:t>: аналитические, численные, логические, теоретико-множественные, лингвистические, графические</a:t>
            </a: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900113" y="2736850"/>
            <a:ext cx="79216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600"/>
              <a:t>Графические модели (схемы, диаграммы, графики, чертежи) – наглядны</a:t>
            </a: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900113" y="3213100"/>
            <a:ext cx="79930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i="1"/>
              <a:t>Нотация — </a:t>
            </a:r>
            <a:r>
              <a:rPr lang="ru-RU" altLang="ru-RU"/>
              <a:t>система условных обозначений (знаков) и правил их использования, принятая в конкретной методологии</a:t>
            </a:r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900113" y="4005263"/>
            <a:ext cx="78486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7800" indent="-177800"/>
            <a:r>
              <a:rPr lang="ru-RU" altLang="ru-RU" sz="1600" b="1"/>
              <a:t>Требования к нотации</a:t>
            </a:r>
            <a:r>
              <a:rPr lang="ru-RU" altLang="ru-RU" sz="1600"/>
              <a:t> :</a:t>
            </a:r>
          </a:p>
          <a:p>
            <a:pPr marL="177800" indent="-177800">
              <a:spcBef>
                <a:spcPct val="25000"/>
              </a:spcBef>
              <a:buFontTx/>
              <a:buChar char="•"/>
            </a:pPr>
            <a:r>
              <a:rPr lang="ru-RU" altLang="ru-RU" sz="1600"/>
              <a:t>простота — простой знак предпочтительнее сложного;</a:t>
            </a: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900113" y="5900738"/>
            <a:ext cx="79930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ru-RU" altLang="ru-RU" sz="1600"/>
              <a:t> учет устоявшихся традиций </a:t>
            </a:r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900113" y="5583238"/>
            <a:ext cx="7848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ru-RU" altLang="ru-RU" sz="1600"/>
              <a:t> определенность — четкие правила использования модели;</a:t>
            </a: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900113" y="5265738"/>
            <a:ext cx="79930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ru-RU" altLang="ru-RU" sz="1600"/>
              <a:t> однозначность — нельзя обозначать одним символом различные объекты;</a:t>
            </a:r>
          </a:p>
        </p:txBody>
      </p: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900113" y="4948238"/>
            <a:ext cx="79216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ru-RU" altLang="ru-RU" sz="1600"/>
              <a:t> индивидуальность — достаточное отличие от других обозначений;</a:t>
            </a:r>
          </a:p>
        </p:txBody>
      </p:sp>
      <p:sp>
        <p:nvSpPr>
          <p:cNvPr id="13327" name="Text Box 15"/>
          <p:cNvSpPr txBox="1">
            <a:spLocks noChangeArrowheads="1"/>
          </p:cNvSpPr>
          <p:nvPr/>
        </p:nvSpPr>
        <p:spPr bwMode="auto">
          <a:xfrm>
            <a:off x="900113" y="4630738"/>
            <a:ext cx="79930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ru-RU" altLang="ru-RU" sz="1600"/>
              <a:t> наглядность — хотя бы отдаленное сходство с оригиналом;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/>
      <p:bldP spid="13318" grpId="0"/>
      <p:bldP spid="13319" grpId="0"/>
      <p:bldP spid="13320" grpId="0"/>
      <p:bldP spid="13323" grpId="0"/>
      <p:bldP spid="13324" grpId="0"/>
      <p:bldP spid="13325" grpId="0"/>
      <p:bldP spid="13326" grpId="0"/>
      <p:bldP spid="133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>
                <a:cs typeface="Times New Roman" pitchFamily="18" charset="0"/>
              </a:rPr>
              <a:t>Бизнес–модель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997200" y="2363788"/>
            <a:ext cx="6146800" cy="3741737"/>
          </a:xfrm>
        </p:spPr>
        <p:txBody>
          <a:bodyPr/>
          <a:lstStyle/>
          <a:p>
            <a:pPr eaLnBrk="1" hangingPunct="1"/>
            <a:r>
              <a:rPr lang="ru-RU" altLang="ru-RU" smtClean="0">
                <a:cs typeface="Times New Roman" pitchFamily="18" charset="0"/>
              </a:rPr>
              <a:t>Бизнес–модель – структурированное графическое описание сети процессов и операций, связанных с данными, документами, организационными единицами и прочими объектами, отражающими существующую или предполагаемую деятельность предприятия.</a:t>
            </a:r>
            <a:r>
              <a:rPr lang="ru-RU" altLang="ru-RU" smtClean="0"/>
              <a:t> </a:t>
            </a:r>
          </a:p>
        </p:txBody>
      </p:sp>
      <p:pic>
        <p:nvPicPr>
          <p:cNvPr id="29699" name="Picture 4" descr="C:\Users\bedrina.sl\AppData\Local\Microsoft\Windows\Temporary Internet Files\Content.IE5\DCZ1687B\350px-ETOM[1]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1775" y="2079625"/>
            <a:ext cx="2717800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4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0"/>
            <a:ext cx="8229600" cy="1041400"/>
          </a:xfrm>
          <a:noFill/>
        </p:spPr>
        <p:txBody>
          <a:bodyPr wrap="square" numCol="1" anchor="ctr" anchorCtr="0" compatLnSpc="1">
            <a:prstTxWarp prst="textNoShape">
              <a:avLst/>
            </a:prstTxWarp>
          </a:bodyPr>
          <a:lstStyle/>
          <a:p>
            <a:r>
              <a:rPr lang="ru-RU" smtClean="0">
                <a:effectLst/>
              </a:rPr>
              <a:t> </a:t>
            </a:r>
            <a:r>
              <a:rPr lang="ru-RU" sz="4000" smtClean="0">
                <a:effectLst/>
              </a:rPr>
              <a:t>Определение бизнес-процесса</a:t>
            </a:r>
            <a:r>
              <a:rPr lang="ru-RU" smtClean="0">
                <a:effectLst/>
              </a:rPr>
              <a:t> </a:t>
            </a:r>
          </a:p>
        </p:txBody>
      </p:sp>
      <p:sp>
        <p:nvSpPr>
          <p:cNvPr id="144387" name="Text Box 7"/>
          <p:cNvSpPr txBox="1">
            <a:spLocks noChangeArrowheads="1"/>
          </p:cNvSpPr>
          <p:nvPr/>
        </p:nvSpPr>
        <p:spPr bwMode="auto">
          <a:xfrm>
            <a:off x="468313" y="1433513"/>
            <a:ext cx="8424862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>
                <a:latin typeface="Arial" charset="0"/>
              </a:rPr>
              <a:t>Бизнес-процессы – это логические серии взаимозависимых действий, которые используют ресурсы предприятия для создания полезного для заказчика выхода, такого как Продукт или Услуга </a:t>
            </a:r>
          </a:p>
        </p:txBody>
      </p:sp>
      <p:sp>
        <p:nvSpPr>
          <p:cNvPr id="144429" name="Text Box 51"/>
          <p:cNvSpPr txBox="1">
            <a:spLocks noChangeArrowheads="1"/>
          </p:cNvSpPr>
          <p:nvPr/>
        </p:nvSpPr>
        <p:spPr bwMode="auto">
          <a:xfrm>
            <a:off x="6732588" y="2349500"/>
            <a:ext cx="2160587" cy="363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>
                <a:latin typeface="Arial" charset="0"/>
              </a:rPr>
              <a:t>Процессы «пронизывают» оргструктуру</a:t>
            </a:r>
          </a:p>
          <a:p>
            <a:pPr>
              <a:spcBef>
                <a:spcPct val="50000"/>
              </a:spcBef>
            </a:pPr>
            <a:r>
              <a:rPr lang="ru-RU" sz="1600">
                <a:latin typeface="Arial" charset="0"/>
              </a:rPr>
              <a:t>Четко определены вход и выход</a:t>
            </a:r>
          </a:p>
          <a:p>
            <a:pPr>
              <a:spcBef>
                <a:spcPct val="50000"/>
              </a:spcBef>
            </a:pPr>
            <a:r>
              <a:rPr lang="ru-RU" sz="1600">
                <a:latin typeface="Arial" charset="0"/>
              </a:rPr>
              <a:t>Выходы внешних бизнес-процессов используют заказчики, клиенты</a:t>
            </a:r>
          </a:p>
          <a:p>
            <a:pPr>
              <a:spcBef>
                <a:spcPct val="50000"/>
              </a:spcBef>
            </a:pPr>
            <a:r>
              <a:rPr lang="ru-RU" sz="1600">
                <a:latin typeface="Arial" charset="0"/>
              </a:rPr>
              <a:t>Выходы внутренних</a:t>
            </a:r>
            <a:r>
              <a:rPr lang="ru-RU" sz="1400">
                <a:latin typeface="Arial" charset="0"/>
              </a:rPr>
              <a:t> </a:t>
            </a:r>
            <a:r>
              <a:rPr lang="ru-RU" sz="1600">
                <a:latin typeface="Arial" charset="0"/>
              </a:rPr>
              <a:t>бизнес-процессов используются внутри компании </a:t>
            </a:r>
          </a:p>
        </p:txBody>
      </p:sp>
      <p:pic>
        <p:nvPicPr>
          <p:cNvPr id="144470" name="Picture 8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5900" y="2708275"/>
            <a:ext cx="6516688" cy="36290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Заголовок 1"/>
          <p:cNvSpPr>
            <a:spLocks noGrp="1"/>
          </p:cNvSpPr>
          <p:nvPr>
            <p:ph type="title"/>
          </p:nvPr>
        </p:nvSpPr>
        <p:spPr bwMode="auto">
          <a:noFill/>
        </p:spPr>
        <p:txBody>
          <a:bodyPr wrap="square" numCol="1" anchor="ctr" anchorCtr="0" compatLnSpc="1">
            <a:prstTxWarp prst="textNoShape">
              <a:avLst/>
            </a:prstTxWarp>
          </a:bodyPr>
          <a:lstStyle/>
          <a:p>
            <a:r>
              <a:rPr lang="ru-RU" sz="4400" smtClean="0">
                <a:effectLst/>
              </a:rPr>
              <a:t>Основные определения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marL="365125" indent="-282575" algn="just">
              <a:buFont typeface="Wingdings 2" pitchFamily="18" charset="2"/>
              <a:buChar char=""/>
            </a:pPr>
            <a:r>
              <a:rPr lang="ru-RU" sz="2000" b="1" dirty="0">
                <a:solidFill>
                  <a:srgbClr val="A50021"/>
                </a:solidFill>
              </a:rPr>
              <a:t>Бизнес-процесс</a:t>
            </a:r>
            <a:r>
              <a:rPr lang="ru-RU" sz="2000" dirty="0">
                <a:cs typeface="Times New Roman" pitchFamily="18" charset="0"/>
              </a:rPr>
              <a:t>– связанная совокупность функций, в ходе выполнения которой потребляются определенные ресурсы и создается продукт, представляющий ценность для </a:t>
            </a:r>
            <a:r>
              <a:rPr lang="ru-RU" sz="2000" dirty="0" smtClean="0">
                <a:cs typeface="Times New Roman" pitchFamily="18" charset="0"/>
              </a:rPr>
              <a:t>потребителя</a:t>
            </a:r>
          </a:p>
          <a:p>
            <a:pPr marL="365125" indent="-282575" algn="just"/>
            <a:r>
              <a:rPr lang="ru-RU" sz="2000" b="1" dirty="0" err="1">
                <a:solidFill>
                  <a:srgbClr val="A50021"/>
                </a:solidFill>
              </a:rPr>
              <a:t>Подпроцесс</a:t>
            </a:r>
            <a:r>
              <a:rPr lang="ru-RU" sz="2000" dirty="0">
                <a:cs typeface="Times New Roman" pitchFamily="18" charset="0"/>
              </a:rPr>
              <a:t> – бизнес-процесс, являющийся структурным элементом некоторого объемлющего бизнес-процесса и представляющий ценность для внутреннего потребителя </a:t>
            </a:r>
            <a:endParaRPr lang="ru-RU" sz="2000" dirty="0"/>
          </a:p>
          <a:p>
            <a:pPr marL="365125" indent="-282575" algn="just"/>
            <a:r>
              <a:rPr lang="ru-RU" sz="2000" b="1" dirty="0" smtClean="0">
                <a:solidFill>
                  <a:srgbClr val="A50021"/>
                </a:solidFill>
              </a:rPr>
              <a:t>Функция</a:t>
            </a:r>
            <a:r>
              <a:rPr lang="ru-RU" sz="2000" dirty="0" smtClean="0">
                <a:cs typeface="Times New Roman" pitchFamily="18" charset="0"/>
              </a:rPr>
              <a:t> – совокупность операций, сгруппированных по определенному признаку. </a:t>
            </a:r>
            <a:endParaRPr lang="ru-RU" sz="2000" dirty="0" smtClean="0"/>
          </a:p>
          <a:p>
            <a:pPr marL="365125" indent="-282575" algn="just"/>
            <a:r>
              <a:rPr lang="ru-RU" sz="2000" b="1" dirty="0" smtClean="0">
                <a:solidFill>
                  <a:srgbClr val="A50021"/>
                </a:solidFill>
              </a:rPr>
              <a:t>Операция </a:t>
            </a:r>
            <a:r>
              <a:rPr lang="ru-RU" sz="2000" b="1" dirty="0">
                <a:solidFill>
                  <a:srgbClr val="A50021"/>
                </a:solidFill>
              </a:rPr>
              <a:t>(работа)</a:t>
            </a:r>
            <a:r>
              <a:rPr lang="ru-RU" sz="2000" dirty="0"/>
              <a:t> – </a:t>
            </a:r>
            <a:r>
              <a:rPr lang="ru-RU" sz="2000" dirty="0">
                <a:cs typeface="Times New Roman" pitchFamily="18" charset="0"/>
              </a:rPr>
              <a:t>элементарное (неделимое) действие, выполняемое на одном рабочем месте.</a:t>
            </a:r>
            <a:endParaRPr lang="ru-RU" sz="2000" dirty="0"/>
          </a:p>
          <a:p>
            <a:pPr marL="365125" indent="-282575" algn="just"/>
            <a:endParaRPr lang="ru-RU" sz="2000" dirty="0" smtClean="0"/>
          </a:p>
          <a:p>
            <a:pPr lvl="1" algn="just">
              <a:buFont typeface="Courier New" pitchFamily="49" charset="0"/>
              <a:buNone/>
            </a:pPr>
            <a:endParaRPr lang="ru-RU" sz="2400" dirty="0" smtClean="0"/>
          </a:p>
          <a:p>
            <a:pPr marL="365125" indent="-282575" algn="just"/>
            <a:endParaRPr lang="ru-RU" sz="1800" dirty="0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4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60350"/>
            <a:ext cx="8229600" cy="576263"/>
          </a:xfrm>
          <a:noFill/>
        </p:spPr>
        <p:txBody>
          <a:bodyPr wrap="square" numCol="1" anchor="ctr" anchorCtr="0" compatLnSpc="1">
            <a:prstTxWarp prst="textNoShape">
              <a:avLst/>
            </a:prstTxWarp>
          </a:bodyPr>
          <a:lstStyle/>
          <a:p>
            <a:r>
              <a:rPr lang="ru-RU" sz="4800" smtClean="0">
                <a:effectLst/>
              </a:rPr>
              <a:t>Процесс</a:t>
            </a:r>
          </a:p>
        </p:txBody>
      </p:sp>
      <p:sp>
        <p:nvSpPr>
          <p:cNvPr id="149507" name="Rectangle 5"/>
          <p:cNvSpPr>
            <a:spLocks noChangeArrowheads="1"/>
          </p:cNvSpPr>
          <p:nvPr/>
        </p:nvSpPr>
        <p:spPr bwMode="auto">
          <a:xfrm>
            <a:off x="3124200" y="2743200"/>
            <a:ext cx="2819400" cy="1905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2400">
                <a:latin typeface="Arial" charset="0"/>
              </a:rPr>
              <a:t>Деятельность</a:t>
            </a:r>
          </a:p>
        </p:txBody>
      </p:sp>
      <p:sp>
        <p:nvSpPr>
          <p:cNvPr id="149508" name="AutoShape 6"/>
          <p:cNvSpPr>
            <a:spLocks noChangeArrowheads="1"/>
          </p:cNvSpPr>
          <p:nvPr/>
        </p:nvSpPr>
        <p:spPr bwMode="auto">
          <a:xfrm>
            <a:off x="838200" y="3352800"/>
            <a:ext cx="2209800" cy="838200"/>
          </a:xfrm>
          <a:prstGeom prst="rightArrow">
            <a:avLst>
              <a:gd name="adj1" fmla="val 50000"/>
              <a:gd name="adj2" fmla="val 65909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b="1">
                <a:latin typeface="Arial" charset="0"/>
              </a:rPr>
              <a:t>Вход</a:t>
            </a:r>
          </a:p>
        </p:txBody>
      </p:sp>
      <p:sp>
        <p:nvSpPr>
          <p:cNvPr id="149509" name="AutoShape 7"/>
          <p:cNvSpPr>
            <a:spLocks noChangeArrowheads="1"/>
          </p:cNvSpPr>
          <p:nvPr/>
        </p:nvSpPr>
        <p:spPr bwMode="auto">
          <a:xfrm>
            <a:off x="5943600" y="3276600"/>
            <a:ext cx="2209800" cy="838200"/>
          </a:xfrm>
          <a:prstGeom prst="rightArrow">
            <a:avLst>
              <a:gd name="adj1" fmla="val 50000"/>
              <a:gd name="adj2" fmla="val 65909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b="1">
                <a:latin typeface="Arial" charset="0"/>
              </a:rPr>
              <a:t>Выход</a:t>
            </a:r>
          </a:p>
        </p:txBody>
      </p:sp>
      <p:sp>
        <p:nvSpPr>
          <p:cNvPr id="149510" name="AutoShape 8"/>
          <p:cNvSpPr>
            <a:spLocks noChangeArrowheads="1"/>
          </p:cNvSpPr>
          <p:nvPr/>
        </p:nvSpPr>
        <p:spPr bwMode="auto">
          <a:xfrm rot="-5400000">
            <a:off x="3657600" y="5105400"/>
            <a:ext cx="1752600" cy="838200"/>
          </a:xfrm>
          <a:prstGeom prst="rightArrow">
            <a:avLst>
              <a:gd name="adj1" fmla="val 50000"/>
              <a:gd name="adj2" fmla="val 52273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b="1">
                <a:latin typeface="Arial" charset="0"/>
              </a:rPr>
              <a:t>Ресурсы</a:t>
            </a:r>
          </a:p>
        </p:txBody>
      </p:sp>
      <p:sp>
        <p:nvSpPr>
          <p:cNvPr id="149511" name="AutoShape 9"/>
          <p:cNvSpPr>
            <a:spLocks noChangeArrowheads="1"/>
          </p:cNvSpPr>
          <p:nvPr/>
        </p:nvSpPr>
        <p:spPr bwMode="auto">
          <a:xfrm rot="5400000" flipV="1">
            <a:off x="3619500" y="1485900"/>
            <a:ext cx="1676400" cy="838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b="1">
                <a:latin typeface="Arial" charset="0"/>
              </a:rPr>
              <a:t>Управление</a:t>
            </a:r>
          </a:p>
        </p:txBody>
      </p:sp>
      <p:sp>
        <p:nvSpPr>
          <p:cNvPr id="149512" name="Text Box 10"/>
          <p:cNvSpPr txBox="1">
            <a:spLocks noChangeArrowheads="1"/>
          </p:cNvSpPr>
          <p:nvPr/>
        </p:nvSpPr>
        <p:spPr bwMode="auto">
          <a:xfrm>
            <a:off x="8229600" y="3733800"/>
            <a:ext cx="7635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Arial" charset="0"/>
              </a:rPr>
              <a:t>Цель</a:t>
            </a:r>
          </a:p>
        </p:txBody>
      </p:sp>
      <p:sp>
        <p:nvSpPr>
          <p:cNvPr id="149513" name="Text Box 11"/>
          <p:cNvSpPr txBox="1">
            <a:spLocks noChangeArrowheads="1"/>
          </p:cNvSpPr>
          <p:nvPr/>
        </p:nvSpPr>
        <p:spPr bwMode="auto">
          <a:xfrm>
            <a:off x="838200" y="2743200"/>
            <a:ext cx="22844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Arial" charset="0"/>
              </a:rPr>
              <a:t>Информационные</a:t>
            </a:r>
            <a:br>
              <a:rPr lang="ru-RU" b="1">
                <a:latin typeface="Arial" charset="0"/>
              </a:rPr>
            </a:br>
            <a:r>
              <a:rPr lang="ru-RU" b="1">
                <a:latin typeface="Arial" charset="0"/>
              </a:rPr>
              <a:t>ресурсы</a:t>
            </a:r>
          </a:p>
        </p:txBody>
      </p:sp>
      <p:sp>
        <p:nvSpPr>
          <p:cNvPr id="149514" name="Text Box 12"/>
          <p:cNvSpPr txBox="1">
            <a:spLocks noChangeArrowheads="1"/>
          </p:cNvSpPr>
          <p:nvPr/>
        </p:nvSpPr>
        <p:spPr bwMode="auto">
          <a:xfrm>
            <a:off x="5029200" y="5638800"/>
            <a:ext cx="25860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Arial" charset="0"/>
              </a:rPr>
              <a:t>Время, деньги, люди</a:t>
            </a:r>
          </a:p>
        </p:txBody>
      </p:sp>
      <p:sp>
        <p:nvSpPr>
          <p:cNvPr id="149515" name="Text Box 14"/>
          <p:cNvSpPr txBox="1">
            <a:spLocks noChangeArrowheads="1"/>
          </p:cNvSpPr>
          <p:nvPr/>
        </p:nvSpPr>
        <p:spPr bwMode="auto">
          <a:xfrm>
            <a:off x="838200" y="4267200"/>
            <a:ext cx="19589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Arial" charset="0"/>
              </a:rPr>
              <a:t>Материальные </a:t>
            </a:r>
            <a:br>
              <a:rPr lang="ru-RU" b="1">
                <a:latin typeface="Arial" charset="0"/>
              </a:rPr>
            </a:br>
            <a:r>
              <a:rPr lang="ru-RU" b="1">
                <a:latin typeface="Arial" charset="0"/>
              </a:rPr>
              <a:t>ресурсы</a:t>
            </a:r>
          </a:p>
        </p:txBody>
      </p:sp>
      <p:sp>
        <p:nvSpPr>
          <p:cNvPr id="149516" name="Text Box 15"/>
          <p:cNvSpPr txBox="1">
            <a:spLocks noChangeArrowheads="1"/>
          </p:cNvSpPr>
          <p:nvPr/>
        </p:nvSpPr>
        <p:spPr bwMode="auto">
          <a:xfrm>
            <a:off x="6096000" y="2667000"/>
            <a:ext cx="22844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Arial" charset="0"/>
              </a:rPr>
              <a:t>Информационные</a:t>
            </a:r>
            <a:br>
              <a:rPr lang="ru-RU" b="1">
                <a:latin typeface="Arial" charset="0"/>
              </a:rPr>
            </a:br>
            <a:r>
              <a:rPr lang="ru-RU" b="1">
                <a:latin typeface="Arial" charset="0"/>
              </a:rPr>
              <a:t>ресурсы</a:t>
            </a:r>
          </a:p>
        </p:txBody>
      </p:sp>
      <p:sp>
        <p:nvSpPr>
          <p:cNvPr id="149517" name="Text Box 16"/>
          <p:cNvSpPr txBox="1">
            <a:spLocks noChangeArrowheads="1"/>
          </p:cNvSpPr>
          <p:nvPr/>
        </p:nvSpPr>
        <p:spPr bwMode="auto">
          <a:xfrm>
            <a:off x="6096000" y="4191000"/>
            <a:ext cx="19589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Arial" charset="0"/>
              </a:rPr>
              <a:t>Материальные </a:t>
            </a:r>
            <a:br>
              <a:rPr lang="ru-RU" b="1">
                <a:latin typeface="Arial" charset="0"/>
              </a:rPr>
            </a:br>
            <a:r>
              <a:rPr lang="ru-RU" b="1">
                <a:latin typeface="Arial" charset="0"/>
              </a:rPr>
              <a:t>ресурсы</a:t>
            </a:r>
          </a:p>
        </p:txBody>
      </p:sp>
      <p:sp>
        <p:nvSpPr>
          <p:cNvPr id="149518" name="Text Box 17"/>
          <p:cNvSpPr txBox="1">
            <a:spLocks noChangeArrowheads="1"/>
          </p:cNvSpPr>
          <p:nvPr/>
        </p:nvSpPr>
        <p:spPr bwMode="auto">
          <a:xfrm>
            <a:off x="5076825" y="1773238"/>
            <a:ext cx="19383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Arial" charset="0"/>
              </a:rPr>
              <a:t>Внешняя среда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/>
          </p:cNvSpPr>
          <p:nvPr>
            <p:ph type="title"/>
          </p:nvPr>
        </p:nvSpPr>
        <p:spPr bwMode="auto">
          <a:noFill/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ru-RU" sz="4800" smtClean="0">
                <a:effectLst/>
              </a:rPr>
              <a:t>Мониторинг и измерение процесса</a:t>
            </a:r>
          </a:p>
        </p:txBody>
      </p:sp>
      <p:pic>
        <p:nvPicPr>
          <p:cNvPr id="151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313" y="1773238"/>
            <a:ext cx="8351837" cy="439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4" name="Rectangle 4"/>
          <p:cNvSpPr>
            <a:spLocks noGrp="1"/>
          </p:cNvSpPr>
          <p:nvPr>
            <p:ph type="title"/>
          </p:nvPr>
        </p:nvSpPr>
        <p:spPr bwMode="auto">
          <a:noFill/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ru-RU" smtClean="0">
                <a:effectLst/>
              </a:rPr>
              <a:t>Оценка процесса</a:t>
            </a:r>
          </a:p>
        </p:txBody>
      </p:sp>
      <p:sp>
        <p:nvSpPr>
          <p:cNvPr id="153605" name="Rectangle 5"/>
          <p:cNvSpPr>
            <a:spLocks noGrp="1"/>
          </p:cNvSpPr>
          <p:nvPr>
            <p:ph type="body" idx="1"/>
          </p:nvPr>
        </p:nvSpPr>
        <p:spPr>
          <a:xfrm>
            <a:off x="457200" y="1943100"/>
            <a:ext cx="8229600" cy="4183063"/>
          </a:xfrm>
        </p:spPr>
        <p:txBody>
          <a:bodyPr/>
          <a:lstStyle/>
          <a:p>
            <a:r>
              <a:rPr lang="ru-RU" sz="3200" smtClean="0"/>
              <a:t>Длительность</a:t>
            </a:r>
          </a:p>
          <a:p>
            <a:r>
              <a:rPr lang="ru-RU" sz="3200" smtClean="0"/>
              <a:t>Стоимость</a:t>
            </a:r>
          </a:p>
          <a:p>
            <a:r>
              <a:rPr lang="ru-RU" sz="3200" smtClean="0"/>
              <a:t>Выход</a:t>
            </a:r>
          </a:p>
          <a:p>
            <a:r>
              <a:rPr lang="ru-RU" sz="3200" smtClean="0"/>
              <a:t>Качество</a:t>
            </a:r>
          </a:p>
          <a:p>
            <a:r>
              <a:rPr lang="ru-RU" sz="3200" smtClean="0"/>
              <a:t>Степень удовлетворенности клиента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457200" y="279400"/>
            <a:ext cx="8229600" cy="9525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200" dirty="0" smtClean="0"/>
              <a:t>Классификация бизнес-процессов</a:t>
            </a:r>
            <a:endParaRPr lang="ru-RU" sz="3200" dirty="0"/>
          </a:p>
        </p:txBody>
      </p:sp>
      <p:graphicFrame>
        <p:nvGraphicFramePr>
          <p:cNvPr id="7" name="Содержимое 6"/>
          <p:cNvGraphicFramePr>
            <a:graphicFrameLocks noGrp="1"/>
          </p:cNvGraphicFramePr>
          <p:nvPr>
            <p:ph sz="quarter" idx="1"/>
          </p:nvPr>
        </p:nvGraphicFramePr>
        <p:xfrm>
          <a:off x="914400" y="1571644"/>
          <a:ext cx="7772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66700"/>
            <a:ext cx="7772400" cy="1333500"/>
          </a:xfrm>
          <a:noFill/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ru-RU" sz="4800" smtClean="0">
                <a:effectLst/>
              </a:rPr>
              <a:t>Виды бизнес-процессов</a:t>
            </a:r>
          </a:p>
        </p:txBody>
      </p:sp>
      <p:pic>
        <p:nvPicPr>
          <p:cNvPr id="155651" name="Picture 3" descr="imagesCATDQT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0" y="2286000"/>
            <a:ext cx="6446838" cy="3917950"/>
          </a:xfrm>
          <a:prstGeom prst="rect">
            <a:avLst/>
          </a:prstGeom>
          <a:noFill/>
        </p:spPr>
      </p:pic>
      <p:sp>
        <p:nvSpPr>
          <p:cNvPr id="155652" name="Text Box 4"/>
          <p:cNvSpPr txBox="1">
            <a:spLocks noChangeArrowheads="1"/>
          </p:cNvSpPr>
          <p:nvPr/>
        </p:nvSpPr>
        <p:spPr bwMode="auto">
          <a:xfrm>
            <a:off x="0" y="25908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>
                <a:latin typeface="Arial" charset="0"/>
              </a:rPr>
              <a:t>Административные</a:t>
            </a:r>
          </a:p>
        </p:txBody>
      </p:sp>
      <p:sp>
        <p:nvSpPr>
          <p:cNvPr id="155653" name="Text Box 5"/>
          <p:cNvSpPr txBox="1">
            <a:spLocks noChangeArrowheads="1"/>
          </p:cNvSpPr>
          <p:nvPr/>
        </p:nvSpPr>
        <p:spPr bwMode="auto">
          <a:xfrm>
            <a:off x="304800" y="3962400"/>
            <a:ext cx="16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>
                <a:latin typeface="Arial" charset="0"/>
              </a:rPr>
              <a:t>Основные</a:t>
            </a:r>
          </a:p>
        </p:txBody>
      </p:sp>
      <p:sp>
        <p:nvSpPr>
          <p:cNvPr id="155654" name="Text Box 6"/>
          <p:cNvSpPr txBox="1">
            <a:spLocks noChangeArrowheads="1"/>
          </p:cNvSpPr>
          <p:nvPr/>
        </p:nvSpPr>
        <p:spPr bwMode="auto">
          <a:xfrm>
            <a:off x="152400" y="5410200"/>
            <a:ext cx="2209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>
                <a:latin typeface="Arial" charset="0"/>
              </a:rPr>
              <a:t>Вспомогательные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01" name="Rectangle 5"/>
          <p:cNvSpPr>
            <a:spLocks noGrp="1"/>
          </p:cNvSpPr>
          <p:nvPr>
            <p:ph type="title"/>
          </p:nvPr>
        </p:nvSpPr>
        <p:spPr bwMode="auto">
          <a:xfrm>
            <a:off x="457200" y="188913"/>
            <a:ext cx="8229600" cy="900112"/>
          </a:xfrm>
          <a:noFill/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ru-RU" sz="2400" smtClean="0">
                <a:effectLst/>
              </a:rPr>
              <a:t>Пример: Процессы региональной сетевой компании</a:t>
            </a:r>
          </a:p>
        </p:txBody>
      </p:sp>
      <p:pic>
        <p:nvPicPr>
          <p:cNvPr id="15770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375" y="1477963"/>
            <a:ext cx="8647113" cy="5181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765175"/>
            <a:ext cx="7793037" cy="9112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Содержание модели бизнеса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935038" y="2062163"/>
            <a:ext cx="79216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В модели бизнеса отражают: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935038" y="2493963"/>
            <a:ext cx="80645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buFontTx/>
              <a:buChar char="•"/>
            </a:pPr>
            <a:r>
              <a:rPr lang="ru-RU" altLang="ru-RU"/>
              <a:t>функции, которые бизнес-система должна выполнять - что она делает, для кого, с какой целью; 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935038" y="3141663"/>
            <a:ext cx="80645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buFontTx/>
              <a:buChar char="•"/>
            </a:pPr>
            <a:r>
              <a:rPr lang="ru-RU" altLang="ru-RU"/>
              <a:t>процессы, последовательность отдельных шагов процессов (работ, операций); 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935038" y="3862388"/>
            <a:ext cx="80295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buFontTx/>
              <a:buChar char="•"/>
            </a:pPr>
            <a:r>
              <a:rPr lang="ru-RU" altLang="ru-RU" dirty="0"/>
              <a:t>организационные структуры, обеспечивающие выполнение процессов;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935038" y="4294188"/>
            <a:ext cx="80295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buFontTx/>
              <a:buChar char="•"/>
            </a:pPr>
            <a:r>
              <a:rPr lang="ru-RU" altLang="ru-RU"/>
              <a:t>материальные и информационные потоки, возникающие в ходе выполнения процессов </a:t>
            </a: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935038" y="4941888"/>
            <a:ext cx="81010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buFontTx/>
              <a:buChar char="•"/>
            </a:pPr>
            <a:r>
              <a:rPr lang="ru-RU" altLang="ru-RU"/>
              <a:t>данные, необходимые при выполнении процессов, и отношения между этими данными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/>
      <p:bldP spid="16389" grpId="0"/>
      <p:bldP spid="16390" grpId="0"/>
      <p:bldP spid="16391" grpId="0"/>
      <p:bldP spid="16392" grpId="0"/>
      <p:bldP spid="1639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extLst/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3600" smtClean="0"/>
              <a:t>Моделирование бизнес-процессов</a:t>
            </a:r>
          </a:p>
        </p:txBody>
      </p:sp>
      <p:pic>
        <p:nvPicPr>
          <p:cNvPr id="3379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7338" y="2079625"/>
            <a:ext cx="8137525" cy="404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4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Преимущества моделирования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898650"/>
            <a:ext cx="8382000" cy="4273550"/>
          </a:xfrm>
          <a:extLst/>
        </p:spPr>
        <p:txBody>
          <a:bodyPr rtlCol="0">
            <a:normAutofit lnSpcReduction="10000"/>
          </a:bodyPr>
          <a:lstStyle/>
          <a:p>
            <a:pPr indent="-5715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altLang="ru-RU" sz="160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Times New Roman" pitchFamily="18" charset="0"/>
              </a:rPr>
              <a:t>· </a:t>
            </a: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позволяет проанализировать как работает предприятие (в целом, с внешними партнерами, на каждом рабочем месте); </a:t>
            </a:r>
          </a:p>
          <a:p>
            <a:pPr indent="-5715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Times New Roman" pitchFamily="18" charset="0"/>
              </a:rPr>
              <a:t>· </a:t>
            </a: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позволяет руководителю знать, как работают рядовые сотрудники, а рядовым сотрудникам - как работают их коллеги и на какой конечный результат направлена вся их деятельность; </a:t>
            </a:r>
          </a:p>
          <a:p>
            <a:pPr indent="-5715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Times New Roman" pitchFamily="18" charset="0"/>
              </a:rPr>
              <a:t>·</a:t>
            </a: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эффективное средство поиска возможностей улучшения деятельности предприятия; </a:t>
            </a:r>
          </a:p>
          <a:p>
            <a:pPr indent="-5715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Times New Roman" pitchFamily="18" charset="0"/>
              </a:rPr>
              <a:t>· </a:t>
            </a: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средство позволяющее предвидеть и минимизировать риски, возникающие на различных этапах реорганизации деятельности предприятия; </a:t>
            </a:r>
          </a:p>
          <a:p>
            <a:pPr indent="-5715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Times New Roman" pitchFamily="18" charset="0"/>
              </a:rPr>
              <a:t>· </a:t>
            </a: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метод, позволяющий дать оценку текущей деятельности предприятия (функционирование, управление, эффективность, результаты деятельности и степень удовлетворенности клиента); </a:t>
            </a:r>
          </a:p>
          <a:p>
            <a:pPr indent="-5715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Times New Roman" pitchFamily="18" charset="0"/>
              </a:rPr>
              <a:t>· </a:t>
            </a: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стоимостную оценку всех и каждого бизнес-процессам на предприятии; </a:t>
            </a:r>
          </a:p>
          <a:p>
            <a:pPr indent="-5715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Times New Roman" pitchFamily="18" charset="0"/>
              </a:rPr>
              <a:t>·</a:t>
            </a: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способ выявления текущих проблем на предприятии и предвидения будущих</a:t>
            </a: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Times New Roman" pitchFamily="18" charset="0"/>
              </a:rPr>
              <a:t>. </a:t>
            </a:r>
            <a:endParaRPr lang="ru-RU" altLang="ru-RU" sz="1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1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3200" smtClean="0"/>
              <a:t>Основные подходы к  моделированию и анализу бизнес-процессов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01650" y="2033588"/>
            <a:ext cx="8642350" cy="44561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b="1" smtClean="0"/>
              <a:t>Функционально-модульный</a:t>
            </a:r>
            <a:r>
              <a:rPr lang="ru-RU" altLang="ru-RU" smtClean="0"/>
              <a:t> или </a:t>
            </a:r>
            <a:r>
              <a:rPr lang="ru-RU" altLang="ru-RU" b="1" smtClean="0"/>
              <a:t>структурный</a:t>
            </a:r>
            <a:r>
              <a:rPr lang="ru-RU" altLang="ru-RU" smtClean="0"/>
              <a:t>. В его основу положен принцип функциональней декомпозиции, при которой структура системы описывается в терминах иерархии ее функций и передачи информации между отдельными функциональными элементами. 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b="1" smtClean="0"/>
              <a:t>Объектно-ориентированный</a:t>
            </a:r>
            <a:r>
              <a:rPr lang="ru-RU" altLang="ru-RU" smtClean="0"/>
              <a:t> подход использует объектную декомпозицию. При этом структура системы описывается в терминах объектов и связей между ними, а поведение системы описывается в терминах обмена сообщениями между объектами.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extLst/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3200" smtClean="0"/>
              <a:t>Методологии моделирования бизнес-процессов (Business Process Modeling)</a:t>
            </a:r>
            <a:r>
              <a:rPr lang="ru-RU" altLang="ru-RU" sz="4000" smtClean="0"/>
              <a:t> </a:t>
            </a:r>
          </a:p>
        </p:txBody>
      </p:sp>
      <p:grpSp>
        <p:nvGrpSpPr>
          <p:cNvPr id="39938" name="Group 3"/>
          <p:cNvGrpSpPr>
            <a:grpSpLocks/>
          </p:cNvGrpSpPr>
          <p:nvPr/>
        </p:nvGrpSpPr>
        <p:grpSpPr bwMode="auto">
          <a:xfrm>
            <a:off x="3962400" y="3124200"/>
            <a:ext cx="3124200" cy="1600200"/>
            <a:chOff x="1824" y="2160"/>
            <a:chExt cx="1968" cy="1008"/>
          </a:xfrm>
        </p:grpSpPr>
        <p:sp>
          <p:nvSpPr>
            <p:cNvPr id="39967" name="AutoShape 4"/>
            <p:cNvSpPr>
              <a:spLocks noChangeArrowheads="1"/>
            </p:cNvSpPr>
            <p:nvPr/>
          </p:nvSpPr>
          <p:spPr bwMode="auto">
            <a:xfrm>
              <a:off x="1824" y="2160"/>
              <a:ext cx="1968" cy="1008"/>
            </a:xfrm>
            <a:prstGeom prst="rightArrow">
              <a:avLst>
                <a:gd name="adj1" fmla="val 50000"/>
                <a:gd name="adj2" fmla="val 48810"/>
              </a:avLst>
            </a:prstGeom>
            <a:solidFill>
              <a:schemeClr val="accent1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ctr"/>
              <a:endParaRPr lang="ru-RU" altLang="ru-RU"/>
            </a:p>
          </p:txBody>
        </p:sp>
        <p:sp>
          <p:nvSpPr>
            <p:cNvPr id="39968" name="Text Box 5"/>
            <p:cNvSpPr txBox="1">
              <a:spLocks noChangeArrowheads="1"/>
            </p:cNvSpPr>
            <p:nvPr/>
          </p:nvSpPr>
          <p:spPr bwMode="auto">
            <a:xfrm>
              <a:off x="1968" y="2400"/>
              <a:ext cx="144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altLang="ru-RU">
                  <a:latin typeface="Arial" charset="0"/>
                </a:rPr>
                <a:t>Модель бизнес-процесса</a:t>
              </a:r>
            </a:p>
          </p:txBody>
        </p:sp>
      </p:grpSp>
      <p:grpSp>
        <p:nvGrpSpPr>
          <p:cNvPr id="39939" name="Group 6"/>
          <p:cNvGrpSpPr>
            <a:grpSpLocks/>
          </p:cNvGrpSpPr>
          <p:nvPr/>
        </p:nvGrpSpPr>
        <p:grpSpPr bwMode="auto">
          <a:xfrm>
            <a:off x="457200" y="2667000"/>
            <a:ext cx="1981200" cy="533400"/>
            <a:chOff x="336" y="1632"/>
            <a:chExt cx="1248" cy="336"/>
          </a:xfrm>
        </p:grpSpPr>
        <p:sp>
          <p:nvSpPr>
            <p:cNvPr id="39965" name="Oval 7"/>
            <p:cNvSpPr>
              <a:spLocks noChangeArrowheads="1"/>
            </p:cNvSpPr>
            <p:nvPr/>
          </p:nvSpPr>
          <p:spPr bwMode="auto">
            <a:xfrm>
              <a:off x="336" y="1632"/>
              <a:ext cx="1248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/>
            </a:p>
          </p:txBody>
        </p:sp>
        <p:sp>
          <p:nvSpPr>
            <p:cNvPr id="39966" name="Text Box 8"/>
            <p:cNvSpPr txBox="1">
              <a:spLocks noChangeArrowheads="1"/>
            </p:cNvSpPr>
            <p:nvPr/>
          </p:nvSpPr>
          <p:spPr bwMode="auto">
            <a:xfrm>
              <a:off x="576" y="1728"/>
              <a:ext cx="76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>
                  <a:latin typeface="Arial" charset="0"/>
                </a:rPr>
                <a:t>IDEF0</a:t>
              </a:r>
              <a:endParaRPr lang="ru-RU" altLang="ru-RU">
                <a:latin typeface="Arial" charset="0"/>
              </a:endParaRPr>
            </a:p>
          </p:txBody>
        </p:sp>
      </p:grpSp>
      <p:grpSp>
        <p:nvGrpSpPr>
          <p:cNvPr id="39940" name="Group 9"/>
          <p:cNvGrpSpPr>
            <a:grpSpLocks/>
          </p:cNvGrpSpPr>
          <p:nvPr/>
        </p:nvGrpSpPr>
        <p:grpSpPr bwMode="auto">
          <a:xfrm>
            <a:off x="533400" y="3657600"/>
            <a:ext cx="1828800" cy="533400"/>
            <a:chOff x="384" y="2544"/>
            <a:chExt cx="1152" cy="336"/>
          </a:xfrm>
        </p:grpSpPr>
        <p:sp>
          <p:nvSpPr>
            <p:cNvPr id="39963" name="Oval 10"/>
            <p:cNvSpPr>
              <a:spLocks noChangeArrowheads="1"/>
            </p:cNvSpPr>
            <p:nvPr/>
          </p:nvSpPr>
          <p:spPr bwMode="auto">
            <a:xfrm>
              <a:off x="384" y="2544"/>
              <a:ext cx="115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/>
            </a:p>
          </p:txBody>
        </p:sp>
        <p:sp>
          <p:nvSpPr>
            <p:cNvPr id="39964" name="Text Box 11"/>
            <p:cNvSpPr txBox="1">
              <a:spLocks noChangeArrowheads="1"/>
            </p:cNvSpPr>
            <p:nvPr/>
          </p:nvSpPr>
          <p:spPr bwMode="auto">
            <a:xfrm>
              <a:off x="576" y="2592"/>
              <a:ext cx="76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>
                  <a:latin typeface="Arial" charset="0"/>
                </a:rPr>
                <a:t>IDEF3</a:t>
              </a:r>
              <a:endParaRPr lang="ru-RU" altLang="ru-RU">
                <a:latin typeface="Arial" charset="0"/>
              </a:endParaRPr>
            </a:p>
          </p:txBody>
        </p:sp>
      </p:grpSp>
      <p:grpSp>
        <p:nvGrpSpPr>
          <p:cNvPr id="39941" name="Group 12"/>
          <p:cNvGrpSpPr>
            <a:grpSpLocks/>
          </p:cNvGrpSpPr>
          <p:nvPr/>
        </p:nvGrpSpPr>
        <p:grpSpPr bwMode="auto">
          <a:xfrm>
            <a:off x="1066800" y="4648200"/>
            <a:ext cx="1676400" cy="457200"/>
            <a:chOff x="432" y="3264"/>
            <a:chExt cx="1056" cy="288"/>
          </a:xfrm>
        </p:grpSpPr>
        <p:sp>
          <p:nvSpPr>
            <p:cNvPr id="39961" name="Oval 13"/>
            <p:cNvSpPr>
              <a:spLocks noChangeArrowheads="1"/>
            </p:cNvSpPr>
            <p:nvPr/>
          </p:nvSpPr>
          <p:spPr bwMode="auto">
            <a:xfrm>
              <a:off x="432" y="3264"/>
              <a:ext cx="105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/>
            </a:p>
          </p:txBody>
        </p:sp>
        <p:sp>
          <p:nvSpPr>
            <p:cNvPr id="39962" name="Text Box 14"/>
            <p:cNvSpPr txBox="1">
              <a:spLocks noChangeArrowheads="1"/>
            </p:cNvSpPr>
            <p:nvPr/>
          </p:nvSpPr>
          <p:spPr bwMode="auto">
            <a:xfrm>
              <a:off x="624" y="3312"/>
              <a:ext cx="6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>
                  <a:latin typeface="Arial" charset="0"/>
                </a:rPr>
                <a:t>DFD</a:t>
              </a:r>
              <a:endParaRPr lang="ru-RU" altLang="ru-RU">
                <a:latin typeface="Arial" charset="0"/>
              </a:endParaRPr>
            </a:p>
          </p:txBody>
        </p:sp>
      </p:grpSp>
      <p:grpSp>
        <p:nvGrpSpPr>
          <p:cNvPr id="39942" name="Group 15"/>
          <p:cNvGrpSpPr>
            <a:grpSpLocks/>
          </p:cNvGrpSpPr>
          <p:nvPr/>
        </p:nvGrpSpPr>
        <p:grpSpPr bwMode="auto">
          <a:xfrm>
            <a:off x="2286000" y="2286000"/>
            <a:ext cx="1981200" cy="457200"/>
            <a:chOff x="432" y="3264"/>
            <a:chExt cx="1056" cy="288"/>
          </a:xfrm>
        </p:grpSpPr>
        <p:sp>
          <p:nvSpPr>
            <p:cNvPr id="39959" name="Oval 16"/>
            <p:cNvSpPr>
              <a:spLocks noChangeArrowheads="1"/>
            </p:cNvSpPr>
            <p:nvPr/>
          </p:nvSpPr>
          <p:spPr bwMode="auto">
            <a:xfrm>
              <a:off x="432" y="3264"/>
              <a:ext cx="105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/>
            </a:p>
          </p:txBody>
        </p:sp>
        <p:sp>
          <p:nvSpPr>
            <p:cNvPr id="39960" name="Text Box 17"/>
            <p:cNvSpPr txBox="1">
              <a:spLocks noChangeArrowheads="1"/>
            </p:cNvSpPr>
            <p:nvPr/>
          </p:nvSpPr>
          <p:spPr bwMode="auto">
            <a:xfrm>
              <a:off x="624" y="3312"/>
              <a:ext cx="6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>
                  <a:latin typeface="Arial" charset="0"/>
                </a:rPr>
                <a:t>UML</a:t>
              </a:r>
              <a:endParaRPr lang="ru-RU" altLang="ru-RU">
                <a:latin typeface="Arial" charset="0"/>
              </a:endParaRPr>
            </a:p>
          </p:txBody>
        </p:sp>
      </p:grpSp>
      <p:grpSp>
        <p:nvGrpSpPr>
          <p:cNvPr id="39943" name="Group 18"/>
          <p:cNvGrpSpPr>
            <a:grpSpLocks/>
          </p:cNvGrpSpPr>
          <p:nvPr/>
        </p:nvGrpSpPr>
        <p:grpSpPr bwMode="auto">
          <a:xfrm>
            <a:off x="2895600" y="5257800"/>
            <a:ext cx="1676400" cy="457200"/>
            <a:chOff x="432" y="3264"/>
            <a:chExt cx="1056" cy="288"/>
          </a:xfrm>
        </p:grpSpPr>
        <p:sp>
          <p:nvSpPr>
            <p:cNvPr id="39957" name="Oval 19"/>
            <p:cNvSpPr>
              <a:spLocks noChangeArrowheads="1"/>
            </p:cNvSpPr>
            <p:nvPr/>
          </p:nvSpPr>
          <p:spPr bwMode="auto">
            <a:xfrm>
              <a:off x="432" y="3264"/>
              <a:ext cx="105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/>
            </a:p>
          </p:txBody>
        </p:sp>
        <p:sp>
          <p:nvSpPr>
            <p:cNvPr id="39958" name="Text Box 20"/>
            <p:cNvSpPr txBox="1">
              <a:spLocks noChangeArrowheads="1"/>
            </p:cNvSpPr>
            <p:nvPr/>
          </p:nvSpPr>
          <p:spPr bwMode="auto">
            <a:xfrm>
              <a:off x="624" y="3312"/>
              <a:ext cx="6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>
                  <a:latin typeface="Arial" charset="0"/>
                </a:rPr>
                <a:t>ARIS</a:t>
              </a:r>
              <a:endParaRPr lang="ru-RU" altLang="ru-RU">
                <a:latin typeface="Arial" charset="0"/>
              </a:endParaRPr>
            </a:p>
          </p:txBody>
        </p:sp>
      </p:grpSp>
      <p:grpSp>
        <p:nvGrpSpPr>
          <p:cNvPr id="39944" name="Group 21"/>
          <p:cNvGrpSpPr>
            <a:grpSpLocks/>
          </p:cNvGrpSpPr>
          <p:nvPr/>
        </p:nvGrpSpPr>
        <p:grpSpPr bwMode="auto">
          <a:xfrm>
            <a:off x="5257800" y="5105400"/>
            <a:ext cx="2057400" cy="457200"/>
            <a:chOff x="432" y="3264"/>
            <a:chExt cx="1056" cy="288"/>
          </a:xfrm>
        </p:grpSpPr>
        <p:sp>
          <p:nvSpPr>
            <p:cNvPr id="39955" name="Oval 22"/>
            <p:cNvSpPr>
              <a:spLocks noChangeArrowheads="1"/>
            </p:cNvSpPr>
            <p:nvPr/>
          </p:nvSpPr>
          <p:spPr bwMode="auto">
            <a:xfrm>
              <a:off x="432" y="3264"/>
              <a:ext cx="105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/>
            </a:p>
          </p:txBody>
        </p:sp>
        <p:sp>
          <p:nvSpPr>
            <p:cNvPr id="39956" name="Text Box 23"/>
            <p:cNvSpPr txBox="1">
              <a:spLocks noChangeArrowheads="1"/>
            </p:cNvSpPr>
            <p:nvPr/>
          </p:nvSpPr>
          <p:spPr bwMode="auto">
            <a:xfrm>
              <a:off x="624" y="3312"/>
              <a:ext cx="62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altLang="ru-RU" sz="1400">
                  <a:latin typeface="Arial" charset="0"/>
                </a:rPr>
                <a:t>Блок-схемы</a:t>
              </a:r>
            </a:p>
          </p:txBody>
        </p:sp>
      </p:grpSp>
      <p:sp>
        <p:nvSpPr>
          <p:cNvPr id="39945" name="Line 24"/>
          <p:cNvSpPr>
            <a:spLocks noChangeShapeType="1"/>
          </p:cNvSpPr>
          <p:nvPr/>
        </p:nvSpPr>
        <p:spPr bwMode="auto">
          <a:xfrm>
            <a:off x="2438400" y="2971800"/>
            <a:ext cx="1600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9946" name="Line 25"/>
          <p:cNvSpPr>
            <a:spLocks noChangeShapeType="1"/>
          </p:cNvSpPr>
          <p:nvPr/>
        </p:nvSpPr>
        <p:spPr bwMode="auto">
          <a:xfrm flipV="1">
            <a:off x="2362200" y="3886200"/>
            <a:ext cx="1600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9947" name="Line 26"/>
          <p:cNvSpPr>
            <a:spLocks noChangeShapeType="1"/>
          </p:cNvSpPr>
          <p:nvPr/>
        </p:nvSpPr>
        <p:spPr bwMode="auto">
          <a:xfrm flipV="1">
            <a:off x="2743200" y="4191000"/>
            <a:ext cx="1219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9948" name="Line 27"/>
          <p:cNvSpPr>
            <a:spLocks noChangeShapeType="1"/>
          </p:cNvSpPr>
          <p:nvPr/>
        </p:nvSpPr>
        <p:spPr bwMode="auto">
          <a:xfrm flipV="1">
            <a:off x="3733800" y="4343400"/>
            <a:ext cx="457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9949" name="Line 28"/>
          <p:cNvSpPr>
            <a:spLocks noChangeShapeType="1"/>
          </p:cNvSpPr>
          <p:nvPr/>
        </p:nvSpPr>
        <p:spPr bwMode="auto">
          <a:xfrm flipH="1" flipV="1">
            <a:off x="5562600" y="43434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9950" name="Line 29"/>
          <p:cNvSpPr>
            <a:spLocks noChangeShapeType="1"/>
          </p:cNvSpPr>
          <p:nvPr/>
        </p:nvSpPr>
        <p:spPr bwMode="auto">
          <a:xfrm>
            <a:off x="3505200" y="2743200"/>
            <a:ext cx="1143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grpSp>
        <p:nvGrpSpPr>
          <p:cNvPr id="39951" name="Group 30"/>
          <p:cNvGrpSpPr>
            <a:grpSpLocks/>
          </p:cNvGrpSpPr>
          <p:nvPr/>
        </p:nvGrpSpPr>
        <p:grpSpPr bwMode="auto">
          <a:xfrm>
            <a:off x="4495800" y="2286000"/>
            <a:ext cx="2362200" cy="457200"/>
            <a:chOff x="432" y="3264"/>
            <a:chExt cx="1056" cy="288"/>
          </a:xfrm>
        </p:grpSpPr>
        <p:sp>
          <p:nvSpPr>
            <p:cNvPr id="39953" name="Oval 31"/>
            <p:cNvSpPr>
              <a:spLocks noChangeArrowheads="1"/>
            </p:cNvSpPr>
            <p:nvPr/>
          </p:nvSpPr>
          <p:spPr bwMode="auto">
            <a:xfrm>
              <a:off x="432" y="3264"/>
              <a:ext cx="105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/>
            </a:p>
          </p:txBody>
        </p:sp>
        <p:sp>
          <p:nvSpPr>
            <p:cNvPr id="39954" name="Text Box 32"/>
            <p:cNvSpPr txBox="1">
              <a:spLocks noChangeArrowheads="1"/>
            </p:cNvSpPr>
            <p:nvPr/>
          </p:nvSpPr>
          <p:spPr bwMode="auto">
            <a:xfrm>
              <a:off x="624" y="3312"/>
              <a:ext cx="6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>
                  <a:latin typeface="Arial" charset="0"/>
                  <a:cs typeface="Times New Roman" pitchFamily="18" charset="0"/>
                </a:rPr>
                <a:t>Flow Chart</a:t>
              </a:r>
            </a:p>
          </p:txBody>
        </p:sp>
      </p:grpSp>
      <p:sp>
        <p:nvSpPr>
          <p:cNvPr id="39952" name="Line 33"/>
          <p:cNvSpPr>
            <a:spLocks noChangeShapeType="1"/>
          </p:cNvSpPr>
          <p:nvPr/>
        </p:nvSpPr>
        <p:spPr bwMode="auto">
          <a:xfrm flipH="1">
            <a:off x="5257800" y="27432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52400"/>
            <a:ext cx="8229600" cy="304800"/>
          </a:xfrm>
          <a:extLst/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2000" smtClean="0"/>
              <a:t>Методы моделирования бизнес-процессов</a:t>
            </a:r>
          </a:p>
        </p:txBody>
      </p:sp>
      <p:sp>
        <p:nvSpPr>
          <p:cNvPr id="41986" name="AutoShape 3"/>
          <p:cNvSpPr>
            <a:spLocks noChangeArrowheads="1"/>
          </p:cNvSpPr>
          <p:nvPr/>
        </p:nvSpPr>
        <p:spPr bwMode="auto">
          <a:xfrm>
            <a:off x="457200" y="3429000"/>
            <a:ext cx="2209800" cy="60960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 altLang="ru-RU"/>
          </a:p>
        </p:txBody>
      </p:sp>
      <p:sp>
        <p:nvSpPr>
          <p:cNvPr id="41987" name="Text Box 4"/>
          <p:cNvSpPr txBox="1">
            <a:spLocks noChangeArrowheads="1"/>
          </p:cNvSpPr>
          <p:nvPr/>
        </p:nvSpPr>
        <p:spPr bwMode="auto">
          <a:xfrm>
            <a:off x="457200" y="3502025"/>
            <a:ext cx="2209800" cy="396875"/>
          </a:xfrm>
          <a:prstGeom prst="rect">
            <a:avLst/>
          </a:prstGeom>
          <a:solidFill>
            <a:srgbClr val="BBE0E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altLang="ru-RU" sz="2000" b="1" i="1">
                <a:solidFill>
                  <a:srgbClr val="800000"/>
                </a:solidFill>
                <a:latin typeface="Verdana" pitchFamily="34" charset="0"/>
              </a:rPr>
              <a:t>Методы </a:t>
            </a:r>
          </a:p>
        </p:txBody>
      </p:sp>
      <p:sp>
        <p:nvSpPr>
          <p:cNvPr id="41988" name="AutoShape 5"/>
          <p:cNvSpPr>
            <a:spLocks noChangeArrowheads="1"/>
          </p:cNvSpPr>
          <p:nvPr/>
        </p:nvSpPr>
        <p:spPr bwMode="auto">
          <a:xfrm>
            <a:off x="5562600" y="457200"/>
            <a:ext cx="2209800" cy="53340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 altLang="ru-RU"/>
          </a:p>
        </p:txBody>
      </p:sp>
      <p:sp>
        <p:nvSpPr>
          <p:cNvPr id="41989" name="Text Box 6"/>
          <p:cNvSpPr txBox="1">
            <a:spLocks noChangeArrowheads="1"/>
          </p:cNvSpPr>
          <p:nvPr/>
        </p:nvSpPr>
        <p:spPr bwMode="auto">
          <a:xfrm>
            <a:off x="5715000" y="546100"/>
            <a:ext cx="1905000" cy="336550"/>
          </a:xfrm>
          <a:prstGeom prst="rect">
            <a:avLst/>
          </a:prstGeom>
          <a:solidFill>
            <a:srgbClr val="BBE0E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altLang="ru-RU" sz="1600" b="1">
                <a:latin typeface="Verdana" pitchFamily="34" charset="0"/>
              </a:rPr>
              <a:t>1. Блок-схемы</a:t>
            </a:r>
          </a:p>
        </p:txBody>
      </p:sp>
      <p:sp>
        <p:nvSpPr>
          <p:cNvPr id="41990" name="AutoShape 7"/>
          <p:cNvSpPr>
            <a:spLocks noChangeArrowheads="1"/>
          </p:cNvSpPr>
          <p:nvPr/>
        </p:nvSpPr>
        <p:spPr bwMode="auto">
          <a:xfrm>
            <a:off x="5105400" y="1066800"/>
            <a:ext cx="3124200" cy="53340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 altLang="ru-RU"/>
          </a:p>
        </p:txBody>
      </p:sp>
      <p:sp>
        <p:nvSpPr>
          <p:cNvPr id="41991" name="Text Box 8"/>
          <p:cNvSpPr txBox="1">
            <a:spLocks noChangeArrowheads="1"/>
          </p:cNvSpPr>
          <p:nvPr/>
        </p:nvSpPr>
        <p:spPr bwMode="auto">
          <a:xfrm>
            <a:off x="5105400" y="1155700"/>
            <a:ext cx="3124200" cy="336550"/>
          </a:xfrm>
          <a:prstGeom prst="rect">
            <a:avLst/>
          </a:prstGeom>
          <a:solidFill>
            <a:srgbClr val="BBE0E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altLang="ru-RU" sz="1600" b="1">
                <a:latin typeface="Verdana" pitchFamily="34" charset="0"/>
              </a:rPr>
              <a:t>2. Словесное описание</a:t>
            </a:r>
          </a:p>
        </p:txBody>
      </p:sp>
      <p:sp>
        <p:nvSpPr>
          <p:cNvPr id="41992" name="AutoShape 9"/>
          <p:cNvSpPr>
            <a:spLocks noChangeArrowheads="1"/>
          </p:cNvSpPr>
          <p:nvPr/>
        </p:nvSpPr>
        <p:spPr bwMode="auto">
          <a:xfrm>
            <a:off x="4495800" y="1676400"/>
            <a:ext cx="4343400" cy="76200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 altLang="ru-RU"/>
          </a:p>
        </p:txBody>
      </p:sp>
      <p:sp>
        <p:nvSpPr>
          <p:cNvPr id="41993" name="Text Box 10"/>
          <p:cNvSpPr txBox="1">
            <a:spLocks noChangeArrowheads="1"/>
          </p:cNvSpPr>
          <p:nvPr/>
        </p:nvSpPr>
        <p:spPr bwMode="auto">
          <a:xfrm>
            <a:off x="4495800" y="1765300"/>
            <a:ext cx="4343400" cy="581025"/>
          </a:xfrm>
          <a:prstGeom prst="rect">
            <a:avLst/>
          </a:prstGeom>
          <a:solidFill>
            <a:srgbClr val="BBE0E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altLang="ru-RU" sz="1600" b="1" dirty="0">
                <a:latin typeface="Verdana" pitchFamily="34" charset="0"/>
              </a:rPr>
              <a:t>3. Метод структурного анализа и проектирования </a:t>
            </a:r>
            <a:r>
              <a:rPr lang="en-US" altLang="ru-RU" sz="1600" b="1" dirty="0">
                <a:solidFill>
                  <a:srgbClr val="006600"/>
                </a:solidFill>
                <a:latin typeface="Verdana" pitchFamily="34" charset="0"/>
              </a:rPr>
              <a:t>SASD</a:t>
            </a:r>
            <a:endParaRPr lang="ru-RU" altLang="ru-RU" sz="1600" b="1" dirty="0">
              <a:solidFill>
                <a:srgbClr val="006600"/>
              </a:solidFill>
              <a:latin typeface="Verdana" pitchFamily="34" charset="0"/>
            </a:endParaRPr>
          </a:p>
        </p:txBody>
      </p:sp>
      <p:sp>
        <p:nvSpPr>
          <p:cNvPr id="41994" name="AutoShape 11"/>
          <p:cNvSpPr>
            <a:spLocks noChangeArrowheads="1"/>
          </p:cNvSpPr>
          <p:nvPr/>
        </p:nvSpPr>
        <p:spPr bwMode="auto">
          <a:xfrm>
            <a:off x="4495800" y="2514600"/>
            <a:ext cx="4343400" cy="76200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 altLang="ru-RU"/>
          </a:p>
        </p:txBody>
      </p:sp>
      <p:sp>
        <p:nvSpPr>
          <p:cNvPr id="41995" name="Text Box 12"/>
          <p:cNvSpPr txBox="1">
            <a:spLocks noChangeArrowheads="1"/>
          </p:cNvSpPr>
          <p:nvPr/>
        </p:nvSpPr>
        <p:spPr bwMode="auto">
          <a:xfrm>
            <a:off x="4716463" y="2603500"/>
            <a:ext cx="4068762" cy="584775"/>
          </a:xfrm>
          <a:prstGeom prst="rect">
            <a:avLst/>
          </a:prstGeom>
          <a:solidFill>
            <a:srgbClr val="BBE0E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ru-RU" sz="1600" b="1" dirty="0">
                <a:latin typeface="Verdana" pitchFamily="34" charset="0"/>
              </a:rPr>
              <a:t>4</a:t>
            </a:r>
            <a:r>
              <a:rPr lang="ru-RU" altLang="ru-RU" sz="1600" b="1" dirty="0">
                <a:latin typeface="Verdana" pitchFamily="34" charset="0"/>
              </a:rPr>
              <a:t>. </a:t>
            </a:r>
            <a:r>
              <a:rPr lang="ru-RU" altLang="ru-RU" sz="1600" b="1" dirty="0" smtClean="0">
                <a:latin typeface="Verdana" pitchFamily="34" charset="0"/>
              </a:rPr>
              <a:t>Методология моделирования бизнес-процессов и блоков </a:t>
            </a:r>
            <a:r>
              <a:rPr lang="en-US" altLang="ru-RU" sz="1600" b="1" dirty="0" smtClean="0">
                <a:latin typeface="Verdana" pitchFamily="34" charset="0"/>
              </a:rPr>
              <a:t>IDEF </a:t>
            </a:r>
            <a:endParaRPr lang="ru-RU" altLang="ru-RU" sz="1600" b="1" dirty="0">
              <a:solidFill>
                <a:srgbClr val="006600"/>
              </a:solidFill>
              <a:latin typeface="Verdana" pitchFamily="34" charset="0"/>
            </a:endParaRPr>
          </a:p>
        </p:txBody>
      </p:sp>
      <p:sp>
        <p:nvSpPr>
          <p:cNvPr id="41996" name="AutoShape 13"/>
          <p:cNvSpPr>
            <a:spLocks noChangeArrowheads="1"/>
          </p:cNvSpPr>
          <p:nvPr/>
        </p:nvSpPr>
        <p:spPr bwMode="auto">
          <a:xfrm>
            <a:off x="4495800" y="3352800"/>
            <a:ext cx="4343400" cy="83820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 altLang="ru-RU"/>
          </a:p>
        </p:txBody>
      </p:sp>
      <p:sp>
        <p:nvSpPr>
          <p:cNvPr id="41997" name="Text Box 14"/>
          <p:cNvSpPr txBox="1">
            <a:spLocks noChangeArrowheads="1"/>
          </p:cNvSpPr>
          <p:nvPr/>
        </p:nvSpPr>
        <p:spPr bwMode="auto">
          <a:xfrm>
            <a:off x="4572000" y="3441700"/>
            <a:ext cx="4140200" cy="584775"/>
          </a:xfrm>
          <a:prstGeom prst="rect">
            <a:avLst/>
          </a:prstGeom>
          <a:solidFill>
            <a:srgbClr val="BBE0E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ru-RU" sz="1600" b="1" dirty="0">
                <a:latin typeface="Verdana" pitchFamily="34" charset="0"/>
              </a:rPr>
              <a:t>5</a:t>
            </a:r>
            <a:r>
              <a:rPr lang="ru-RU" altLang="ru-RU" sz="1600" b="1" dirty="0">
                <a:latin typeface="Verdana" pitchFamily="34" charset="0"/>
              </a:rPr>
              <a:t>. Методология моделирования бизнес-процессов </a:t>
            </a:r>
            <a:r>
              <a:rPr lang="en-US" sz="1600" b="1" dirty="0"/>
              <a:t>BPMN </a:t>
            </a:r>
            <a:endParaRPr lang="ru-RU" altLang="ru-RU" b="1" dirty="0">
              <a:solidFill>
                <a:srgbClr val="006600"/>
              </a:solidFill>
              <a:latin typeface="Arial" charset="0"/>
            </a:endParaRPr>
          </a:p>
        </p:txBody>
      </p:sp>
      <p:sp>
        <p:nvSpPr>
          <p:cNvPr id="41998" name="AutoShape 15"/>
          <p:cNvSpPr>
            <a:spLocks noChangeArrowheads="1"/>
          </p:cNvSpPr>
          <p:nvPr/>
        </p:nvSpPr>
        <p:spPr bwMode="auto">
          <a:xfrm>
            <a:off x="4572000" y="4267200"/>
            <a:ext cx="4114800" cy="68580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 altLang="ru-RU"/>
          </a:p>
        </p:txBody>
      </p:sp>
      <p:sp>
        <p:nvSpPr>
          <p:cNvPr id="41999" name="Text Box 16"/>
          <p:cNvSpPr txBox="1">
            <a:spLocks noChangeArrowheads="1"/>
          </p:cNvSpPr>
          <p:nvPr/>
        </p:nvSpPr>
        <p:spPr bwMode="auto">
          <a:xfrm>
            <a:off x="4643438" y="4295775"/>
            <a:ext cx="3924300" cy="581025"/>
          </a:xfrm>
          <a:prstGeom prst="rect">
            <a:avLst/>
          </a:prstGeom>
          <a:solidFill>
            <a:srgbClr val="BBE0E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ru-RU" sz="1600" b="1">
                <a:latin typeface="Verdana" pitchFamily="34" charset="0"/>
              </a:rPr>
              <a:t>6</a:t>
            </a:r>
            <a:r>
              <a:rPr lang="ru-RU" altLang="ru-RU" sz="1600" b="1">
                <a:latin typeface="Verdana" pitchFamily="34" charset="0"/>
              </a:rPr>
              <a:t>. Объектно-ориентированные методы</a:t>
            </a:r>
          </a:p>
        </p:txBody>
      </p:sp>
      <p:sp>
        <p:nvSpPr>
          <p:cNvPr id="42000" name="AutoShape 17"/>
          <p:cNvSpPr>
            <a:spLocks noChangeArrowheads="1"/>
          </p:cNvSpPr>
          <p:nvPr/>
        </p:nvSpPr>
        <p:spPr bwMode="auto">
          <a:xfrm>
            <a:off x="4573588" y="5029200"/>
            <a:ext cx="4319587" cy="53340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 altLang="ru-RU"/>
          </a:p>
        </p:txBody>
      </p:sp>
      <p:sp>
        <p:nvSpPr>
          <p:cNvPr id="42001" name="Text Box 18"/>
          <p:cNvSpPr txBox="1">
            <a:spLocks noChangeArrowheads="1"/>
          </p:cNvSpPr>
          <p:nvPr/>
        </p:nvSpPr>
        <p:spPr bwMode="auto">
          <a:xfrm>
            <a:off x="4608513" y="5118100"/>
            <a:ext cx="4176712" cy="336550"/>
          </a:xfrm>
          <a:prstGeom prst="rect">
            <a:avLst/>
          </a:prstGeom>
          <a:solidFill>
            <a:srgbClr val="BBE0E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altLang="ru-RU" sz="1600" b="1">
                <a:latin typeface="Verdana" pitchFamily="34" charset="0"/>
              </a:rPr>
              <a:t>7. Имитационное моделирование</a:t>
            </a:r>
          </a:p>
        </p:txBody>
      </p:sp>
      <p:sp>
        <p:nvSpPr>
          <p:cNvPr id="42002" name="AutoShape 19"/>
          <p:cNvSpPr>
            <a:spLocks noChangeArrowheads="1"/>
          </p:cNvSpPr>
          <p:nvPr/>
        </p:nvSpPr>
        <p:spPr bwMode="auto">
          <a:xfrm>
            <a:off x="4572000" y="5638800"/>
            <a:ext cx="4114800" cy="53340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 altLang="ru-RU"/>
          </a:p>
        </p:txBody>
      </p:sp>
      <p:sp>
        <p:nvSpPr>
          <p:cNvPr id="42003" name="Text Box 20"/>
          <p:cNvSpPr txBox="1">
            <a:spLocks noChangeArrowheads="1"/>
          </p:cNvSpPr>
          <p:nvPr/>
        </p:nvSpPr>
        <p:spPr bwMode="auto">
          <a:xfrm>
            <a:off x="4679950" y="5727700"/>
            <a:ext cx="3816350" cy="336550"/>
          </a:xfrm>
          <a:prstGeom prst="rect">
            <a:avLst/>
          </a:prstGeom>
          <a:solidFill>
            <a:srgbClr val="BBE0E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altLang="ru-RU" sz="1600" b="1" dirty="0">
                <a:latin typeface="Verdana" pitchFamily="34" charset="0"/>
              </a:rPr>
              <a:t>8. Методы инженерии знаний</a:t>
            </a:r>
          </a:p>
        </p:txBody>
      </p:sp>
      <p:grpSp>
        <p:nvGrpSpPr>
          <p:cNvPr id="42004" name="Group 21"/>
          <p:cNvGrpSpPr>
            <a:grpSpLocks/>
          </p:cNvGrpSpPr>
          <p:nvPr/>
        </p:nvGrpSpPr>
        <p:grpSpPr bwMode="auto">
          <a:xfrm>
            <a:off x="4497388" y="6248400"/>
            <a:ext cx="4395787" cy="533400"/>
            <a:chOff x="2833" y="3936"/>
            <a:chExt cx="2769" cy="336"/>
          </a:xfrm>
        </p:grpSpPr>
        <p:sp>
          <p:nvSpPr>
            <p:cNvPr id="42016" name="AutoShape 22"/>
            <p:cNvSpPr>
              <a:spLocks noChangeArrowheads="1"/>
            </p:cNvSpPr>
            <p:nvPr/>
          </p:nvSpPr>
          <p:spPr bwMode="auto">
            <a:xfrm>
              <a:off x="2833" y="3936"/>
              <a:ext cx="2769" cy="336"/>
            </a:xfrm>
            <a:prstGeom prst="roundRect">
              <a:avLst>
                <a:gd name="adj" fmla="val 16667"/>
              </a:avLst>
            </a:prstGeom>
            <a:solidFill>
              <a:srgbClr val="BBE0E3"/>
            </a:solidFill>
            <a:ln w="38100">
              <a:solidFill>
                <a:srgbClr val="000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/>
            </a:p>
          </p:txBody>
        </p:sp>
        <p:sp>
          <p:nvSpPr>
            <p:cNvPr id="42017" name="Text Box 23"/>
            <p:cNvSpPr txBox="1">
              <a:spLocks noChangeArrowheads="1"/>
            </p:cNvSpPr>
            <p:nvPr/>
          </p:nvSpPr>
          <p:spPr bwMode="auto">
            <a:xfrm>
              <a:off x="2857" y="3992"/>
              <a:ext cx="2699" cy="212"/>
            </a:xfrm>
            <a:prstGeom prst="rect">
              <a:avLst/>
            </a:prstGeom>
            <a:solidFill>
              <a:srgbClr val="BBE0E3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 b="1">
                  <a:latin typeface="Verdana" pitchFamily="34" charset="0"/>
                </a:rPr>
                <a:t>9. Интегрированные методологии</a:t>
              </a:r>
            </a:p>
          </p:txBody>
        </p:sp>
      </p:grpSp>
      <p:grpSp>
        <p:nvGrpSpPr>
          <p:cNvPr id="42005" name="Group 24"/>
          <p:cNvGrpSpPr>
            <a:grpSpLocks/>
          </p:cNvGrpSpPr>
          <p:nvPr/>
        </p:nvGrpSpPr>
        <p:grpSpPr bwMode="auto">
          <a:xfrm>
            <a:off x="2667000" y="685800"/>
            <a:ext cx="2819400" cy="5791200"/>
            <a:chOff x="1680" y="432"/>
            <a:chExt cx="1776" cy="3648"/>
          </a:xfrm>
        </p:grpSpPr>
        <p:sp>
          <p:nvSpPr>
            <p:cNvPr id="42006" name="Line 25"/>
            <p:cNvSpPr>
              <a:spLocks noChangeShapeType="1"/>
            </p:cNvSpPr>
            <p:nvPr/>
          </p:nvSpPr>
          <p:spPr bwMode="auto">
            <a:xfrm>
              <a:off x="1680" y="2352"/>
              <a:ext cx="1104" cy="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2007" name="Line 26"/>
            <p:cNvSpPr>
              <a:spLocks noChangeShapeType="1"/>
            </p:cNvSpPr>
            <p:nvPr/>
          </p:nvSpPr>
          <p:spPr bwMode="auto">
            <a:xfrm>
              <a:off x="2112" y="432"/>
              <a:ext cx="0" cy="3648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2008" name="Line 27"/>
            <p:cNvSpPr>
              <a:spLocks noChangeShapeType="1"/>
            </p:cNvSpPr>
            <p:nvPr/>
          </p:nvSpPr>
          <p:spPr bwMode="auto">
            <a:xfrm>
              <a:off x="2112" y="432"/>
              <a:ext cx="1344" cy="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2009" name="Line 28"/>
            <p:cNvSpPr>
              <a:spLocks noChangeShapeType="1"/>
            </p:cNvSpPr>
            <p:nvPr/>
          </p:nvSpPr>
          <p:spPr bwMode="auto">
            <a:xfrm>
              <a:off x="2112" y="816"/>
              <a:ext cx="1056" cy="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2010" name="Line 29"/>
            <p:cNvSpPr>
              <a:spLocks noChangeShapeType="1"/>
            </p:cNvSpPr>
            <p:nvPr/>
          </p:nvSpPr>
          <p:spPr bwMode="auto">
            <a:xfrm>
              <a:off x="2112" y="1296"/>
              <a:ext cx="672" cy="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2011" name="Line 30"/>
            <p:cNvSpPr>
              <a:spLocks noChangeShapeType="1"/>
            </p:cNvSpPr>
            <p:nvPr/>
          </p:nvSpPr>
          <p:spPr bwMode="auto">
            <a:xfrm>
              <a:off x="2112" y="1824"/>
              <a:ext cx="672" cy="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2012" name="Line 31"/>
            <p:cNvSpPr>
              <a:spLocks noChangeShapeType="1"/>
            </p:cNvSpPr>
            <p:nvPr/>
          </p:nvSpPr>
          <p:spPr bwMode="auto">
            <a:xfrm>
              <a:off x="2112" y="2880"/>
              <a:ext cx="720" cy="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2013" name="Line 32"/>
            <p:cNvSpPr>
              <a:spLocks noChangeShapeType="1"/>
            </p:cNvSpPr>
            <p:nvPr/>
          </p:nvSpPr>
          <p:spPr bwMode="auto">
            <a:xfrm>
              <a:off x="2112" y="3312"/>
              <a:ext cx="720" cy="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2014" name="Line 33"/>
            <p:cNvSpPr>
              <a:spLocks noChangeShapeType="1"/>
            </p:cNvSpPr>
            <p:nvPr/>
          </p:nvSpPr>
          <p:spPr bwMode="auto">
            <a:xfrm>
              <a:off x="2112" y="3696"/>
              <a:ext cx="720" cy="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2015" name="Line 34"/>
            <p:cNvSpPr>
              <a:spLocks noChangeShapeType="1"/>
            </p:cNvSpPr>
            <p:nvPr/>
          </p:nvSpPr>
          <p:spPr bwMode="auto">
            <a:xfrm>
              <a:off x="2112" y="4080"/>
              <a:ext cx="672" cy="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323850"/>
            <a:ext cx="7793037" cy="1055688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3800" smtClean="0"/>
              <a:t>Методы моделирования бизнеса</a:t>
            </a:r>
            <a:r>
              <a:rPr lang="ru-RU" altLang="ru-RU" sz="4000" smtClean="0"/>
              <a:t> 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3951749" y="1822362"/>
            <a:ext cx="4937125" cy="1071564"/>
            <a:chOff x="521" y="1567"/>
            <a:chExt cx="2858" cy="548"/>
          </a:xfrm>
        </p:grpSpPr>
        <p:sp>
          <p:nvSpPr>
            <p:cNvPr id="69640" name="Text Box 6"/>
            <p:cNvSpPr txBox="1">
              <a:spLocks noChangeArrowheads="1"/>
            </p:cNvSpPr>
            <p:nvPr/>
          </p:nvSpPr>
          <p:spPr bwMode="auto">
            <a:xfrm>
              <a:off x="905" y="1567"/>
              <a:ext cx="1964" cy="193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600"/>
                <a:t>Структурные методологии</a:t>
              </a:r>
            </a:p>
          </p:txBody>
        </p:sp>
        <p:sp>
          <p:nvSpPr>
            <p:cNvPr id="69641" name="Text Box 7"/>
            <p:cNvSpPr txBox="1">
              <a:spLocks noChangeArrowheads="1"/>
            </p:cNvSpPr>
            <p:nvPr/>
          </p:nvSpPr>
          <p:spPr bwMode="auto">
            <a:xfrm>
              <a:off x="521" y="1952"/>
              <a:ext cx="608" cy="163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8000" rIns="54000" bIns="18000" anchor="ctr" anchorCtr="1"/>
            <a:lstStyle/>
            <a:p>
              <a:pPr algn="ctr"/>
              <a:r>
                <a:rPr lang="en-US" altLang="ru-RU" sz="1600"/>
                <a:t>IDEF0</a:t>
              </a:r>
              <a:endParaRPr lang="ru-RU" altLang="ru-RU" sz="1600"/>
            </a:p>
          </p:txBody>
        </p:sp>
        <p:sp>
          <p:nvSpPr>
            <p:cNvPr id="69642" name="Text Box 8"/>
            <p:cNvSpPr txBox="1">
              <a:spLocks noChangeArrowheads="1"/>
            </p:cNvSpPr>
            <p:nvPr/>
          </p:nvSpPr>
          <p:spPr bwMode="auto">
            <a:xfrm>
              <a:off x="1254" y="1952"/>
              <a:ext cx="665" cy="163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8000" rIns="18000" bIns="18000" anchor="ctr" anchorCtr="1"/>
            <a:lstStyle/>
            <a:p>
              <a:pPr algn="ctr"/>
              <a:r>
                <a:rPr lang="en-US" altLang="ru-RU" sz="1600"/>
                <a:t>IDEF1X</a:t>
              </a:r>
              <a:endParaRPr lang="ru-RU" altLang="ru-RU" sz="1600"/>
            </a:p>
          </p:txBody>
        </p:sp>
        <p:sp>
          <p:nvSpPr>
            <p:cNvPr id="69643" name="Text Box 9"/>
            <p:cNvSpPr txBox="1">
              <a:spLocks noChangeArrowheads="1"/>
            </p:cNvSpPr>
            <p:nvPr/>
          </p:nvSpPr>
          <p:spPr bwMode="auto">
            <a:xfrm>
              <a:off x="2003" y="1952"/>
              <a:ext cx="666" cy="163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8000" rIns="18000" bIns="18000" anchor="ctr" anchorCtr="1"/>
            <a:lstStyle/>
            <a:p>
              <a:pPr algn="ctr"/>
              <a:r>
                <a:rPr lang="en-US" altLang="ru-RU" sz="1600"/>
                <a:t>IDEF3</a:t>
              </a:r>
              <a:endParaRPr lang="ru-RU" altLang="ru-RU" sz="1600"/>
            </a:p>
          </p:txBody>
        </p:sp>
        <p:sp>
          <p:nvSpPr>
            <p:cNvPr id="69644" name="Text Box 10"/>
            <p:cNvSpPr txBox="1">
              <a:spLocks noChangeArrowheads="1"/>
            </p:cNvSpPr>
            <p:nvPr/>
          </p:nvSpPr>
          <p:spPr bwMode="auto">
            <a:xfrm>
              <a:off x="2809" y="1952"/>
              <a:ext cx="570" cy="163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8000" rIns="18000" bIns="18000" anchor="ctr" anchorCtr="1"/>
            <a:lstStyle/>
            <a:p>
              <a:pPr algn="ctr"/>
              <a:r>
                <a:rPr lang="en-US" altLang="ru-RU" sz="1600"/>
                <a:t>DFD</a:t>
              </a:r>
              <a:endParaRPr lang="ru-RU" altLang="ru-RU" sz="1600"/>
            </a:p>
          </p:txBody>
        </p:sp>
        <p:sp>
          <p:nvSpPr>
            <p:cNvPr id="69645" name="Line 12"/>
            <p:cNvSpPr>
              <a:spLocks noChangeShapeType="1"/>
            </p:cNvSpPr>
            <p:nvPr/>
          </p:nvSpPr>
          <p:spPr bwMode="auto">
            <a:xfrm>
              <a:off x="825" y="1853"/>
              <a:ext cx="22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9646" name="Line 13"/>
            <p:cNvSpPr>
              <a:spLocks noChangeShapeType="1"/>
            </p:cNvSpPr>
            <p:nvPr/>
          </p:nvSpPr>
          <p:spPr bwMode="auto">
            <a:xfrm>
              <a:off x="1887" y="1760"/>
              <a:ext cx="2" cy="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9647" name="Line 14"/>
            <p:cNvSpPr>
              <a:spLocks noChangeShapeType="1"/>
            </p:cNvSpPr>
            <p:nvPr/>
          </p:nvSpPr>
          <p:spPr bwMode="auto">
            <a:xfrm flipH="1">
              <a:off x="823" y="1853"/>
              <a:ext cx="2" cy="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9648" name="Line 15"/>
            <p:cNvSpPr>
              <a:spLocks noChangeShapeType="1"/>
            </p:cNvSpPr>
            <p:nvPr/>
          </p:nvSpPr>
          <p:spPr bwMode="auto">
            <a:xfrm>
              <a:off x="1603" y="1853"/>
              <a:ext cx="2" cy="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9649" name="Line 16"/>
            <p:cNvSpPr>
              <a:spLocks noChangeShapeType="1"/>
            </p:cNvSpPr>
            <p:nvPr/>
          </p:nvSpPr>
          <p:spPr bwMode="auto">
            <a:xfrm>
              <a:off x="2338" y="1853"/>
              <a:ext cx="0" cy="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9650" name="Line 17"/>
            <p:cNvSpPr>
              <a:spLocks noChangeShapeType="1"/>
            </p:cNvSpPr>
            <p:nvPr/>
          </p:nvSpPr>
          <p:spPr bwMode="auto">
            <a:xfrm>
              <a:off x="3105" y="1853"/>
              <a:ext cx="2" cy="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4356" name="Text Box 20"/>
          <p:cNvSpPr txBox="1">
            <a:spLocks noChangeArrowheads="1"/>
          </p:cNvSpPr>
          <p:nvPr/>
        </p:nvSpPr>
        <p:spPr bwMode="auto">
          <a:xfrm>
            <a:off x="577850" y="2006600"/>
            <a:ext cx="32400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1.</a:t>
            </a:r>
            <a:r>
              <a:rPr lang="ru-RU" altLang="ru-RU" b="1"/>
              <a:t> Структурные </a:t>
            </a:r>
            <a:r>
              <a:rPr lang="ru-RU" altLang="ru-RU"/>
              <a:t>методы </a:t>
            </a:r>
          </a:p>
        </p:txBody>
      </p:sp>
      <p:sp>
        <p:nvSpPr>
          <p:cNvPr id="14360" name="Text Box 24"/>
          <p:cNvSpPr txBox="1">
            <a:spLocks noChangeArrowheads="1"/>
          </p:cNvSpPr>
          <p:nvPr/>
        </p:nvSpPr>
        <p:spPr bwMode="auto">
          <a:xfrm>
            <a:off x="535449" y="4948601"/>
            <a:ext cx="8353425" cy="1646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ts val="600"/>
              </a:spcAft>
            </a:pPr>
            <a:r>
              <a:rPr lang="ru-RU" altLang="ru-RU" sz="1600" dirty="0"/>
              <a:t>Наибольшее распространение получили методологии:</a:t>
            </a:r>
          </a:p>
          <a:p>
            <a:r>
              <a:rPr lang="en-US" altLang="ru-RU" sz="1600" b="1" dirty="0"/>
              <a:t>IDEF</a:t>
            </a:r>
            <a:r>
              <a:rPr lang="ru-RU" altLang="ru-RU" sz="1600" b="1" dirty="0"/>
              <a:t>0</a:t>
            </a:r>
            <a:r>
              <a:rPr lang="ru-RU" altLang="ru-RU" sz="1600" dirty="0"/>
              <a:t> – функциональные модели, основанные на методе </a:t>
            </a:r>
            <a:r>
              <a:rPr lang="en-US" altLang="ru-RU" sz="1600" dirty="0"/>
              <a:t>SADT </a:t>
            </a:r>
            <a:endParaRPr lang="ru-RU" altLang="ru-RU" sz="1600" dirty="0"/>
          </a:p>
          <a:p>
            <a:r>
              <a:rPr lang="en-US" altLang="ru-RU" sz="1600" b="1" dirty="0"/>
              <a:t>IDEF</a:t>
            </a:r>
            <a:r>
              <a:rPr lang="ru-RU" altLang="ru-RU" sz="1600" b="1" dirty="0"/>
              <a:t>1</a:t>
            </a:r>
            <a:r>
              <a:rPr lang="en-US" altLang="ru-RU" sz="1600" b="1" dirty="0"/>
              <a:t>X</a:t>
            </a:r>
            <a:r>
              <a:rPr lang="ru-RU" altLang="ru-RU" sz="1600" dirty="0"/>
              <a:t> – диаграммы данных «сущность-связь» (ERD)</a:t>
            </a:r>
          </a:p>
          <a:p>
            <a:r>
              <a:rPr lang="en-US" altLang="ru-RU" sz="1600" b="1" dirty="0"/>
              <a:t>IDEF</a:t>
            </a:r>
            <a:r>
              <a:rPr lang="ru-RU" altLang="ru-RU" sz="1600" b="1" dirty="0"/>
              <a:t>3</a:t>
            </a:r>
            <a:r>
              <a:rPr lang="ru-RU" altLang="ru-RU" sz="1600" dirty="0"/>
              <a:t> — диаграммы</a:t>
            </a:r>
            <a:r>
              <a:rPr lang="ru-RU" altLang="ru-RU" sz="1600" i="1" dirty="0"/>
              <a:t> </a:t>
            </a:r>
            <a:r>
              <a:rPr lang="ru-RU" altLang="ru-RU" sz="1600" dirty="0"/>
              <a:t>потоков работ (</a:t>
            </a:r>
            <a:r>
              <a:rPr lang="en-US" altLang="ru-RU" sz="1600" dirty="0"/>
              <a:t>Work Flow Diagrams</a:t>
            </a:r>
            <a:r>
              <a:rPr lang="ru-RU" altLang="ru-RU" sz="1600" dirty="0"/>
              <a:t>), </a:t>
            </a:r>
          </a:p>
          <a:p>
            <a:r>
              <a:rPr lang="ru-RU" altLang="ru-RU" sz="1600" b="1" dirty="0"/>
              <a:t>DFD </a:t>
            </a:r>
            <a:r>
              <a:rPr lang="ru-RU" altLang="ru-RU" sz="1600" dirty="0"/>
              <a:t>— диаграммы потоков данных (</a:t>
            </a:r>
            <a:r>
              <a:rPr lang="en-US" altLang="ru-RU" sz="1600" dirty="0"/>
              <a:t>Data Flow Diagrams</a:t>
            </a:r>
            <a:r>
              <a:rPr lang="ru-RU" altLang="ru-RU" sz="1600" dirty="0"/>
              <a:t>) </a:t>
            </a:r>
            <a:endParaRPr lang="en-US" altLang="ru-RU" sz="1600" dirty="0" smtClean="0"/>
          </a:p>
          <a:p>
            <a:r>
              <a:rPr lang="en-US" altLang="ru-RU" sz="1600" dirty="0" smtClean="0"/>
              <a:t>BPMN - </a:t>
            </a:r>
            <a:r>
              <a:rPr lang="ru-RU" sz="1600" dirty="0"/>
              <a:t>язык моделирования бизнес-процессов </a:t>
            </a:r>
            <a:r>
              <a:rPr lang="en-US" sz="1600" dirty="0" smtClean="0"/>
              <a:t>(</a:t>
            </a:r>
            <a:r>
              <a:rPr lang="en-US" sz="1600" dirty="0"/>
              <a:t>Business Process Model and Notation) </a:t>
            </a:r>
            <a:endParaRPr lang="ru-RU" altLang="ru-RU" sz="1600" dirty="0"/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577850" y="2406650"/>
            <a:ext cx="331152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1600"/>
              <a:t>Основаны на последовательной декомпозиции системы на все более мелкие подсистемы.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850" y="3206750"/>
            <a:ext cx="8426450" cy="1323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/>
              <a:t>Принципы структурного подхода: </a:t>
            </a:r>
          </a:p>
          <a:p>
            <a:pPr marL="177800" indent="-177800">
              <a:buFont typeface="Arial" pitchFamily="34" charset="0"/>
              <a:buChar char="•"/>
              <a:defRPr/>
            </a:pPr>
            <a:r>
              <a:rPr lang="ru-RU" sz="1600" dirty="0"/>
              <a:t>«разделяй и властвуй» - разбиение сложных проблем на множество меньших задач, легких для понимания и решения;</a:t>
            </a:r>
          </a:p>
          <a:p>
            <a:pPr marL="177800" indent="-177800">
              <a:buFont typeface="Arial" pitchFamily="34" charset="0"/>
              <a:buChar char="•"/>
              <a:defRPr/>
            </a:pPr>
            <a:r>
              <a:rPr lang="ru-RU" sz="1600" dirty="0"/>
              <a:t>иерархическое упорядочивание – организация составных частей проблемы в иерархические древовидные структуры.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577850" y="4581525"/>
            <a:ext cx="8483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1600"/>
              <a:t>Две группы методов: моделирующие функциональную структуру и структуру данных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991729" y="3098686"/>
            <a:ext cx="1040278" cy="2984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BPMN</a:t>
            </a:r>
            <a:endParaRPr lang="ru-RU" sz="1600" dirty="0">
              <a:solidFill>
                <a:schemeClr val="tx1"/>
              </a:solidFill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6424630" y="2406650"/>
            <a:ext cx="13214" cy="692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6" grpId="0"/>
      <p:bldP spid="14360" grpId="0"/>
      <p:bldP spid="25" grpId="0"/>
      <p:bldP spid="26" grpId="0"/>
      <p:bldP spid="2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4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4000" dirty="0" smtClean="0"/>
              <a:t>Методологии моделирования бизнес-процессов</a:t>
            </a:r>
          </a:p>
        </p:txBody>
      </p:sp>
      <p:pic>
        <p:nvPicPr>
          <p:cNvPr id="44034" name="Picture 12" descr="model-1-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2713" y="1676400"/>
            <a:ext cx="4143375" cy="240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5" name="Picture 14" descr="4269_2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4149725"/>
            <a:ext cx="428625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6" name="Picture 16" descr="image03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67250" y="1587500"/>
            <a:ext cx="427672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7" name="Picture 18" descr="image34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22288" y="3789363"/>
            <a:ext cx="3914775" cy="306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549275"/>
            <a:ext cx="7793037" cy="112712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3800" smtClean="0"/>
              <a:t>Методы моделирования бизнеса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4624388" y="3227388"/>
            <a:ext cx="4108450" cy="1143000"/>
            <a:chOff x="2940" y="2205"/>
            <a:chExt cx="2587" cy="720"/>
          </a:xfrm>
        </p:grpSpPr>
        <p:sp>
          <p:nvSpPr>
            <p:cNvPr id="46088" name="Text Box 6"/>
            <p:cNvSpPr txBox="1">
              <a:spLocks noChangeArrowheads="1"/>
            </p:cNvSpPr>
            <p:nvPr/>
          </p:nvSpPr>
          <p:spPr bwMode="auto">
            <a:xfrm>
              <a:off x="3138" y="2205"/>
              <a:ext cx="2169" cy="318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2000" tIns="0" rIns="72000" bIns="0" anchor="ctr" anchorCtr="1"/>
            <a:lstStyle/>
            <a:p>
              <a:pPr algn="ctr"/>
              <a:r>
                <a:rPr lang="ru-RU" altLang="ru-RU" sz="1600"/>
                <a:t>Объектно-ориентированные методы</a:t>
              </a:r>
            </a:p>
          </p:txBody>
        </p:sp>
        <p:sp>
          <p:nvSpPr>
            <p:cNvPr id="46089" name="Text Box 7"/>
            <p:cNvSpPr txBox="1">
              <a:spLocks noChangeArrowheads="1"/>
            </p:cNvSpPr>
            <p:nvPr/>
          </p:nvSpPr>
          <p:spPr bwMode="auto">
            <a:xfrm>
              <a:off x="2940" y="2750"/>
              <a:ext cx="550" cy="175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8000" rIns="54000" bIns="18000"/>
            <a:lstStyle/>
            <a:p>
              <a:pPr algn="ctr"/>
              <a:r>
                <a:rPr lang="en-US" altLang="ru-RU" sz="1600"/>
                <a:t>OMT</a:t>
              </a:r>
              <a:endParaRPr lang="ru-RU" altLang="ru-RU" sz="1600"/>
            </a:p>
          </p:txBody>
        </p:sp>
        <p:sp>
          <p:nvSpPr>
            <p:cNvPr id="46090" name="Text Box 8"/>
            <p:cNvSpPr txBox="1">
              <a:spLocks noChangeArrowheads="1"/>
            </p:cNvSpPr>
            <p:nvPr/>
          </p:nvSpPr>
          <p:spPr bwMode="auto">
            <a:xfrm>
              <a:off x="3606" y="2750"/>
              <a:ext cx="601" cy="175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8000" rIns="18000" bIns="18000"/>
            <a:lstStyle/>
            <a:p>
              <a:pPr algn="ctr"/>
              <a:r>
                <a:rPr lang="en-US" altLang="ru-RU" sz="1600"/>
                <a:t>Booch</a:t>
              </a:r>
              <a:endParaRPr lang="ru-RU" altLang="ru-RU" sz="1600"/>
            </a:p>
          </p:txBody>
        </p:sp>
        <p:sp>
          <p:nvSpPr>
            <p:cNvPr id="46091" name="Text Box 9"/>
            <p:cNvSpPr txBox="1">
              <a:spLocks noChangeArrowheads="1"/>
            </p:cNvSpPr>
            <p:nvPr/>
          </p:nvSpPr>
          <p:spPr bwMode="auto">
            <a:xfrm>
              <a:off x="4284" y="2750"/>
              <a:ext cx="601" cy="175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8000" rIns="18000" bIns="18000"/>
            <a:lstStyle/>
            <a:p>
              <a:pPr algn="ctr"/>
              <a:r>
                <a:rPr lang="en-US" altLang="ru-RU" sz="1600"/>
                <a:t>OOSE</a:t>
              </a:r>
              <a:endParaRPr lang="ru-RU" altLang="ru-RU" sz="1600"/>
            </a:p>
          </p:txBody>
        </p:sp>
        <p:sp>
          <p:nvSpPr>
            <p:cNvPr id="46092" name="Text Box 10"/>
            <p:cNvSpPr txBox="1">
              <a:spLocks noChangeArrowheads="1"/>
            </p:cNvSpPr>
            <p:nvPr/>
          </p:nvSpPr>
          <p:spPr bwMode="auto">
            <a:xfrm>
              <a:off x="5012" y="2750"/>
              <a:ext cx="515" cy="175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8000" rIns="18000" bIns="18000"/>
            <a:lstStyle/>
            <a:p>
              <a:pPr algn="ctr"/>
              <a:r>
                <a:rPr lang="en-US" altLang="ru-RU" sz="1600"/>
                <a:t>UML</a:t>
              </a:r>
              <a:endParaRPr lang="ru-RU" altLang="ru-RU" sz="1600"/>
            </a:p>
          </p:txBody>
        </p:sp>
        <p:sp>
          <p:nvSpPr>
            <p:cNvPr id="46093" name="Line 11"/>
            <p:cNvSpPr>
              <a:spLocks noChangeShapeType="1"/>
            </p:cNvSpPr>
            <p:nvPr/>
          </p:nvSpPr>
          <p:spPr bwMode="auto">
            <a:xfrm>
              <a:off x="3217" y="2644"/>
              <a:ext cx="20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6094" name="Line 12"/>
            <p:cNvSpPr>
              <a:spLocks noChangeShapeType="1"/>
            </p:cNvSpPr>
            <p:nvPr/>
          </p:nvSpPr>
          <p:spPr bwMode="auto">
            <a:xfrm flipH="1">
              <a:off x="4195" y="2523"/>
              <a:ext cx="0" cy="1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6095" name="Line 13"/>
            <p:cNvSpPr>
              <a:spLocks noChangeShapeType="1"/>
            </p:cNvSpPr>
            <p:nvPr/>
          </p:nvSpPr>
          <p:spPr bwMode="auto">
            <a:xfrm flipH="1">
              <a:off x="3215" y="2644"/>
              <a:ext cx="2" cy="1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6096" name="Line 14"/>
            <p:cNvSpPr>
              <a:spLocks noChangeShapeType="1"/>
            </p:cNvSpPr>
            <p:nvPr/>
          </p:nvSpPr>
          <p:spPr bwMode="auto">
            <a:xfrm>
              <a:off x="3921" y="2644"/>
              <a:ext cx="2" cy="1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6097" name="Line 15"/>
            <p:cNvSpPr>
              <a:spLocks noChangeShapeType="1"/>
            </p:cNvSpPr>
            <p:nvPr/>
          </p:nvSpPr>
          <p:spPr bwMode="auto">
            <a:xfrm>
              <a:off x="4585" y="2644"/>
              <a:ext cx="1" cy="1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6098" name="Line 16"/>
            <p:cNvSpPr>
              <a:spLocks noChangeShapeType="1"/>
            </p:cNvSpPr>
            <p:nvPr/>
          </p:nvSpPr>
          <p:spPr bwMode="auto">
            <a:xfrm>
              <a:off x="5281" y="2644"/>
              <a:ext cx="1" cy="1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7427" name="Text Box 19"/>
          <p:cNvSpPr txBox="1">
            <a:spLocks noChangeArrowheads="1"/>
          </p:cNvSpPr>
          <p:nvPr/>
        </p:nvSpPr>
        <p:spPr bwMode="auto">
          <a:xfrm>
            <a:off x="900113" y="1989138"/>
            <a:ext cx="79200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2. Методы </a:t>
            </a:r>
            <a:r>
              <a:rPr lang="ru-RU" altLang="ru-RU" b="1"/>
              <a:t>объектно-ориентированного</a:t>
            </a:r>
            <a:r>
              <a:rPr lang="ru-RU" altLang="ru-RU"/>
              <a:t> моделирования</a:t>
            </a:r>
          </a:p>
        </p:txBody>
      </p:sp>
      <p:sp>
        <p:nvSpPr>
          <p:cNvPr id="46084" name="Text Box 20"/>
          <p:cNvSpPr txBox="1">
            <a:spLocks noChangeArrowheads="1"/>
          </p:cNvSpPr>
          <p:nvPr/>
        </p:nvSpPr>
        <p:spPr bwMode="auto">
          <a:xfrm>
            <a:off x="900113" y="2708275"/>
            <a:ext cx="34559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ru-RU" altLang="ru-RU"/>
          </a:p>
        </p:txBody>
      </p:sp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827088" y="2401888"/>
            <a:ext cx="8137525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1600"/>
              <a:t>Предназначены для создания моделей систем с целью их последующей реализации в виде объектно-ориентированных программ</a:t>
            </a:r>
            <a:r>
              <a:rPr lang="ru-RU" altLang="ru-RU"/>
              <a:t> </a:t>
            </a:r>
          </a:p>
        </p:txBody>
      </p:sp>
      <p:sp>
        <p:nvSpPr>
          <p:cNvPr id="17431" name="Text Box 23"/>
          <p:cNvSpPr txBox="1">
            <a:spLocks noChangeArrowheads="1"/>
          </p:cNvSpPr>
          <p:nvPr/>
        </p:nvSpPr>
        <p:spPr bwMode="auto">
          <a:xfrm>
            <a:off x="712788" y="3084513"/>
            <a:ext cx="3600450" cy="155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7800" indent="-177800"/>
            <a:r>
              <a:rPr lang="ru-RU" altLang="ru-RU" sz="1600"/>
              <a:t>Наиболее известные методы: </a:t>
            </a:r>
          </a:p>
          <a:p>
            <a:pPr marL="177800" indent="-177800">
              <a:buFontTx/>
              <a:buChar char="•"/>
            </a:pPr>
            <a:r>
              <a:rPr lang="en-US" altLang="ru-RU" sz="1600"/>
              <a:t>Booch</a:t>
            </a:r>
            <a:r>
              <a:rPr lang="ru-RU" altLang="ru-RU" sz="1600"/>
              <a:t>’93 Г. Буча, </a:t>
            </a:r>
          </a:p>
          <a:p>
            <a:pPr marL="177800" indent="-177800">
              <a:buFontTx/>
              <a:buChar char="•"/>
            </a:pPr>
            <a:r>
              <a:rPr lang="en-US" altLang="ru-RU" sz="1600"/>
              <a:t>OMT</a:t>
            </a:r>
            <a:r>
              <a:rPr lang="ru-RU" altLang="ru-RU" sz="1600"/>
              <a:t> Дж. Румбаха</a:t>
            </a:r>
          </a:p>
          <a:p>
            <a:pPr marL="177800" indent="-177800">
              <a:buFontTx/>
              <a:buChar char="•"/>
            </a:pPr>
            <a:r>
              <a:rPr lang="en-US" altLang="ru-RU" sz="1600"/>
              <a:t>OOSE </a:t>
            </a:r>
            <a:r>
              <a:rPr lang="ru-RU" altLang="ru-RU" sz="1600"/>
              <a:t>А</a:t>
            </a:r>
            <a:r>
              <a:rPr lang="en-US" altLang="ru-RU" sz="1600"/>
              <a:t>. </a:t>
            </a:r>
            <a:r>
              <a:rPr lang="ru-RU" altLang="ru-RU" sz="1600"/>
              <a:t>Джекобсона </a:t>
            </a:r>
          </a:p>
          <a:p>
            <a:pPr marL="177800" indent="-177800">
              <a:buFontTx/>
              <a:buChar char="•"/>
            </a:pPr>
            <a:r>
              <a:rPr lang="en-US" altLang="ru-RU" sz="1600"/>
              <a:t>UML</a:t>
            </a:r>
            <a:r>
              <a:rPr lang="ru-RU" altLang="ru-RU" sz="1600"/>
              <a:t> (</a:t>
            </a:r>
            <a:r>
              <a:rPr lang="en-US" altLang="ru-RU" sz="1600"/>
              <a:t>Unified Modeling Language</a:t>
            </a:r>
            <a:r>
              <a:rPr lang="ru-RU" altLang="ru-RU" sz="1600"/>
              <a:t>) –</a:t>
            </a:r>
            <a:r>
              <a:rPr lang="en-US" altLang="ru-RU" sz="1600"/>
              <a:t> </a:t>
            </a:r>
            <a:r>
              <a:rPr lang="ru-RU" altLang="ru-RU" sz="1600"/>
              <a:t>на основе </a:t>
            </a:r>
            <a:r>
              <a:rPr lang="en-US" altLang="ru-RU" sz="1600"/>
              <a:t>Booch</a:t>
            </a:r>
            <a:r>
              <a:rPr lang="ru-RU" altLang="ru-RU" sz="1600"/>
              <a:t>’93, </a:t>
            </a:r>
            <a:r>
              <a:rPr lang="en-US" altLang="ru-RU" sz="1600"/>
              <a:t>OMT</a:t>
            </a:r>
            <a:r>
              <a:rPr lang="ru-RU" altLang="ru-RU" sz="1600"/>
              <a:t>, </a:t>
            </a:r>
            <a:r>
              <a:rPr lang="en-US" altLang="ru-RU" sz="1600"/>
              <a:t>OOSE </a:t>
            </a:r>
            <a:endParaRPr lang="ru-RU" altLang="ru-RU" sz="1600"/>
          </a:p>
        </p:txBody>
      </p:sp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755650" y="4762500"/>
            <a:ext cx="8208963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1600"/>
              <a:t>Главным структурообразующим элементом является </a:t>
            </a:r>
            <a:r>
              <a:rPr lang="ru-RU" altLang="ru-RU" sz="1600" b="1" i="1"/>
              <a:t>объект</a:t>
            </a:r>
            <a:r>
              <a:rPr lang="ru-RU" altLang="ru-RU" sz="1600"/>
              <a:t>. </a:t>
            </a:r>
          </a:p>
          <a:p>
            <a:r>
              <a:rPr lang="ru-RU" altLang="ru-RU" sz="1600"/>
              <a:t>В программировании объект - это структура, объединяющая данные и процедуры. </a:t>
            </a:r>
          </a:p>
          <a:p>
            <a:r>
              <a:rPr lang="ru-RU" altLang="ru-RU" sz="1600"/>
              <a:t>В модели бизнеса объекты – это участники бизнес-процесса (активные объекты) </a:t>
            </a:r>
          </a:p>
          <a:p>
            <a:r>
              <a:rPr lang="ru-RU" altLang="ru-RU" sz="1600"/>
              <a:t>и пассивные объекты (материалы, документы), над которыми выполняют действия активные объекты.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7" grpId="0"/>
      <p:bldP spid="17429" grpId="0"/>
      <p:bldP spid="17431" grpId="0"/>
      <p:bldP spid="174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6" name="Rectangle 6"/>
          <p:cNvSpPr>
            <a:spLocks noGrp="1" noChangeArrowheads="1"/>
          </p:cNvSpPr>
          <p:nvPr>
            <p:ph type="title"/>
          </p:nvPr>
        </p:nvSpPr>
        <p:spPr>
          <a:xfrm>
            <a:off x="431800" y="214313"/>
            <a:ext cx="8512175" cy="146208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3600" smtClean="0"/>
              <a:t>Методы объектно-ориентированного моделирования</a:t>
            </a:r>
          </a:p>
        </p:txBody>
      </p:sp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0" y="1181100"/>
          <a:ext cx="3081338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5" name="Точечный рисунок" r:id="rId4" imgW="3333333" imgH="3895238" progId="PBrush">
                  <p:embed/>
                </p:oleObj>
              </mc:Choice>
              <mc:Fallback>
                <p:oleObj name="Точечный рисунок" r:id="rId4" imgW="3333333" imgH="3895238" progId="PBrush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181100"/>
                        <a:ext cx="3081338" cy="419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656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971800" y="3276600"/>
            <a:ext cx="31242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7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638800" y="1808163"/>
            <a:ext cx="3376613" cy="432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84213"/>
            <a:ext cx="7793037" cy="992187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3800" smtClean="0"/>
              <a:t>Методы моделирования бизнеса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4572000" y="3417888"/>
            <a:ext cx="3859213" cy="944562"/>
            <a:chOff x="2745" y="1338"/>
            <a:chExt cx="1222" cy="451"/>
          </a:xfrm>
        </p:grpSpPr>
        <p:sp>
          <p:nvSpPr>
            <p:cNvPr id="50183" name="Text Box 6"/>
            <p:cNvSpPr txBox="1">
              <a:spLocks noChangeArrowheads="1"/>
            </p:cNvSpPr>
            <p:nvPr/>
          </p:nvSpPr>
          <p:spPr bwMode="auto">
            <a:xfrm>
              <a:off x="2848" y="1338"/>
              <a:ext cx="971" cy="163"/>
            </a:xfrm>
            <a:prstGeom prst="rect">
              <a:avLst/>
            </a:prstGeom>
            <a:solidFill>
              <a:schemeClr val="accent1">
                <a:alpha val="59999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600"/>
                <a:t>Имитационные методы</a:t>
              </a:r>
            </a:p>
          </p:txBody>
        </p:sp>
        <p:sp>
          <p:nvSpPr>
            <p:cNvPr id="50184" name="Text Box 7"/>
            <p:cNvSpPr txBox="1">
              <a:spLocks noChangeArrowheads="1"/>
            </p:cNvSpPr>
            <p:nvPr/>
          </p:nvSpPr>
          <p:spPr bwMode="auto">
            <a:xfrm>
              <a:off x="2745" y="1655"/>
              <a:ext cx="310" cy="134"/>
            </a:xfrm>
            <a:prstGeom prst="rect">
              <a:avLst/>
            </a:prstGeom>
            <a:solidFill>
              <a:schemeClr val="accent1">
                <a:alpha val="59999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8000" rIns="54000" bIns="18000"/>
            <a:lstStyle/>
            <a:p>
              <a:pPr algn="ctr"/>
              <a:r>
                <a:rPr lang="en-US" altLang="ru-RU" sz="1600"/>
                <a:t>GPSS</a:t>
              </a:r>
              <a:endParaRPr lang="ru-RU" altLang="ru-RU" sz="1600"/>
            </a:p>
          </p:txBody>
        </p:sp>
        <p:sp>
          <p:nvSpPr>
            <p:cNvPr id="50185" name="Text Box 8"/>
            <p:cNvSpPr txBox="1">
              <a:spLocks noChangeArrowheads="1"/>
            </p:cNvSpPr>
            <p:nvPr/>
          </p:nvSpPr>
          <p:spPr bwMode="auto">
            <a:xfrm>
              <a:off x="3109" y="1655"/>
              <a:ext cx="464" cy="134"/>
            </a:xfrm>
            <a:prstGeom prst="rect">
              <a:avLst/>
            </a:prstGeom>
            <a:solidFill>
              <a:schemeClr val="accent1">
                <a:alpha val="59999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8000" rIns="18000" bIns="18000"/>
            <a:lstStyle/>
            <a:p>
              <a:pPr algn="ctr"/>
              <a:r>
                <a:rPr lang="ru-RU" altLang="ru-RU" sz="1600"/>
                <a:t>Сети Петри</a:t>
              </a:r>
            </a:p>
          </p:txBody>
        </p:sp>
        <p:sp>
          <p:nvSpPr>
            <p:cNvPr id="50186" name="Text Box 9"/>
            <p:cNvSpPr txBox="1">
              <a:spLocks noChangeArrowheads="1"/>
            </p:cNvSpPr>
            <p:nvPr/>
          </p:nvSpPr>
          <p:spPr bwMode="auto">
            <a:xfrm>
              <a:off x="3627" y="1655"/>
              <a:ext cx="340" cy="134"/>
            </a:xfrm>
            <a:prstGeom prst="rect">
              <a:avLst/>
            </a:prstGeom>
            <a:solidFill>
              <a:schemeClr val="accent1">
                <a:alpha val="59999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8000" rIns="18000" bIns="18000"/>
            <a:lstStyle/>
            <a:p>
              <a:pPr algn="ctr"/>
              <a:r>
                <a:rPr lang="en-US" altLang="ru-RU" sz="1600"/>
                <a:t>SIMAN</a:t>
              </a:r>
              <a:endParaRPr lang="ru-RU" altLang="ru-RU" sz="1600"/>
            </a:p>
          </p:txBody>
        </p:sp>
        <p:sp>
          <p:nvSpPr>
            <p:cNvPr id="50187" name="Line 10"/>
            <p:cNvSpPr>
              <a:spLocks noChangeShapeType="1"/>
            </p:cNvSpPr>
            <p:nvPr/>
          </p:nvSpPr>
          <p:spPr bwMode="auto">
            <a:xfrm>
              <a:off x="2911" y="1569"/>
              <a:ext cx="87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0188" name="Line 11"/>
            <p:cNvSpPr>
              <a:spLocks noChangeShapeType="1"/>
            </p:cNvSpPr>
            <p:nvPr/>
          </p:nvSpPr>
          <p:spPr bwMode="auto">
            <a:xfrm>
              <a:off x="3333" y="1499"/>
              <a:ext cx="2" cy="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0189" name="Line 12"/>
            <p:cNvSpPr>
              <a:spLocks noChangeShapeType="1"/>
            </p:cNvSpPr>
            <p:nvPr/>
          </p:nvSpPr>
          <p:spPr bwMode="auto">
            <a:xfrm flipH="1">
              <a:off x="2911" y="1575"/>
              <a:ext cx="0" cy="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0190" name="Line 13"/>
            <p:cNvSpPr>
              <a:spLocks noChangeShapeType="1"/>
            </p:cNvSpPr>
            <p:nvPr/>
          </p:nvSpPr>
          <p:spPr bwMode="auto">
            <a:xfrm>
              <a:off x="3786" y="1573"/>
              <a:ext cx="1" cy="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9471" name="Text Box 15"/>
          <p:cNvSpPr txBox="1">
            <a:spLocks noChangeArrowheads="1"/>
          </p:cNvSpPr>
          <p:nvPr/>
        </p:nvSpPr>
        <p:spPr bwMode="auto">
          <a:xfrm>
            <a:off x="704850" y="1989138"/>
            <a:ext cx="52101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3. Методы </a:t>
            </a:r>
            <a:r>
              <a:rPr lang="ru-RU" altLang="ru-RU" b="1"/>
              <a:t>имитационного</a:t>
            </a:r>
            <a:r>
              <a:rPr lang="ru-RU" altLang="ru-RU" i="1"/>
              <a:t> </a:t>
            </a:r>
            <a:r>
              <a:rPr lang="ru-RU" altLang="ru-RU"/>
              <a:t>моделирования. </a:t>
            </a:r>
          </a:p>
        </p:txBody>
      </p:sp>
      <p:sp>
        <p:nvSpPr>
          <p:cNvPr id="19472" name="Text Box 16"/>
          <p:cNvSpPr txBox="1">
            <a:spLocks noChangeArrowheads="1"/>
          </p:cNvSpPr>
          <p:nvPr/>
        </p:nvSpPr>
        <p:spPr bwMode="auto">
          <a:xfrm>
            <a:off x="906463" y="4540250"/>
            <a:ext cx="7896225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3038" indent="-173038">
              <a:spcBef>
                <a:spcPct val="50000"/>
              </a:spcBef>
              <a:buFontTx/>
              <a:buChar char="•"/>
            </a:pPr>
            <a:r>
              <a:rPr lang="ru-RU" altLang="ru-RU"/>
              <a:t>сети Петри и раскрашенные сети Петри (</a:t>
            </a:r>
            <a:r>
              <a:rPr lang="en-US" altLang="ru-RU"/>
              <a:t>CPN</a:t>
            </a:r>
            <a:r>
              <a:rPr lang="ru-RU" altLang="ru-RU"/>
              <a:t>, </a:t>
            </a:r>
            <a:r>
              <a:rPr lang="en-US" altLang="ru-RU"/>
              <a:t>Colored Petri Nets</a:t>
            </a:r>
            <a:r>
              <a:rPr lang="ru-RU" altLang="ru-RU"/>
              <a:t>);</a:t>
            </a:r>
          </a:p>
          <a:p>
            <a:pPr marL="173038" indent="-173038">
              <a:spcBef>
                <a:spcPct val="50000"/>
              </a:spcBef>
              <a:buFontTx/>
              <a:buChar char="•"/>
            </a:pPr>
            <a:r>
              <a:rPr lang="en-US" altLang="ru-RU"/>
              <a:t>GPSS</a:t>
            </a:r>
            <a:r>
              <a:rPr lang="ru-RU" altLang="ru-RU"/>
              <a:t> (</a:t>
            </a:r>
            <a:r>
              <a:rPr lang="en-US" altLang="ru-RU"/>
              <a:t>General Purpose Simulating System</a:t>
            </a:r>
            <a:r>
              <a:rPr lang="ru-RU" altLang="ru-RU"/>
              <a:t>) – унифицированный язык имитационного моделирования;</a:t>
            </a:r>
          </a:p>
          <a:p>
            <a:pPr marL="173038" indent="-173038">
              <a:spcBef>
                <a:spcPct val="50000"/>
              </a:spcBef>
              <a:buFontTx/>
              <a:buChar char="•"/>
            </a:pPr>
            <a:r>
              <a:rPr lang="en-US" altLang="ru-RU"/>
              <a:t>SIMAN</a:t>
            </a:r>
            <a:r>
              <a:rPr lang="ru-RU" altLang="ru-RU"/>
              <a:t> (</a:t>
            </a:r>
            <a:r>
              <a:rPr lang="en-US" altLang="ru-RU"/>
              <a:t>SIMulation ANalysis</a:t>
            </a:r>
            <a:r>
              <a:rPr lang="ru-RU" altLang="ru-RU"/>
              <a:t>) – язык визуального моделирования. </a:t>
            </a:r>
          </a:p>
        </p:txBody>
      </p:sp>
      <p:sp>
        <p:nvSpPr>
          <p:cNvPr id="19475" name="Text Box 19"/>
          <p:cNvSpPr txBox="1">
            <a:spLocks noChangeArrowheads="1"/>
          </p:cNvSpPr>
          <p:nvPr/>
        </p:nvSpPr>
        <p:spPr bwMode="auto">
          <a:xfrm>
            <a:off x="906463" y="3502025"/>
            <a:ext cx="362902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Наиболее распространенные методы: 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704850" y="2359025"/>
            <a:ext cx="8097838" cy="92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Позволяют имитировать на компьютере (с помощью специальных программ) процессы функционирования реальной системы (в режиме сжатого времени или пошаговом режиме).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1" grpId="0"/>
      <p:bldP spid="19472" grpId="0"/>
      <p:bldP spid="19475" grpId="0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88" name="Rectangle 2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Методы имитационного моделирования</a:t>
            </a:r>
          </a:p>
        </p:txBody>
      </p:sp>
      <p:pic>
        <p:nvPicPr>
          <p:cNvPr id="87042" name="Picture 6" descr="7-tema-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763" y="2033588"/>
            <a:ext cx="4859337" cy="264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43" name="Picture 8" descr="1305981784_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8263" y="1676400"/>
            <a:ext cx="3795712" cy="483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044" name="AutoShape 10" descr="sg98mUnaf6fyf8AzQ3OrQVboYIAAAAASUVORK5CYII="/>
          <p:cNvSpPr>
            <a:spLocks noChangeAspect="1" noChangeArrowheads="1"/>
          </p:cNvSpPr>
          <p:nvPr/>
        </p:nvSpPr>
        <p:spPr bwMode="auto">
          <a:xfrm>
            <a:off x="2857500" y="2762250"/>
            <a:ext cx="34290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ru-RU" altLang="ru-RU"/>
          </a:p>
        </p:txBody>
      </p:sp>
      <p:sp>
        <p:nvSpPr>
          <p:cNvPr id="87045" name="AutoShape 12" descr="sg98mUnaf6fyf8AzQ3OrQVboYIAAAAASUVORK5CYII="/>
          <p:cNvSpPr>
            <a:spLocks noChangeAspect="1" noChangeArrowheads="1"/>
          </p:cNvSpPr>
          <p:nvPr/>
        </p:nvSpPr>
        <p:spPr bwMode="auto">
          <a:xfrm>
            <a:off x="2857500" y="2762250"/>
            <a:ext cx="34290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ru-RU" altLang="ru-RU"/>
          </a:p>
        </p:txBody>
      </p:sp>
      <p:sp>
        <p:nvSpPr>
          <p:cNvPr id="87046" name="AutoShape 14" descr="sg98mUnaf6fyf8AzQ3OrQVboYIAAAAASUVORK5CYII="/>
          <p:cNvSpPr>
            <a:spLocks noChangeAspect="1" noChangeArrowheads="1"/>
          </p:cNvSpPr>
          <p:nvPr/>
        </p:nvSpPr>
        <p:spPr bwMode="auto">
          <a:xfrm>
            <a:off x="2857500" y="2762250"/>
            <a:ext cx="34290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ru-RU" altLang="ru-RU"/>
          </a:p>
        </p:txBody>
      </p:sp>
      <p:sp>
        <p:nvSpPr>
          <p:cNvPr id="87047" name="AutoShape 16" descr="sg98mUnaf6fyf8AzQ3OrQVboYIAAAAASUVORK5CYII="/>
          <p:cNvSpPr>
            <a:spLocks noChangeAspect="1" noChangeArrowheads="1"/>
          </p:cNvSpPr>
          <p:nvPr/>
        </p:nvSpPr>
        <p:spPr bwMode="auto">
          <a:xfrm>
            <a:off x="2857500" y="2762250"/>
            <a:ext cx="34290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ru-RU" altLang="ru-RU"/>
          </a:p>
        </p:txBody>
      </p:sp>
      <p:sp>
        <p:nvSpPr>
          <p:cNvPr id="87048" name="AutoShape 18" descr="data:image/png;base64,iVBORw0KGgoAAAANSUhEUgAAAWgAAACMCAMAAABmmcPHAAAAgVBMVEX///8AAAC3t7f39/coKCiUlJTh4eHk5ORGRkbMzMzCwsKGhoahoaEaGhq1tbXa2tqqqqpcXFx1dXXs7Ozq6urz8/O/v79VVVXQ0NCdnZ2VlZXGxsZ6enqBgYHOzs5ra2uMjIxkZGRJSUk+Pj4gICBQUFAxMTE4ODgWFhYNDQ0mJiadV7YVAAAYvElEQVR4nO2di2KjrBKAR6laLwVEIXgLmmza3X3/BzxgEqPGJJq2+bunnd22ifECX2AYhgEggJEQXAwP2NjrvcODd58o9vSDMOaPef5HyxnoH/kcMaCL55lC/uvUfglxT0A2m80NZOHxKgO6+kWjGUKfyv8we19H6pcDLpo5daZfZ1n77sgp6yFrfh+vMqDDzbwnZG+flPR/S57r46uwjppEN2ttTXcOByXunRu9HF+1oJ/nPUFa/2hD9KGCrM5aqBDgom4KQkPF32zJHFgzdRM0Ed4NkJb40CT/m+Jb6Pgy3KxWsAXbjjVwBs8kow1g2jt5CjQWYMvrz9hVH5vmf1KcbfeyMshXYAsFdsH4zhekAXkLtPmFbCrtqBSK504JOEsjykBGfk5rc0r+9xE5+eLy1hkSUGkFDTtdohsNOhQhZSSPmhuqA5lfbgSx7dsyIjnKQoIYTXNS+ZEDrcEhrfQxmfnCwi2/e204QwoIJcAReCA1Hpn09e9UiY71WX4Iyi6wjNwM4VqgkCaObCBxQJlagqyf/s16kUUwBZo7WALFpJBC2iQTNmR2ggl1BUujJGtvv/1R0s7TkrNvm3fVpJLIfpT0Wz06wE+qBFIyKu63Qafo/JhR0pOHv5NYxfhIz/nFeZkMPruvw2Ie892V9HpY1OyysbNgR5nDaAFKRttscPpM0AiPj8TWy8tL/f70/quCrd3gvdL9vFwIEgHHPjCJ66HuuAraPn1nzfhBr0x3g1YfkuZ/Uhxr2BY2wKkBnUGQSWgkrRaAjgvlZHnrJGGj5yQWAai/M+hXazAeIZmStAggrJykqWpi73t2nVwF7YDu+7C1MTvGoG3LnP6NQdcri94+6yRXQdeutpb9tiuoRtcxw/h7gy7P1Ok1uQqaSJFAutav+HiA7rdpU783aGwtOf+m1SHyqcs8o6K/N+hdarmXPhTnw8l32tF2a0R+a9AbGCppjhMgNuLERcIhCR72V+4FXbYnfnPQcb/hQjFpikyyiBFFtm7s1cPz7wRtReb3NwdN+0p6rYs3yuom8twMIteJR2NQ94FurehvD9rtW9JpCXnpozgjnJmOIawWdFguir3/Lr856KGSFnHAWYaDFPwm4jQe+YLuA832hL876GaBJT0EXVszZe+Z+u6g6VxcRn4drzSgOZ4pe2/TdweN7Lm8tHRRdHf4l7876PvkB/Qi+QH9IPkB/SD5Af0g+QH9IHkfaI7teTLbvCtm3lCL8XvL+aefDfYbcZOpo2L2TfGFqQznMZ97826+DM27D++wJEtMeq47tQtkgqnuQUzEE/sLbjoZfZS8WuOhvOUdli7iaEnEf78L7lD3cgxaOoxP+1uX7ThCYrdPHKBqg9uPQSniVWej6+CawbRodOdkArSyoto6j1Ur5g+FiJepg9bKt36PfPldF/ypLrOJi8ZC3+tUSs239RyKyTqrPx0ElDUmiDhjBZd+VqLVcQ5CYjSR34I+FEi8TYExFDIP6pKzsALBKaPgs2OJ9c5Au38taahuxx8U86Oq8K/zY6VVa6W6s+zB0c6ppHSeSBZ5zAFPUZey1GEkjZhf2pyqgh0iYt7tJk0tkgbVRtNWGTmjPQL9UqrQk0gnjLkyyo9DQdRaj0HTzIvYmrsNLThWaaF/Yoi9hjeHi85AY2vV8ky24yCqd4FOXw/RuflQfXRu0l+lqgvHRKHrKhiJbUJcvpEOvAKTFdpCvD//3Y7/dM8cCFW/Leu1wgOyI9Ar4OAqGpOs4iRyujG3ZzUCTf0yS1lRUeboGzAkMUtrYIXC0eGGY9DK6ipwOFIf7wEdWM9H5Setp5766Bz/jc6TEMAgDRkQ0YBkeCWxPl7LiJfHQI07QbNWmfdBG/H8eqeLduz4Rwgj0CaKKoqKZ5KXia5uR73bWL93I9CFLh6KSdrICucaNG28EBoeS3W49RD0Xm0cRVjP/Q+1jpaBPzFgehT94HSfzjHoyqpPb9Cm19R2Q1mmxNo2qICR0G6CFdS22K6pLlSVn3F2DNSYBB0E/rTK7eQ0ONsH3QrB6lXTZtRFZ6DbUwXxUOoBSuEY5oqedSUcgE64/tgF23N1IQEPeEKQqw+gbsxzAPqoNo6SvPVDPTVoIlZrfRdApnjy9n/3g3z9hXs6QWgMWquNoRGZW90Ey25w1uQp0WmxXSgIFcRk0OWJPq6zqZN+qLZToHMJcn0Oty+ncIMz0G1GZbayrO0Z6EuCvJHquC190KV1FhPRL4pGdeiiBc9lUYVYqIraWcNZrVVqzXitSoWgkPq9NwQdWG/j8uZbr4dDJtxgnHOb1XBJpkC3k40oxtRp7DgtnRjRjDh0BUWEtdZsz+4CaCZBt5Jbs0Hv83AnaO/FmphDJqy3o3I9gEYKXEkVlsCiiugqvY4UeLVWrLpk2kVsFEAfdGjV57dFR+vjAwJo2slCZD9ZiFCSIcrMZKEkJ6UM8oNyZ0Y1DUHrWjbARB8D2rZ2k3b8qd6fQFeBp0Ej5qWlYFBQDdopkTyAxqIH+tx4OcjBUq9XZTw3rUamSrQiwKVuLtvJQgZ0RJFjJgvF3D1MFgJ8DHLsQCNdEwffcTQXtLE0IzQbtBnekfIIurVyp6W09oZ6C7oCVEJU1ZUGHWLGvF3ZAFaKVyiNtd3gK7CDE+jA2p5STqVuCLt3Wn2k4yBHEwxND/XqFK/b72RNNoZUd8x9nEjiE9/NbF9XKlS4gUdqjhO7vc8+bDc2k8COoBWQwVx8AzqxUh7ZYEcetzPdVCA7IloDERCR0LWmMNqIP0lbv2vnoVoBimj7gT6R2rrQ2eCaG7R/A/2XwtaWmfS8ts/pvfbmoOk8goh7uRPWhsNghis6/V313x/lCHrYwYz8QZ+ZG+sj78J2dUFMahpBJL3I1CGFijaTAhVAo+MTbpt3atoselKUrp6qih0VpC7Rw+DeyKKRYyUqpXnGV0Tx15SRWPdWSqTcZ96kuiq726TSx365TJdobe9ZBUuFUKjyN8lf3UV5Q7Vc8cx+S+K0gYy8uRXRhZFgkVp5FOUjtbHSpRb34Hlv5qblpB092bRgq12LYDOsWZG0yWDAu7bKuHNe+NIrHZtUtFDGjtDWfohiUvFtwrKCHIv93XNYYuvXr5fWW9IWKTeaAP331y9L84Hag6owlmWuDfmKBtpMZhDKt6qSDVCitC1qQP/Sp9tNG/QjaKkt/gpCKLKwbbFC+VyVJNYVtNJPEsJrTx/pUW1mx/UQ3B+TzNkdFtvcVd+3n5EEqP03euuj50/W69NxagVhZelwiCne6BRqCJkEJy/ASUxg7/wSfUFM40uthJOD6mAb/WUOMmkaQ61JFcmdMNW9bthATVbJKlVt8Sy1aqy9FUQk9na6vvla6SKrKElkxwmTTNMvYZuW7soLC326F/Ms3enSVUptIIhW+6PKCvuPjNc1VL0ayFq7L5gCPXZS7eWgOvZq+CCliL002fTuUVjP6UkhVcRXNQ2cqGi48SooqdJVouQ2URT7R3/OTNDpeLJQO/0NW53bY0KOjSH1tdJF3AMJLtHWi35nzHkCiVZlEjzuEfPu2BjSQn+g+yn6IwKxbi14ZD4mCGlVaU5PfX1pcmgMxcmHhFbJTlcD1SkT99derZnGECWQ6rJJJHDXQxKhhqSAZALmeCoReLIHetgJbFu5Xi4PNvrRqOGRJF6Bdcp4tG7PdHUGfRkj3RR13K4HonffIpajoJx2Qie2rtnRU1aHNxlt3cqk1XHmBj7d6WB1pG9dc1ho63hdd41jZ/e1oBmyQNlU1LjRtaZBb0HM40L38LWRxWTohe3MhpN551gXVtlJng/66s2ZPqEV1LBhnbkKelPkuW7y6USWn02rfB30g+zooT/iJKzrLrZOJVaUIoe6ZpiQTd34DBy/BunUugqUikSsHZvqdViKvvqA3uFjd7F+nZtWI1dB57o5ApUakiN/837S/RXQnNDnB4Ee+5D2Hz9ZnRehBV08aSUXJ66i2kgAWzcStbYkMt3o7twCNhi35anfM+TPE6mpT42Cf3nSPYezj65PFjKzsrCpQl6CBg0KaQFeAO2K8tn4p+0HgYb0aWBNg1Ebz6es7t2kGTgga4qlC7iiGqvgwvytI5SFAeSVucXQqXQ2XDNgn4wfeqr2m/N5mVdBC5rr1sLcumRDhbRfGOUcdCLzlWa8q4t9PidAE1bxoqzODIELoNOSJbJUZ6cP3aSj/uGxT7iX+/3RvvXUf0owHL3ZL4xClQOhEl7FIvIky4qoEhlztWRewaJaHZrMm1ZHkU+lctV+1UPQBLNXy/pTUu90xQTo3RrrdJG5oBthlzV2b4A2LV93SvJqDZyP73D8DzwezqiA161nSEGQFRD7ZpBFpVoTQRpqa7S0AxX5buMdANwEzScTuQfSgfaK1uPf5HKkm6ZAS7/wxO5sRtMF0Bu/KLiIz9y24xGWU2f8zMv0rqGs8KiUz1V2O+ibVKC7A1DqDlmsQTvG0c806Mb3i0zbqPW7RlgOy7HtQdfNH8t6re2psYIJ0FEeBjVlc0HbtWNnUXXmCD0fnD2YGedepvcNzh5Ge33rbZyV/XJsKlKuykLj7oRn4UDmmB4VW4c5jYjL6KEWjEDPXWBwb9kY0Nz6o5XTpZykE0EBnj50rgqG4QY9SXT+JgIaJu5sWyuk6/rZLRaEG9gTo+DtLesps3q/wKCu0cg1fW39z5gMrrE5ECSe6X7zY4EagX7JnBmS/d0/9bbr27PCfHx1nu9/RkdZC1rNPb2a+gqf/vStjS5nlnN2/bTkzQRooz6eRsEGe6l/ZyZtuXP4374+vHK6w/s7xwPQxd+neUJmgobNzBtqMRZRM//0SS23nYqdSt9m3/Tv9FJR2bSVSuan9umpu/MdQY7LBnMeIfHlPvt7JPjIjP6AviziB/RIfkA/SH5AP0h+QD9IfkA/SP4V0Pbc8PV9j/i7gyZLIv67xT3anuETpjMEv87tGT5aHgs6/DsLVyvqLl9HdPJ1fC15LOjttVHDkbzbe/e15KGg0fkQy2WZ3kwhSGdtpvDNQS/wCl7YTMEGfGMzhVWrpL856Hp+uNGVzRREu5lCwHiWV4CjhGIGJJIZbfVS1roTvzno/krdMmarq/taXdlMYWX7uN1MIa8JKoebKZxGwb+WPBJ00h+ZDLAZ+6aRCbnSPzhCiRi4sKdK9CrR+qee2ExBAe82UzBK+nuDHsR1FIpWtPZl2IDFS0pdFpQDH/YU6MSx10BtGaxtiQ+bKaRmMwWbeVmSt7fvIpW+ljwS9CBSqagJMZPOSrMVWR6GjhMMx2Rum3fh5OBCe933Bv3at6IDE+cU+n7oWvCbYJzWYhgXehv0xDgqGCXNvzvogRXttYOwZuakAF2UscPT4Tj/O+OjFyX3AfJ5oNFI9LFF+3bMBC3r8ZhzbBwlfxYm+NPlk0AXU16i3e3renI99q77zlxvvFTCr1r6/sUFlP8r+STQsPbHIvOrpWxZNOmqYE6WgQkAckbWeHJ5ler/Uj4L9IRcWadbCxtrgNubKSizkxmQ0ezFr9cOtvJA0MMlYJ26BuqUEJUKSBhCmdbVIF7weny0p63lwnQFUxh5BNWinQQeJo8EzXplD8UQScFLsgIcrBI7q0SZDvxF1+ew+HYCibFionFA25/pWU3/tTwSdL9SoxBswagiCoTYYUpK5Id1/+zbmylMOrfdizNX/lt5JGivz+DVbpKN3Eiz52xNK58FzB6El91pR39RFf1Q0PD7pKRR7CFIiLGvtaVmZtZBOiyK965A80WXFnwo6H47dVOT3rum0qLtix4nDwW9qFrfu0rYl7SiHwz6uiU9kvtAf1UV/VjQ8GdBvb5vasUXtaIfDVotWINmCNqZG3bzRVX0g0HjJZFK3aqnbewdmSmPzM4SeSzo2biMdM6P/4vNeh8M+i75Af0g+QH9IPkB/SD5Af0g+QH9IPkB/SD5Af0g+QH9IPkB/SBpQbsz5Y7787n3dt3Li8TfkqWg56dpMssLLj8tOWJAZ3M9JOOFHWfI8wIHzI35BpdlIeh8QZomxk7Fgsut7fGq1k26TbwZkqzucJO+1OntO6fmHDKxDs1M6UBPrI41IdVun6Y0bOKoy3oSDlNq3iVv4fnl7HkWrvYezl2O/3uiG1/mBCi4xv+K3g/a00XoaXqZp75UR4dyjIC5kABPzHJdZkAUta/NVjyoXQP6eQL07wUxF/eNsAx2xJ4pL3M2OoKn7QeBLoL6zbL+xNm1bSFOoDlSchsGVU0lq1Xu8soPa+HQ0jOrYvFJ0JfXv52Q6Yh/s5DYVbnD8z8LNM+tBH0I6DYDhJqtSv5UdDrI+wR6p1gBChhq79Bo0GHIAb1FFQUkrSCZAv3uwVn9dES4gMQtUABm0WG3AC8tAAndzrY5uGMsaxZos59a8nGgjSRFZtrhjVOcwz6VaGiXdC85NGECce66YZ1yHCOpM2+ZPeUmQLMluylcmpWFHFARdXBIWBAHgmS1YIkTMLZuJ4/foaQ70FZYnmwDPDLf5a/0Y1THsEoSm20tswvPsI3sQBuTAuWQMuYhFmaeCjFnZepXjJvtc+xJ1dHlKH0N1S11fWme4TqCxmwPYmZlCUWAUZ6vQ5OiNitkeUhYlyyduZg4js8i8JmSFKTrlhWI4z5pnwG6va2MzLqpfQOwml8mz0GfnuE5ZtX70KZMANbZCJmbVCFI1rtmCrQdEj9RJKN2FtR+Lh23LERNStk4a5Xs16NcrqQ70L9VE8oadhBhBrVcAS0akEGsH7k/4ZNAt5KWv3vv3gXa7mp1+qRWOBIkhLIIgWYFshuCM9UfW520OpCJiD5OxsrNSoWHbs1pglbcLT8xVzrQxnjyMaqBOCEIExbo6/zKxqbH/TY+EXQvw/BO0KyLzfBq/SsjhQCtbNu9I+DNxkWSbU7Abpt3dHL623Il3YE26TN7WIjGY2Inlb0qaspk7MeHr/NTQWdLQPd6g+egrU4te+aznKBVEKO4iCWjeU4dUQXslIp7Z2V5i4PCOtDmQtMZENzshoog4AgKb/++lfeAPqwg2lvVmhBU96Y6DUCHMRCBwbNdGXFYZxxsajZHAJmlgDG4iOg3rll79Qx0z4puNYDOibbK2h/P142c/jToldH7p7+ZyUILRP6Z1WFp021ly+59eshm1e6YLOiJghChl55awOzP6d6yiWHlY1pR6qSxW6YsCwLcpE6hUkyxL1X6yneJ4lsPntUwTTL/lOlvQMZupGaJQ+WSV2Za+J/F9z6Xzi9l5r4Hpy956EeKzRrxykmcFMLM3+9s+VaHRdRgxFTK0hBYQCFzJ3xiyyKXr08W8niq6zU3UwfG5dHCZ3Mcr8qlDkuvh+x5+314zIz+Rfc+f1hvRkJgg91bklirjtNpWkfHbkHD1I74ioSIOURGDbJFhHY2WdfMq0B5DG08M/l9+Ai7X6IndB0ng524roJmpKF2CJlxho0wuVPbcl+VIehu//ReuUiT/QZq79DRR+kaw8jFIuir13FjGEfanOeAqwREmYCTQ6K73XZFIKuR4AUI5NPKO9fRqN/eTvh1uSf7JvCN6W81QIl1AVFsM9RId1kdLCyTmNkRi4smlrusqpipulJ3joqmiYqiKTOneY+v4yjeafM/bauX7JTlMegZZmq7qvm51XEsOUXZJLp7wRiKK21RcQaVXKnKo3Ws/x/L41XQYVEiIO0T5EjDLh8zetGdTN3HRdDULpRiHWD9nq4N6AxiIWAVFJiUEfnQEn0m99jRBtY56OoAi1Y+xFqZN45r6qcGXa5zWHmRtDOn04xXQfOUJLD3IqHRnNvlYywvEYlgbUA7BFVYg9bqiJqtoXR3f6VBx0FBiUdi8omgE9LM6BlOacVz0Me9zhLXoY0BnR1BKw061qBx6lXHVTtuWh32pLeELJ9boWuaqsMkLu2MoJDsfAxl2O7mzONqFwitPoqC1bXinwTatc32Jb/7VfMCaOqdLzR/Djo9WDaCldoOrEGhpnzT7+PwWdfRxovcOKvUhTX+59rR0fJ1DYxKG1ueE5Yo+tjGcC+pX5vVGOLaH3Zzh6A5BoqyygFar7gTDovShPfuabTD2rpwLyvUO0E3i10dM0dYjHwoaESoMtuXMHtiUGgIOilBN2oQpvGaCscb1okJ0NXYkrbp5T7MvdPflg+DPxi0KY+pqNp9eDJ5wRYdga6AJQrytNGGmc2G/skJ0IvW4L0PNFlsRT8cNI6MsniuxLWUDkGjOHhKYqi9lRsLB9eDUydA8yVhEffNyqK/b58zllmj4Hv5CNCWpSi5sfDnuDFEBLV71XBID8bWSaZGwZ9ml50z0E+tT+aWiO0dkVcvbNa9teD3gwYyq8pV20GahBC2OWB+i2FqxdME6Op1bpZswbqtdAxoOtdlM3vbwZPECzxCj5r1FS1I00SFnFxq6ZJ0LWc7Sjrba3OHLHEKPUremaYFl5+uv6OQ/sg98mUnaf6fyf8AzQ3OrQVboYIAAAAASUVORK5CYII=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ru-RU" altLang="ru-RU"/>
          </a:p>
        </p:txBody>
      </p:sp>
      <p:sp>
        <p:nvSpPr>
          <p:cNvPr id="87049" name="AutoShape 20" descr="data:image/png;base64,iVBORw0KGgoAAAANSUhEUgAAAWgAAACMCAMAAABmmcPHAAAAgVBMVEX///8AAAC3t7f39/coKCiUlJTh4eHk5ORGRkbMzMzCwsKGhoahoaEaGhq1tbXa2tqqqqpcXFx1dXXs7Ozq6urz8/O/v79VVVXQ0NCdnZ2VlZXGxsZ6enqBgYHOzs5ra2uMjIxkZGRJSUk+Pj4gICBQUFAxMTE4ODgWFhYNDQ0mJiadV7YVAAAYvElEQVR4nO2di2KjrBKAR6laLwVEIXgLmmza3X3/BzxgEqPGJJq2+bunnd22ifECX2AYhgEggJEQXAwP2NjrvcODd58o9vSDMOaPef5HyxnoH/kcMaCL55lC/uvUfglxT0A2m80NZOHxKgO6+kWjGUKfyv8we19H6pcDLpo5daZfZ1n77sgp6yFrfh+vMqDDzbwnZG+flPR/S57r46uwjppEN2ttTXcOByXunRu9HF+1oJ/nPUFa/2hD9KGCrM5aqBDgom4KQkPF32zJHFgzdRM0Ed4NkJb40CT/m+Jb6Pgy3KxWsAXbjjVwBs8kow1g2jt5CjQWYMvrz9hVH5vmf1KcbfeyMshXYAsFdsH4zhekAXkLtPmFbCrtqBSK504JOEsjykBGfk5rc0r+9xE5+eLy1hkSUGkFDTtdohsNOhQhZSSPmhuqA5lfbgSx7dsyIjnKQoIYTXNS+ZEDrcEhrfQxmfnCwi2/e204QwoIJcAReCA1Hpn09e9UiY71WX4Iyi6wjNwM4VqgkCaObCBxQJlagqyf/s16kUUwBZo7WALFpJBC2iQTNmR2ggl1BUujJGtvv/1R0s7TkrNvm3fVpJLIfpT0Wz06wE+qBFIyKu63Qafo/JhR0pOHv5NYxfhIz/nFeZkMPruvw2Ie892V9HpY1OyysbNgR5nDaAFKRttscPpM0AiPj8TWy8tL/f70/quCrd3gvdL9vFwIEgHHPjCJ66HuuAraPn1nzfhBr0x3g1YfkuZ/Uhxr2BY2wKkBnUGQSWgkrRaAjgvlZHnrJGGj5yQWAai/M+hXazAeIZmStAggrJykqWpi73t2nVwF7YDu+7C1MTvGoG3LnP6NQdcri94+6yRXQdeutpb9tiuoRtcxw/h7gy7P1Ok1uQqaSJFAutav+HiA7rdpU783aGwtOf+m1SHyqcs8o6K/N+hdarmXPhTnw8l32tF2a0R+a9AbGCppjhMgNuLERcIhCR72V+4FXbYnfnPQcb/hQjFpikyyiBFFtm7s1cPz7wRtReb3NwdN+0p6rYs3yuom8twMIteJR2NQ94FurehvD9rtW9JpCXnpozgjnJmOIawWdFguir3/Lr856KGSFnHAWYaDFPwm4jQe+YLuA832hL876GaBJT0EXVszZe+Z+u6g6VxcRn4drzSgOZ4pe2/TdweN7Lm8tHRRdHf4l7876PvkB/Qi+QH9IPkB/SD5Af0g+QH9IHkfaI7teTLbvCtm3lCL8XvL+aefDfYbcZOpo2L2TfGFqQznMZ97826+DM27D++wJEtMeq47tQtkgqnuQUzEE/sLbjoZfZS8WuOhvOUdli7iaEnEf78L7lD3cgxaOoxP+1uX7ThCYrdPHKBqg9uPQSniVWej6+CawbRodOdkArSyoto6j1Ur5g+FiJepg9bKt36PfPldF/ypLrOJi8ZC3+tUSs239RyKyTqrPx0ElDUmiDhjBZd+VqLVcQ5CYjSR34I+FEi8TYExFDIP6pKzsALBKaPgs2OJ9c5Au38taahuxx8U86Oq8K/zY6VVa6W6s+zB0c6ppHSeSBZ5zAFPUZey1GEkjZhf2pyqgh0iYt7tJk0tkgbVRtNWGTmjPQL9UqrQk0gnjLkyyo9DQdRaj0HTzIvYmrsNLThWaaF/Yoi9hjeHi85AY2vV8ky24yCqd4FOXw/RuflQfXRu0l+lqgvHRKHrKhiJbUJcvpEOvAKTFdpCvD//3Y7/dM8cCFW/Leu1wgOyI9Ar4OAqGpOs4iRyujG3ZzUCTf0yS1lRUeboGzAkMUtrYIXC0eGGY9DK6ipwOFIf7wEdWM9H5Setp5766Bz/jc6TEMAgDRkQ0YBkeCWxPl7LiJfHQI07QbNWmfdBG/H8eqeLduz4Rwgj0CaKKoqKZ5KXia5uR73bWL93I9CFLh6KSdrICucaNG28EBoeS3W49RD0Xm0cRVjP/Q+1jpaBPzFgehT94HSfzjHoyqpPb9Cm19R2Q1mmxNo2qICR0G6CFdS22K6pLlSVn3F2DNSYBB0E/rTK7eQ0ONsH3QrB6lXTZtRFZ6DbUwXxUOoBSuEY5oqedSUcgE64/tgF23N1IQEPeEKQqw+gbsxzAPqoNo6SvPVDPTVoIlZrfRdApnjy9n/3g3z9hXs6QWgMWquNoRGZW90Ey25w1uQp0WmxXSgIFcRk0OWJPq6zqZN+qLZToHMJcn0Oty+ncIMz0G1GZbayrO0Z6EuCvJHquC190KV1FhPRL4pGdeiiBc9lUYVYqIraWcNZrVVqzXitSoWgkPq9NwQdWG/j8uZbr4dDJtxgnHOb1XBJpkC3k40oxtRp7DgtnRjRjDh0BUWEtdZsz+4CaCZBt5Jbs0Hv83AnaO/FmphDJqy3o3I9gEYKXEkVlsCiiugqvY4UeLVWrLpk2kVsFEAfdGjV57dFR+vjAwJo2slCZD9ZiFCSIcrMZKEkJ6UM8oNyZ0Y1DUHrWjbARB8D2rZ2k3b8qd6fQFeBp0Ej5qWlYFBQDdopkTyAxqIH+tx4OcjBUq9XZTw3rUamSrQiwKVuLtvJQgZ0RJFjJgvF3D1MFgJ8DHLsQCNdEwffcTQXtLE0IzQbtBnekfIIurVyp6W09oZ6C7oCVEJU1ZUGHWLGvF3ZAFaKVyiNtd3gK7CDE+jA2p5STqVuCLt3Wn2k4yBHEwxND/XqFK/b72RNNoZUd8x9nEjiE9/NbF9XKlS4gUdqjhO7vc8+bDc2k8COoBWQwVx8AzqxUh7ZYEcetzPdVCA7IloDERCR0LWmMNqIP0lbv2vnoVoBimj7gT6R2rrQ2eCaG7R/A/2XwtaWmfS8ts/pvfbmoOk8goh7uRPWhsNghis6/V313x/lCHrYwYz8QZ+ZG+sj78J2dUFMahpBJL3I1CGFijaTAhVAo+MTbpt3atoselKUrp6qih0VpC7Rw+DeyKKRYyUqpXnGV0Tx15SRWPdWSqTcZ96kuiq726TSx365TJdobe9ZBUuFUKjyN8lf3UV5Q7Vc8cx+S+K0gYy8uRXRhZFgkVp5FOUjtbHSpRb34Hlv5qblpB092bRgq12LYDOsWZG0yWDAu7bKuHNe+NIrHZtUtFDGjtDWfohiUvFtwrKCHIv93XNYYuvXr5fWW9IWKTeaAP331y9L84Hag6owlmWuDfmKBtpMZhDKt6qSDVCitC1qQP/Sp9tNG/QjaKkt/gpCKLKwbbFC+VyVJNYVtNJPEsJrTx/pUW1mx/UQ3B+TzNkdFtvcVd+3n5EEqP03euuj50/W69NxagVhZelwiCne6BRqCJkEJy/ASUxg7/wSfUFM40uthJOD6mAb/WUOMmkaQ61JFcmdMNW9bthATVbJKlVt8Sy1aqy9FUQk9na6vvla6SKrKElkxwmTTNMvYZuW7soLC326F/Ms3enSVUptIIhW+6PKCvuPjNc1VL0ayFq7L5gCPXZS7eWgOvZq+CCliL002fTuUVjP6UkhVcRXNQ2cqGi48SooqdJVouQ2URT7R3/OTNDpeLJQO/0NW53bY0KOjSH1tdJF3AMJLtHWi35nzHkCiVZlEjzuEfPu2BjSQn+g+yn6IwKxbi14ZD4mCGlVaU5PfX1pcmgMxcmHhFbJTlcD1SkT99derZnGECWQ6rJJJHDXQxKhhqSAZALmeCoReLIHetgJbFu5Xi4PNvrRqOGRJF6Bdcp4tG7PdHUGfRkj3RR13K4HonffIpajoJx2Qie2rtnRU1aHNxlt3cqk1XHmBj7d6WB1pG9dc1ho63hdd41jZ/e1oBmyQNlU1LjRtaZBb0HM40L38LWRxWTohe3MhpN551gXVtlJng/66s2ZPqEV1LBhnbkKelPkuW7y6USWn02rfB30g+zooT/iJKzrLrZOJVaUIoe6ZpiQTd34DBy/BunUugqUikSsHZvqdViKvvqA3uFjd7F+nZtWI1dB57o5ApUakiN/837S/RXQnNDnB4Ee+5D2Hz9ZnRehBV08aSUXJ66i2kgAWzcStbYkMt3o7twCNhi35anfM+TPE6mpT42Cf3nSPYezj65PFjKzsrCpQl6CBg0KaQFeAO2K8tn4p+0HgYb0aWBNg1Ebz6es7t2kGTgga4qlC7iiGqvgwvytI5SFAeSVucXQqXQ2XDNgn4wfeqr2m/N5mVdBC5rr1sLcumRDhbRfGOUcdCLzlWa8q4t9PidAE1bxoqzODIELoNOSJbJUZ6cP3aSj/uGxT7iX+/3RvvXUf0owHL3ZL4xClQOhEl7FIvIky4qoEhlztWRewaJaHZrMm1ZHkU+lctV+1UPQBLNXy/pTUu90xQTo3RrrdJG5oBthlzV2b4A2LV93SvJqDZyP73D8DzwezqiA161nSEGQFRD7ZpBFpVoTQRpqa7S0AxX5buMdANwEzScTuQfSgfaK1uPf5HKkm6ZAS7/wxO5sRtMF0Bu/KLiIz9y24xGWU2f8zMv0rqGs8KiUz1V2O+ibVKC7A1DqDlmsQTvG0c806Mb3i0zbqPW7RlgOy7HtQdfNH8t6re2psYIJ0FEeBjVlc0HbtWNnUXXmCD0fnD2YGedepvcNzh5Ge33rbZyV/XJsKlKuykLj7oRn4UDmmB4VW4c5jYjL6KEWjEDPXWBwb9kY0Nz6o5XTpZykE0EBnj50rgqG4QY9SXT+JgIaJu5sWyuk6/rZLRaEG9gTo+DtLesps3q/wKCu0cg1fW39z5gMrrE5ECSe6X7zY4EagX7JnBmS/d0/9bbr27PCfHx1nu9/RkdZC1rNPb2a+gqf/vStjS5nlnN2/bTkzQRooz6eRsEGe6l/ZyZtuXP4374+vHK6w/s7xwPQxd+neUJmgobNzBtqMRZRM//0SS23nYqdSt9m3/Tv9FJR2bSVSuan9umpu/MdQY7LBnMeIfHlPvt7JPjIjP6AviziB/RIfkA/SH5AP0h+QD9IfkA/SP4V0Pbc8PV9j/i7gyZLIv67xT3anuETpjMEv87tGT5aHgs6/DsLVyvqLl9HdPJ1fC15LOjttVHDkbzbe/e15KGg0fkQy2WZ3kwhSGdtpvDNQS/wCl7YTMEGfGMzhVWrpL856Hp+uNGVzRREu5lCwHiWV4CjhGIGJJIZbfVS1roTvzno/krdMmarq/taXdlMYWX7uN1MIa8JKoebKZxGwb+WPBJ00h+ZDLAZ+6aRCbnSPzhCiRi4sKdK9CrR+qee2ExBAe82UzBK+nuDHsR1FIpWtPZl2IDFS0pdFpQDH/YU6MSx10BtGaxtiQ+bKaRmMwWbeVmSt7fvIpW+ljwS9CBSqagJMZPOSrMVWR6GjhMMx2Rum3fh5OBCe933Bv3at6IDE+cU+n7oWvCbYJzWYhgXehv0xDgqGCXNvzvogRXttYOwZuakAF2UscPT4Tj/O+OjFyX3AfJ5oNFI9LFF+3bMBC3r8ZhzbBwlfxYm+NPlk0AXU16i3e3renI99q77zlxvvFTCr1r6/sUFlP8r+STQsPbHIvOrpWxZNOmqYE6WgQkAckbWeHJ5ler/Uj4L9IRcWadbCxtrgNubKSizkxmQ0ezFr9cOtvJA0MMlYJ26BuqUEJUKSBhCmdbVIF7weny0p63lwnQFUxh5BNWinQQeJo8EzXplD8UQScFLsgIcrBI7q0SZDvxF1+ew+HYCibFionFA25/pWU3/tTwSdL9SoxBswagiCoTYYUpK5Id1/+zbmylMOrfdizNX/lt5JGivz+DVbpKN3Eiz52xNK58FzB6El91pR39RFf1Q0PD7pKRR7CFIiLGvtaVmZtZBOiyK965A80WXFnwo6H47dVOT3rum0qLtix4nDwW9qFrfu0rYl7SiHwz6uiU9kvtAf1UV/VjQ8GdBvb5vasUXtaIfDVotWINmCNqZG3bzRVX0g0HjJZFK3aqnbewdmSmPzM4SeSzo2biMdM6P/4vNeh8M+i75Af0g+QH9IPkB/SD5Af0g+QH9IPkB/SD5Af0g+QH9IPkB/SBpQbsz5Y7787n3dt3Li8TfkqWg56dpMssLLj8tOWJAZ3M9JOOFHWfI8wIHzI35BpdlIeh8QZomxk7Fgsut7fGq1k26TbwZkqzucJO+1OntO6fmHDKxDs1M6UBPrI41IdVun6Y0bOKoy3oSDlNq3iVv4fnl7HkWrvYezl2O/3uiG1/mBCi4xv+K3g/a00XoaXqZp75UR4dyjIC5kABPzHJdZkAUta/NVjyoXQP6eQL07wUxF/eNsAx2xJ4pL3M2OoKn7QeBLoL6zbL+xNm1bSFOoDlSchsGVU0lq1Xu8soPa+HQ0jOrYvFJ0JfXv52Q6Yh/s5DYVbnD8z8LNM+tBH0I6DYDhJqtSv5UdDrI+wR6p1gBChhq79Bo0GHIAb1FFQUkrSCZAv3uwVn9dES4gMQtUABm0WG3AC8tAAndzrY5uGMsaxZos59a8nGgjSRFZtrhjVOcwz6VaGiXdC85NGECce66YZ1yHCOpM2+ZPeUmQLMluylcmpWFHFARdXBIWBAHgmS1YIkTMLZuJ4/foaQ70FZYnmwDPDLf5a/0Y1THsEoSm20tswvPsI3sQBuTAuWQMuYhFmaeCjFnZepXjJvtc+xJ1dHlKH0N1S11fWme4TqCxmwPYmZlCUWAUZ6vQ5OiNitkeUhYlyyduZg4js8i8JmSFKTrlhWI4z5pnwG6va2MzLqpfQOwml8mz0GfnuE5ZtX70KZMANbZCJmbVCFI1rtmCrQdEj9RJKN2FtR+Lh23LERNStk4a5Xs16NcrqQ70L9VE8oadhBhBrVcAS0akEGsH7k/4ZNAt5KWv3vv3gXa7mp1+qRWOBIkhLIIgWYFshuCM9UfW520OpCJiD5OxsrNSoWHbs1pglbcLT8xVzrQxnjyMaqBOCEIExbo6/zKxqbH/TY+EXQvw/BO0KyLzfBq/SsjhQCtbNu9I+DNxkWSbU7Abpt3dHL623Il3YE26TN7WIjGY2Inlb0qaspk7MeHr/NTQWdLQPd6g+egrU4te+aznKBVEKO4iCWjeU4dUQXslIp7Z2V5i4PCOtDmQtMZENzshoog4AgKb/++lfeAPqwg2lvVmhBU96Y6DUCHMRCBwbNdGXFYZxxsajZHAJmlgDG4iOg3rll79Qx0z4puNYDOibbK2h/P142c/jToldH7p7+ZyUILRP6Z1WFp021ly+59eshm1e6YLOiJghChl55awOzP6d6yiWHlY1pR6qSxW6YsCwLcpE6hUkyxL1X6yneJ4lsPntUwTTL/lOlvQMZupGaJQ+WSV2Za+J/F9z6Xzi9l5r4Hpy956EeKzRrxykmcFMLM3+9s+VaHRdRgxFTK0hBYQCFzJ3xiyyKXr08W8niq6zU3UwfG5dHCZ3Mcr8qlDkuvh+x5+314zIz+Rfc+f1hvRkJgg91bklirjtNpWkfHbkHD1I74ioSIOURGDbJFhHY2WdfMq0B5DG08M/l9+Ai7X6IndB0ng524roJmpKF2CJlxho0wuVPbcl+VIehu//ReuUiT/QZq79DRR+kaw8jFIuir13FjGEfanOeAqwREmYCTQ6K73XZFIKuR4AUI5NPKO9fRqN/eTvh1uSf7JvCN6W81QIl1AVFsM9RId1kdLCyTmNkRi4smlrusqpipulJ3joqmiYqiKTOneY+v4yjeafM/bauX7JTlMegZZmq7qvm51XEsOUXZJLp7wRiKK21RcQaVXKnKo3Ws/x/L41XQYVEiIO0T5EjDLh8zetGdTN3HRdDULpRiHWD9nq4N6AxiIWAVFJiUEfnQEn0m99jRBtY56OoAi1Y+xFqZN45r6qcGXa5zWHmRtDOn04xXQfOUJLD3IqHRnNvlYywvEYlgbUA7BFVYg9bqiJqtoXR3f6VBx0FBiUdi8omgE9LM6BlOacVz0Me9zhLXoY0BnR1BKw061qBx6lXHVTtuWh32pLeELJ9boWuaqsMkLu2MoJDsfAxl2O7mzONqFwitPoqC1bXinwTatc32Jb/7VfMCaOqdLzR/Djo9WDaCldoOrEGhpnzT7+PwWdfRxovcOKvUhTX+59rR0fJ1DYxKG1ueE5Yo+tjGcC+pX5vVGOLaH3Zzh6A5BoqyygFar7gTDovShPfuabTD2rpwLyvUO0E3i10dM0dYjHwoaESoMtuXMHtiUGgIOilBN2oQpvGaCscb1okJ0NXYkrbp5T7MvdPflg+DPxi0KY+pqNp9eDJ5wRYdga6AJQrytNGGmc2G/skJ0IvW4L0PNFlsRT8cNI6MsniuxLWUDkGjOHhKYqi9lRsLB9eDUydA8yVhEffNyqK/b58zllmj4Hv5CNCWpSi5sfDnuDFEBLV71XBID8bWSaZGwZ9ml50z0E+tT+aWiO0dkVcvbNa9teD3gwYyq8pV20GahBC2OWB+i2FqxdME6Op1bpZswbqtdAxoOtdlM3vbwZPECzxCj5r1FS1I00SFnFxq6ZJ0LWc7Sjrba3OHLHEKPUremaYFl5+uv6OQ/sg98mUnaf6fyf8AzQ3OrQVboYIAAAAASUVORK5CYII=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ru-RU" altLang="ru-RU"/>
          </a:p>
        </p:txBody>
      </p:sp>
      <p:sp>
        <p:nvSpPr>
          <p:cNvPr id="87050" name="AutoShape 22" descr="data:image/png;base64,iVBORw0KGgoAAAANSUhEUgAAAWgAAACMCAMAAABmmcPHAAAAgVBMVEX///8AAAC3t7f39/coKCiUlJTh4eHk5ORGRkbMzMzCwsKGhoahoaEaGhq1tbXa2tqqqqpcXFx1dXXs7Ozq6urz8/O/v79VVVXQ0NCdnZ2VlZXGxsZ6enqBgYHOzs5ra2uMjIxkZGRJSUk+Pj4gICBQUFAxMTE4ODgWFhYNDQ0mJiadV7YVAAAYvElEQVR4nO2di2KjrBKAR6laLwVEIXgLmmza3X3/BzxgEqPGJJq2+bunnd22ifECX2AYhgEggJEQXAwP2NjrvcODd58o9vSDMOaPef5HyxnoH/kcMaCL55lC/uvUfglxT0A2m80NZOHxKgO6+kWjGUKfyv8we19H6pcDLpo5daZfZ1n77sgp6yFrfh+vMqDDzbwnZG+flPR/S57r46uwjppEN2ttTXcOByXunRu9HF+1oJ/nPUFa/2hD9KGCrM5aqBDgom4KQkPF32zJHFgzdRM0Ed4NkJb40CT/m+Jb6Pgy3KxWsAXbjjVwBs8kow1g2jt5CjQWYMvrz9hVH5vmf1KcbfeyMshXYAsFdsH4zhekAXkLtPmFbCrtqBSK504JOEsjykBGfk5rc0r+9xE5+eLy1hkSUGkFDTtdohsNOhQhZSSPmhuqA5lfbgSx7dsyIjnKQoIYTXNS+ZEDrcEhrfQxmfnCwi2/e204QwoIJcAReCA1Hpn09e9UiY71WX4Iyi6wjNwM4VqgkCaObCBxQJlagqyf/s16kUUwBZo7WALFpJBC2iQTNmR2ggl1BUujJGtvv/1R0s7TkrNvm3fVpJLIfpT0Wz06wE+qBFIyKu63Qafo/JhR0pOHv5NYxfhIz/nFeZkMPruvw2Ie892V9HpY1OyysbNgR5nDaAFKRttscPpM0AiPj8TWy8tL/f70/quCrd3gvdL9vFwIEgHHPjCJ66HuuAraPn1nzfhBr0x3g1YfkuZ/Uhxr2BY2wKkBnUGQSWgkrRaAjgvlZHnrJGGj5yQWAai/M+hXazAeIZmStAggrJykqWpi73t2nVwF7YDu+7C1MTvGoG3LnP6NQdcri94+6yRXQdeutpb9tiuoRtcxw/h7gy7P1Ok1uQqaSJFAutav+HiA7rdpU783aGwtOf+m1SHyqcs8o6K/N+hdarmXPhTnw8l32tF2a0R+a9AbGCppjhMgNuLERcIhCR72V+4FXbYnfnPQcb/hQjFpikyyiBFFtm7s1cPz7wRtReb3NwdN+0p6rYs3yuom8twMIteJR2NQ94FurehvD9rtW9JpCXnpozgjnJmOIawWdFguir3/Lr856KGSFnHAWYaDFPwm4jQe+YLuA832hL876GaBJT0EXVszZe+Z+u6g6VxcRn4drzSgOZ4pe2/TdweN7Lm8tHRRdHf4l7876PvkB/Qi+QH9IPkB/SD5Af0g+QH9IHkfaI7teTLbvCtm3lCL8XvL+aefDfYbcZOpo2L2TfGFqQznMZ97826+DM27D++wJEtMeq47tQtkgqnuQUzEE/sLbjoZfZS8WuOhvOUdli7iaEnEf78L7lD3cgxaOoxP+1uX7ThCYrdPHKBqg9uPQSniVWej6+CawbRodOdkArSyoto6j1Ur5g+FiJepg9bKt36PfPldF/ypLrOJi8ZC3+tUSs239RyKyTqrPx0ElDUmiDhjBZd+VqLVcQ5CYjSR34I+FEi8TYExFDIP6pKzsALBKaPgs2OJ9c5Au38taahuxx8U86Oq8K/zY6VVa6W6s+zB0c6ppHSeSBZ5zAFPUZey1GEkjZhf2pyqgh0iYt7tJk0tkgbVRtNWGTmjPQL9UqrQk0gnjLkyyo9DQdRaj0HTzIvYmrsNLThWaaF/Yoi9hjeHi85AY2vV8ky24yCqd4FOXw/RuflQfXRu0l+lqgvHRKHrKhiJbUJcvpEOvAKTFdpCvD//3Y7/dM8cCFW/Leu1wgOyI9Ar4OAqGpOs4iRyujG3ZzUCTf0yS1lRUeboGzAkMUtrYIXC0eGGY9DK6ipwOFIf7wEdWM9H5Setp5766Bz/jc6TEMAgDRkQ0YBkeCWxPl7LiJfHQI07QbNWmfdBG/H8eqeLduz4Rwgj0CaKKoqKZ5KXia5uR73bWL93I9CFLh6KSdrICucaNG28EBoeS3W49RD0Xm0cRVjP/Q+1jpaBPzFgehT94HSfzjHoyqpPb9Cm19R2Q1mmxNo2qICR0G6CFdS22K6pLlSVn3F2DNSYBB0E/rTK7eQ0ONsH3QrB6lXTZtRFZ6DbUwXxUOoBSuEY5oqedSUcgE64/tgF23N1IQEPeEKQqw+gbsxzAPqoNo6SvPVDPTVoIlZrfRdApnjy9n/3g3z9hXs6QWgMWquNoRGZW90Ey25w1uQp0WmxXSgIFcRk0OWJPq6zqZN+qLZToHMJcn0Oty+ncIMz0G1GZbayrO0Z6EuCvJHquC190KV1FhPRL4pGdeiiBc9lUYVYqIraWcNZrVVqzXitSoWgkPq9NwQdWG/j8uZbr4dDJtxgnHOb1XBJpkC3k40oxtRp7DgtnRjRjDh0BUWEtdZsz+4CaCZBt5Jbs0Hv83AnaO/FmphDJqy3o3I9gEYKXEkVlsCiiugqvY4UeLVWrLpk2kVsFEAfdGjV57dFR+vjAwJo2slCZD9ZiFCSIcrMZKEkJ6UM8oNyZ0Y1DUHrWjbARB8D2rZ2k3b8qd6fQFeBp0Ej5qWlYFBQDdopkTyAxqIH+tx4OcjBUq9XZTw3rUamSrQiwKVuLtvJQgZ0RJFjJgvF3D1MFgJ8DHLsQCNdEwffcTQXtLE0IzQbtBnekfIIurVyp6W09oZ6C7oCVEJU1ZUGHWLGvF3ZAFaKVyiNtd3gK7CDE+jA2p5STqVuCLt3Wn2k4yBHEwxND/XqFK/b72RNNoZUd8x9nEjiE9/NbF9XKlS4gUdqjhO7vc8+bDc2k8COoBWQwVx8AzqxUh7ZYEcetzPdVCA7IloDERCR0LWmMNqIP0lbv2vnoVoBimj7gT6R2rrQ2eCaG7R/A/2XwtaWmfS8ts/pvfbmoOk8goh7uRPWhsNghis6/V313x/lCHrYwYz8QZ+ZG+sj78J2dUFMahpBJL3I1CGFijaTAhVAo+MTbpt3atoselKUrp6qih0VpC7Rw+DeyKKRYyUqpXnGV0Tx15SRWPdWSqTcZ96kuiq726TSx365TJdobe9ZBUuFUKjyN8lf3UV5Q7Vc8cx+S+K0gYy8uRXRhZFgkVp5FOUjtbHSpRb34Hlv5qblpB092bRgq12LYDOsWZG0yWDAu7bKuHNe+NIrHZtUtFDGjtDWfohiUvFtwrKCHIv93XNYYuvXr5fWW9IWKTeaAP331y9L84Hag6owlmWuDfmKBtpMZhDKt6qSDVCitC1qQP/Sp9tNG/QjaKkt/gpCKLKwbbFC+VyVJNYVtNJPEsJrTx/pUW1mx/UQ3B+TzNkdFtvcVd+3n5EEqP03euuj50/W69NxagVhZelwiCne6BRqCJkEJy/ASUxg7/wSfUFM40uthJOD6mAb/WUOMmkaQ61JFcmdMNW9bthATVbJKlVt8Sy1aqy9FUQk9na6vvla6SKrKElkxwmTTNMvYZuW7soLC326F/Ms3enSVUptIIhW+6PKCvuPjNc1VL0ayFq7L5gCPXZS7eWgOvZq+CCliL002fTuUVjP6UkhVcRXNQ2cqGi48SooqdJVouQ2URT7R3/OTNDpeLJQO/0NW53bY0KOjSH1tdJF3AMJLtHWi35nzHkCiVZlEjzuEfPu2BjSQn+g+yn6IwKxbi14ZD4mCGlVaU5PfX1pcmgMxcmHhFbJTlcD1SkT99derZnGECWQ6rJJJHDXQxKhhqSAZALmeCoReLIHetgJbFu5Xi4PNvrRqOGRJF6Bdcp4tG7PdHUGfRkj3RR13K4HonffIpajoJx2Qie2rtnRU1aHNxlt3cqk1XHmBj7d6WB1pG9dc1ho63hdd41jZ/e1oBmyQNlU1LjRtaZBb0HM40L38LWRxWTohe3MhpN551gXVtlJng/66s2ZPqEV1LBhnbkKelPkuW7y6USWn02rfB30g+zooT/iJKzrLrZOJVaUIoe6ZpiQTd34DBy/BunUugqUikSsHZvqdViKvvqA3uFjd7F+nZtWI1dB57o5ApUakiN/837S/RXQnNDnB4Ee+5D2Hz9ZnRehBV08aSUXJ66i2kgAWzcStbYkMt3o7twCNhi35anfM+TPE6mpT42Cf3nSPYezj65PFjKzsrCpQl6CBg0KaQFeAO2K8tn4p+0HgYb0aWBNg1Ebz6es7t2kGTgga4qlC7iiGqvgwvytI5SFAeSVucXQqXQ2XDNgn4wfeqr2m/N5mVdBC5rr1sLcumRDhbRfGOUcdCLzlWa8q4t9PidAE1bxoqzODIELoNOSJbJUZ6cP3aSj/uGxT7iX+/3RvvXUf0owHL3ZL4xClQOhEl7FIvIky4qoEhlztWRewaJaHZrMm1ZHkU+lctV+1UPQBLNXy/pTUu90xQTo3RrrdJG5oBthlzV2b4A2LV93SvJqDZyP73D8DzwezqiA161nSEGQFRD7ZpBFpVoTQRpqa7S0AxX5buMdANwEzScTuQfSgfaK1uPf5HKkm6ZAS7/wxO5sRtMF0Bu/KLiIz9y24xGWU2f8zMv0rqGs8KiUz1V2O+ibVKC7A1DqDlmsQTvG0c806Mb3i0zbqPW7RlgOy7HtQdfNH8t6re2psYIJ0FEeBjVlc0HbtWNnUXXmCD0fnD2YGedepvcNzh5Ge33rbZyV/XJsKlKuykLj7oRn4UDmmB4VW4c5jYjL6KEWjEDPXWBwb9kY0Nz6o5XTpZykE0EBnj50rgqG4QY9SXT+JgIaJu5sWyuk6/rZLRaEG9gTo+DtLesps3q/wKCu0cg1fW39z5gMrrE5ECSe6X7zY4EagX7JnBmS/d0/9bbr27PCfHx1nu9/RkdZC1rNPb2a+gqf/vStjS5nlnN2/bTkzQRooz6eRsEGe6l/ZyZtuXP4374+vHK6w/s7xwPQxd+neUJmgobNzBtqMRZRM//0SS23nYqdSt9m3/Tv9FJR2bSVSuan9umpu/MdQY7LBnMeIfHlPvt7JPjIjP6AviziB/RIfkA/SH5AP0h+QD9IfkA/SP4V0Pbc8PV9j/i7gyZLIv67xT3anuETpjMEv87tGT5aHgs6/DsLVyvqLl9HdPJ1fC15LOjttVHDkbzbe/e15KGg0fkQy2WZ3kwhSGdtpvDNQS/wCl7YTMEGfGMzhVWrpL856Hp+uNGVzRREu5lCwHiWV4CjhGIGJJIZbfVS1roTvzno/krdMmarq/taXdlMYWX7uN1MIa8JKoebKZxGwb+WPBJ00h+ZDLAZ+6aRCbnSPzhCiRi4sKdK9CrR+qee2ExBAe82UzBK+nuDHsR1FIpWtPZl2IDFS0pdFpQDH/YU6MSx10BtGaxtiQ+bKaRmMwWbeVmSt7fvIpW+ljwS9CBSqagJMZPOSrMVWR6GjhMMx2Rum3fh5OBCe933Bv3at6IDE+cU+n7oWvCbYJzWYhgXehv0xDgqGCXNvzvogRXttYOwZuakAF2UscPT4Tj/O+OjFyX3AfJ5oNFI9LFF+3bMBC3r8ZhzbBwlfxYm+NPlk0AXU16i3e3renI99q77zlxvvFTCr1r6/sUFlP8r+STQsPbHIvOrpWxZNOmqYE6WgQkAckbWeHJ5ler/Uj4L9IRcWadbCxtrgNubKSizkxmQ0ezFr9cOtvJA0MMlYJ26BuqUEJUKSBhCmdbVIF7weny0p63lwnQFUxh5BNWinQQeJo8EzXplD8UQScFLsgIcrBI7q0SZDvxF1+ew+HYCibFionFA25/pWU3/tTwSdL9SoxBswagiCoTYYUpK5Id1/+zbmylMOrfdizNX/lt5JGivz+DVbpKN3Eiz52xNK58FzB6El91pR39RFf1Q0PD7pKRR7CFIiLGvtaVmZtZBOiyK965A80WXFnwo6H47dVOT3rum0qLtix4nDwW9qFrfu0rYl7SiHwz6uiU9kvtAf1UV/VjQ8GdBvb5vasUXtaIfDVotWINmCNqZG3bzRVX0g0HjJZFK3aqnbewdmSmPzM4SeSzo2biMdM6P/4vNeh8M+i75Af0g+QH9IPkB/SD5Af0g+QH9IPkB/SD5Af0g+QH9IPkB/SBpQbsz5Y7787n3dt3Li8TfkqWg56dpMssLLj8tOWJAZ3M9JOOFHWfI8wIHzI35BpdlIeh8QZomxk7Fgsut7fGq1k26TbwZkqzucJO+1OntO6fmHDKxDs1M6UBPrI41IdVun6Y0bOKoy3oSDlNq3iVv4fnl7HkWrvYezl2O/3uiG1/mBCi4xv+K3g/a00XoaXqZp75UR4dyjIC5kABPzHJdZkAUta/NVjyoXQP6eQL07wUxF/eNsAx2xJ4pL3M2OoKn7QeBLoL6zbL+xNm1bSFOoDlSchsGVU0lq1Xu8soPa+HQ0jOrYvFJ0JfXv52Q6Yh/s5DYVbnD8z8LNM+tBH0I6DYDhJqtSv5UdDrI+wR6p1gBChhq79Bo0GHIAb1FFQUkrSCZAv3uwVn9dES4gMQtUABm0WG3AC8tAAndzrY5uGMsaxZos59a8nGgjSRFZtrhjVOcwz6VaGiXdC85NGECce66YZ1yHCOpM2+ZPeUmQLMluylcmpWFHFARdXBIWBAHgmS1YIkTMLZuJ4/foaQ70FZYnmwDPDLf5a/0Y1THsEoSm20tswvPsI3sQBuTAuWQMuYhFmaeCjFnZepXjJvtc+xJ1dHlKH0N1S11fWme4TqCxmwPYmZlCUWAUZ6vQ5OiNitkeUhYlyyduZg4js8i8JmSFKTrlhWI4z5pnwG6va2MzLqpfQOwml8mz0GfnuE5ZtX70KZMANbZCJmbVCFI1rtmCrQdEj9RJKN2FtR+Lh23LERNStk4a5Xs16NcrqQ70L9VE8oadhBhBrVcAS0akEGsH7k/4ZNAt5KWv3vv3gXa7mp1+qRWOBIkhLIIgWYFshuCM9UfW520OpCJiD5OxsrNSoWHbs1pglbcLT8xVzrQxnjyMaqBOCEIExbo6/zKxqbH/TY+EXQvw/BO0KyLzfBq/SsjhQCtbNu9I+DNxkWSbU7Abpt3dHL623Il3YE26TN7WIjGY2Inlb0qaspk7MeHr/NTQWdLQPd6g+egrU4te+aznKBVEKO4iCWjeU4dUQXslIp7Z2V5i4PCOtDmQtMZENzshoog4AgKb/++lfeAPqwg2lvVmhBU96Y6DUCHMRCBwbNdGXFYZxxsajZHAJmlgDG4iOg3rll79Qx0z4puNYDOibbK2h/P142c/jToldH7p7+ZyUILRP6Z1WFp021ly+59eshm1e6YLOiJghChl55awOzP6d6yiWHlY1pR6qSxW6YsCwLcpE6hUkyxL1X6yneJ4lsPntUwTTL/lOlvQMZupGaJQ+WSV2Za+J/F9z6Xzi9l5r4Hpy956EeKzRrxykmcFMLM3+9s+VaHRdRgxFTK0hBYQCFzJ3xiyyKXr08W8niq6zU3UwfG5dHCZ3Mcr8qlDkuvh+x5+314zIz+Rfc+f1hvRkJgg91bklirjtNpWkfHbkHD1I74ioSIOURGDbJFhHY2WdfMq0B5DG08M/l9+Ai7X6IndB0ng524roJmpKF2CJlxho0wuVPbcl+VIehu//ReuUiT/QZq79DRR+kaw8jFIuir13FjGEfanOeAqwREmYCTQ6K73XZFIKuR4AUI5NPKO9fRqN/eTvh1uSf7JvCN6W81QIl1AVFsM9RId1kdLCyTmNkRi4smlrusqpipulJ3joqmiYqiKTOneY+v4yjeafM/bauX7JTlMegZZmq7qvm51XEsOUXZJLp7wRiKK21RcQaVXKnKo3Ws/x/L41XQYVEiIO0T5EjDLh8zetGdTN3HRdDULpRiHWD9nq4N6AxiIWAVFJiUEfnQEn0m99jRBtY56OoAi1Y+xFqZN45r6qcGXa5zWHmRtDOn04xXQfOUJLD3IqHRnNvlYywvEYlgbUA7BFVYg9bqiJqtoXR3f6VBx0FBiUdi8omgE9LM6BlOacVz0Me9zhLXoY0BnR1BKw061qBx6lXHVTtuWh32pLeELJ9boWuaqsMkLu2MoJDsfAxl2O7mzONqFwitPoqC1bXinwTatc32Jb/7VfMCaOqdLzR/Djo9WDaCldoOrEGhpnzT7+PwWdfRxovcOKvUhTX+59rR0fJ1DYxKG1ueE5Yo+tjGcC+pX5vVGOLaH3Zzh6A5BoqyygFar7gTDovShPfuabTD2rpwLyvUO0E3i10dM0dYjHwoaESoMtuXMHtiUGgIOilBN2oQpvGaCscb1okJ0NXYkrbp5T7MvdPflg+DPxi0KY+pqNp9eDJ5wRYdga6AJQrytNGGmc2G/skJ0IvW4L0PNFlsRT8cNI6MsniuxLWUDkGjOHhKYqi9lRsLB9eDUydA8yVhEffNyqK/b58zllmj4Hv5CNCWpSi5sfDnuDFEBLV71XBID8bWSaZGwZ9ml50z0E+tT+aWiO0dkVcvbNa9teD3gwYyq8pV20GahBC2OWB+i2FqxdME6Op1bpZswbqtdAxoOtdlM3vbwZPECzxCj5r1FS1I00SFnFxq6ZJ0LWc7Sjrba3OHLHEKPUremaYFl5+uv6OQ/sg98mUnaf6fyf8AzQ3OrQVboYIAAAAASUVORK5CYII=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ru-RU" altLang="ru-RU"/>
          </a:p>
        </p:txBody>
      </p:sp>
      <p:pic>
        <p:nvPicPr>
          <p:cNvPr id="87051" name="Picture 2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1925" y="4578350"/>
            <a:ext cx="4841875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525463"/>
            <a:ext cx="7793037" cy="1150937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3800" smtClean="0"/>
              <a:t>Методы моделирования бизнеса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5667375" y="2124075"/>
            <a:ext cx="3025775" cy="900113"/>
            <a:chOff x="3355" y="1338"/>
            <a:chExt cx="1906" cy="567"/>
          </a:xfrm>
        </p:grpSpPr>
        <p:sp>
          <p:nvSpPr>
            <p:cNvPr id="52231" name="Text Box 6"/>
            <p:cNvSpPr txBox="1">
              <a:spLocks noChangeArrowheads="1"/>
            </p:cNvSpPr>
            <p:nvPr/>
          </p:nvSpPr>
          <p:spPr bwMode="auto">
            <a:xfrm>
              <a:off x="3398" y="1338"/>
              <a:ext cx="1816" cy="204"/>
            </a:xfrm>
            <a:prstGeom prst="rect">
              <a:avLst/>
            </a:prstGeom>
            <a:solidFill>
              <a:schemeClr val="accent1">
                <a:alpha val="59999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600"/>
                <a:t>Интегрированные методы</a:t>
              </a:r>
            </a:p>
          </p:txBody>
        </p:sp>
        <p:sp>
          <p:nvSpPr>
            <p:cNvPr id="52232" name="Text Box 7"/>
            <p:cNvSpPr txBox="1">
              <a:spLocks noChangeArrowheads="1"/>
            </p:cNvSpPr>
            <p:nvPr/>
          </p:nvSpPr>
          <p:spPr bwMode="auto">
            <a:xfrm>
              <a:off x="3355" y="1737"/>
              <a:ext cx="637" cy="168"/>
            </a:xfrm>
            <a:prstGeom prst="rect">
              <a:avLst/>
            </a:prstGeom>
            <a:solidFill>
              <a:schemeClr val="accent1">
                <a:alpha val="59999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8000" rIns="18000" bIns="18000"/>
            <a:lstStyle/>
            <a:p>
              <a:pPr algn="ctr"/>
              <a:r>
                <a:rPr lang="en-US" altLang="ru-RU" sz="1600"/>
                <a:t>ARIS</a:t>
              </a:r>
              <a:endParaRPr lang="ru-RU" altLang="ru-RU" sz="1600"/>
            </a:p>
          </p:txBody>
        </p:sp>
        <p:sp>
          <p:nvSpPr>
            <p:cNvPr id="52233" name="Text Box 8"/>
            <p:cNvSpPr txBox="1">
              <a:spLocks noChangeArrowheads="1"/>
            </p:cNvSpPr>
            <p:nvPr/>
          </p:nvSpPr>
          <p:spPr bwMode="auto">
            <a:xfrm>
              <a:off x="4093" y="1737"/>
              <a:ext cx="430" cy="168"/>
            </a:xfrm>
            <a:prstGeom prst="rect">
              <a:avLst/>
            </a:prstGeom>
            <a:solidFill>
              <a:schemeClr val="accent1">
                <a:alpha val="59999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8000" rIns="18000" bIns="18000"/>
            <a:lstStyle/>
            <a:p>
              <a:pPr algn="ctr"/>
              <a:r>
                <a:rPr lang="en-US" altLang="ru-RU" sz="1600"/>
                <a:t>G2</a:t>
              </a:r>
            </a:p>
            <a:p>
              <a:endParaRPr lang="ru-RU" altLang="ru-RU" sz="1600"/>
            </a:p>
          </p:txBody>
        </p:sp>
        <p:sp>
          <p:nvSpPr>
            <p:cNvPr id="52234" name="Line 9"/>
            <p:cNvSpPr>
              <a:spLocks noChangeShapeType="1"/>
            </p:cNvSpPr>
            <p:nvPr/>
          </p:nvSpPr>
          <p:spPr bwMode="auto">
            <a:xfrm>
              <a:off x="3715" y="1629"/>
              <a:ext cx="1239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2235" name="Line 10"/>
            <p:cNvSpPr>
              <a:spLocks noChangeShapeType="1"/>
            </p:cNvSpPr>
            <p:nvPr/>
          </p:nvSpPr>
          <p:spPr bwMode="auto">
            <a:xfrm>
              <a:off x="4302" y="1540"/>
              <a:ext cx="2" cy="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2236" name="Line 11"/>
            <p:cNvSpPr>
              <a:spLocks noChangeShapeType="1"/>
            </p:cNvSpPr>
            <p:nvPr/>
          </p:nvSpPr>
          <p:spPr bwMode="auto">
            <a:xfrm>
              <a:off x="3713" y="1642"/>
              <a:ext cx="2" cy="1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2237" name="Line 12"/>
            <p:cNvSpPr>
              <a:spLocks noChangeShapeType="1"/>
            </p:cNvSpPr>
            <p:nvPr/>
          </p:nvSpPr>
          <p:spPr bwMode="auto">
            <a:xfrm>
              <a:off x="4304" y="1625"/>
              <a:ext cx="2" cy="1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2238" name="Text Box 13"/>
            <p:cNvSpPr txBox="1">
              <a:spLocks noChangeArrowheads="1"/>
            </p:cNvSpPr>
            <p:nvPr/>
          </p:nvSpPr>
          <p:spPr bwMode="auto">
            <a:xfrm>
              <a:off x="4625" y="1737"/>
              <a:ext cx="636" cy="168"/>
            </a:xfrm>
            <a:prstGeom prst="rect">
              <a:avLst/>
            </a:prstGeom>
            <a:solidFill>
              <a:schemeClr val="accent1">
                <a:alpha val="59999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8000" rIns="18000" bIns="18000"/>
            <a:lstStyle/>
            <a:p>
              <a:pPr algn="ctr"/>
              <a:r>
                <a:rPr lang="en-US" altLang="ru-RU" sz="1600"/>
                <a:t>BRM</a:t>
              </a:r>
              <a:endParaRPr lang="ru-RU" altLang="ru-RU" sz="1600"/>
            </a:p>
          </p:txBody>
        </p:sp>
        <p:sp>
          <p:nvSpPr>
            <p:cNvPr id="52239" name="Line 14"/>
            <p:cNvSpPr>
              <a:spLocks noChangeShapeType="1"/>
            </p:cNvSpPr>
            <p:nvPr/>
          </p:nvSpPr>
          <p:spPr bwMode="auto">
            <a:xfrm>
              <a:off x="4954" y="1628"/>
              <a:ext cx="2" cy="10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881063" y="1989138"/>
            <a:ext cx="4411662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4.</a:t>
            </a:r>
            <a:r>
              <a:rPr lang="ru-RU" altLang="ru-RU" i="1"/>
              <a:t> </a:t>
            </a:r>
            <a:r>
              <a:rPr lang="ru-RU" altLang="ru-RU" b="1"/>
              <a:t>Интегрированные</a:t>
            </a:r>
            <a:r>
              <a:rPr lang="ru-RU" altLang="ru-RU"/>
              <a:t> методы моделирования объединяют различные виды моделей – структурного анализа, объектно-ориентированные, имитационные и др. </a:t>
            </a:r>
          </a:p>
        </p:txBody>
      </p:sp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881063" y="3454400"/>
            <a:ext cx="808355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/>
              <a:t>ARIS </a:t>
            </a:r>
            <a:r>
              <a:rPr lang="ru-RU" altLang="ru-RU"/>
              <a:t>(</a:t>
            </a:r>
            <a:r>
              <a:rPr lang="en-US" altLang="ru-RU"/>
              <a:t>Architecture of Integrated Information System</a:t>
            </a:r>
            <a:r>
              <a:rPr lang="ru-RU" altLang="ru-RU"/>
              <a:t>) позволяет отражать в единой интегрированной модели: оргструктуры, функции, данные, процессы. Использует множество типов моделей </a:t>
            </a:r>
          </a:p>
        </p:txBody>
      </p:sp>
      <p:sp>
        <p:nvSpPr>
          <p:cNvPr id="20499" name="Text Box 19"/>
          <p:cNvSpPr txBox="1">
            <a:spLocks noChangeArrowheads="1"/>
          </p:cNvSpPr>
          <p:nvPr/>
        </p:nvSpPr>
        <p:spPr bwMode="auto">
          <a:xfrm>
            <a:off x="881063" y="4508500"/>
            <a:ext cx="80629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/>
              <a:t>G</a:t>
            </a:r>
            <a:r>
              <a:rPr lang="ru-RU" altLang="ru-RU"/>
              <a:t>2 - методология создания динамических интеллектуальных систем</a:t>
            </a:r>
          </a:p>
          <a:p>
            <a:r>
              <a:rPr lang="ru-RU" altLang="ru-RU"/>
              <a:t>позволяет моделировать процессы с использованием знаний эксперта</a:t>
            </a:r>
          </a:p>
        </p:txBody>
      </p:sp>
      <p:sp>
        <p:nvSpPr>
          <p:cNvPr id="20500" name="Text Box 20"/>
          <p:cNvSpPr txBox="1">
            <a:spLocks noChangeArrowheads="1"/>
          </p:cNvSpPr>
          <p:nvPr/>
        </p:nvSpPr>
        <p:spPr bwMode="auto">
          <a:xfrm>
            <a:off x="881063" y="5273675"/>
            <a:ext cx="8083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/>
              <a:t>BRM</a:t>
            </a:r>
            <a:r>
              <a:rPr lang="ru-RU" altLang="ru-RU"/>
              <a:t> (</a:t>
            </a:r>
            <a:r>
              <a:rPr lang="en-US" altLang="ru-RU"/>
              <a:t>Business Rules Management</a:t>
            </a:r>
            <a:r>
              <a:rPr lang="ru-RU" altLang="ru-RU"/>
              <a:t>) – методология управления бизнес- правилами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7" grpId="0"/>
      <p:bldP spid="20498" grpId="0"/>
      <p:bldP spid="20499" grpId="0"/>
      <p:bldP spid="2050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49" name="Picture 7" descr="image00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1925" y="3128963"/>
            <a:ext cx="2520950" cy="3729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1322" name="Rectangle 10"/>
          <p:cNvSpPr>
            <a:spLocks noGrp="1" noChangeArrowheads="1"/>
          </p:cNvSpPr>
          <p:nvPr>
            <p:ph type="title"/>
          </p:nvPr>
        </p:nvSpPr>
        <p:spPr>
          <a:xfrm>
            <a:off x="919163" y="244475"/>
            <a:ext cx="7793037" cy="9667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2800" smtClean="0"/>
              <a:t>Интегрированные методы моделирования</a:t>
            </a:r>
          </a:p>
        </p:txBody>
      </p:sp>
      <p:pic>
        <p:nvPicPr>
          <p:cNvPr id="53251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6125" y="1223963"/>
            <a:ext cx="5040313" cy="2420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52" name="Picture 9" descr="image06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06938" y="2170113"/>
            <a:ext cx="4005262" cy="438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ru-RU" sz="3200" dirty="0" smtClean="0"/>
              <a:t> Цели построения </a:t>
            </a:r>
            <a:r>
              <a:rPr lang="ru-RU" sz="3200" dirty="0" err="1" smtClean="0"/>
              <a:t>бизнес-модели</a:t>
            </a:r>
            <a:endParaRPr lang="ru-RU" sz="3200" dirty="0"/>
          </a:p>
        </p:txBody>
      </p:sp>
      <p:sp>
        <p:nvSpPr>
          <p:cNvPr id="54274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sz="2800" smtClean="0"/>
              <a:t>обеспечить понимание структуры организации и динамики происходящих в ней процессов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800" smtClean="0"/>
              <a:t>обеспечить понимание текущих проблем организации и возможностей их решения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800" smtClean="0"/>
              <a:t>убедиться, что заказчики, пользователи и разработчики одинаково понимают цели и задачи организации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800" smtClean="0"/>
              <a:t>создать базу для формирования требований к будущей ИС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05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200" dirty="0" smtClean="0"/>
              <a:t>Типы </a:t>
            </a:r>
            <a:r>
              <a:rPr lang="ru-RU" sz="3200" dirty="0" err="1" smtClean="0"/>
              <a:t>бизнес-моделей</a:t>
            </a:r>
            <a:endParaRPr lang="ru-RU" sz="32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3830764"/>
              </p:ext>
            </p:extLst>
          </p:nvPr>
        </p:nvGraphicFramePr>
        <p:xfrm>
          <a:off x="914400" y="1447800"/>
          <a:ext cx="7772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800" dirty="0"/>
              <a:t>Модель бизнес-процесса должна давать ответы на вопросы: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85813" y="1600200"/>
            <a:ext cx="7900987" cy="4525963"/>
          </a:xfrm>
        </p:spPr>
        <p:txBody>
          <a:bodyPr rtlCol="0">
            <a:normAutofit lnSpcReduction="10000"/>
          </a:bodyPr>
          <a:lstStyle/>
          <a:p>
            <a:pPr marL="266700" indent="-266700" eaLnBrk="1" fontAlgn="auto" hangingPunct="1">
              <a:lnSpc>
                <a:spcPct val="80000"/>
              </a:lnSpc>
              <a:spcAft>
                <a:spcPts val="0"/>
              </a:spcAft>
              <a:buFontTx/>
              <a:buAutoNum type="arabicPeriod"/>
              <a:defRPr/>
            </a:pPr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Какие процедуры (функции, работы) необходимо выполнить для получения заданного конечного результата?</a:t>
            </a:r>
          </a:p>
          <a:p>
            <a:pPr marL="266700" indent="-266700" eaLnBrk="1" fontAlgn="auto" hangingPunct="1">
              <a:lnSpc>
                <a:spcPct val="80000"/>
              </a:lnSpc>
              <a:spcAft>
                <a:spcPts val="0"/>
              </a:spcAft>
              <a:buFontTx/>
              <a:buAutoNum type="arabicPeriod"/>
              <a:defRPr/>
            </a:pPr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 какой последовательности выполняются эти процедуры?</a:t>
            </a:r>
          </a:p>
          <a:p>
            <a:pPr marL="266700" indent="-266700" eaLnBrk="1" fontAlgn="auto" hangingPunct="1">
              <a:lnSpc>
                <a:spcPct val="80000"/>
              </a:lnSpc>
              <a:spcAft>
                <a:spcPts val="0"/>
              </a:spcAft>
              <a:buFontTx/>
              <a:buAutoNum type="arabicPeriod"/>
              <a:defRPr/>
            </a:pPr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Какие механизмы контроля и управления существуют в рамках рассматриваемого бизнес-процесса?</a:t>
            </a:r>
          </a:p>
          <a:p>
            <a:pPr marL="266700" indent="-266700" eaLnBrk="1" fontAlgn="auto" hangingPunct="1">
              <a:lnSpc>
                <a:spcPct val="80000"/>
              </a:lnSpc>
              <a:spcAft>
                <a:spcPts val="0"/>
              </a:spcAft>
              <a:buFontTx/>
              <a:buAutoNum type="arabicPeriod"/>
              <a:defRPr/>
            </a:pPr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Кто выполняет процедуры процесса?</a:t>
            </a:r>
          </a:p>
          <a:p>
            <a:pPr marL="266700" indent="-266700" eaLnBrk="1" fontAlgn="auto" hangingPunct="1">
              <a:lnSpc>
                <a:spcPct val="80000"/>
              </a:lnSpc>
              <a:spcAft>
                <a:spcPts val="0"/>
              </a:spcAft>
              <a:buFontTx/>
              <a:buAutoNum type="arabicPeriod"/>
              <a:defRPr/>
            </a:pPr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Какую входящую информацию использует каждая процедура процесса?</a:t>
            </a:r>
          </a:p>
          <a:p>
            <a:pPr marL="266700" indent="-266700" eaLnBrk="1" fontAlgn="auto" hangingPunct="1">
              <a:lnSpc>
                <a:spcPct val="80000"/>
              </a:lnSpc>
              <a:spcAft>
                <a:spcPts val="0"/>
              </a:spcAft>
              <a:buFontTx/>
              <a:buAutoNum type="arabicPeriod"/>
              <a:defRPr/>
            </a:pPr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Какую исходящую информацию генерирует процедура процесса?</a:t>
            </a:r>
          </a:p>
          <a:p>
            <a:pPr marL="266700" indent="-266700" eaLnBrk="1" fontAlgn="auto" hangingPunct="1">
              <a:lnSpc>
                <a:spcPct val="80000"/>
              </a:lnSpc>
              <a:spcAft>
                <a:spcPts val="0"/>
              </a:spcAft>
              <a:buFontTx/>
              <a:buAutoNum type="arabicPeriod"/>
              <a:defRPr/>
            </a:pPr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Какие ресурсы необходимы для выполнения каждой процедуры процесса?</a:t>
            </a:r>
          </a:p>
          <a:p>
            <a:pPr marL="266700" indent="-266700" eaLnBrk="1" fontAlgn="auto" hangingPunct="1">
              <a:lnSpc>
                <a:spcPct val="80000"/>
              </a:lnSpc>
              <a:spcAft>
                <a:spcPts val="0"/>
              </a:spcAft>
              <a:buFontTx/>
              <a:buAutoNum type="arabicPeriod"/>
              <a:defRPr/>
            </a:pPr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Какие условия регламентируют выполнение процедуры?</a:t>
            </a:r>
          </a:p>
          <a:p>
            <a:pPr marL="266700" indent="-266700" eaLnBrk="1" fontAlgn="auto" hangingPunct="1">
              <a:lnSpc>
                <a:spcPct val="80000"/>
              </a:lnSpc>
              <a:spcAft>
                <a:spcPts val="0"/>
              </a:spcAft>
              <a:buFontTx/>
              <a:buAutoNum type="arabicPeriod"/>
              <a:defRPr/>
            </a:pPr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Какие параметры характеризуют выполнение процедур и процесса в целом?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398588" y="609600"/>
            <a:ext cx="7059612" cy="1143000"/>
          </a:xfrm>
          <a:extLst/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4000" smtClean="0"/>
              <a:t>Построение бизнес-модели</a:t>
            </a:r>
          </a:p>
        </p:txBody>
      </p:sp>
      <p:pic>
        <p:nvPicPr>
          <p:cNvPr id="57346" name="Picture 4" descr="i_034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871538" y="2017713"/>
            <a:ext cx="6432550" cy="2851150"/>
          </a:xfrm>
        </p:spPr>
      </p:pic>
      <p:sp>
        <p:nvSpPr>
          <p:cNvPr id="12390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117600" y="5589588"/>
            <a:ext cx="7340600" cy="827087"/>
          </a:xfrm>
          <a:extLst/>
        </p:spPr>
        <p:txBody>
          <a:bodyPr rtlCol="0">
            <a:normAutofit fontScale="925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altLang="ru-RU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Функциональная декомпозиция – процесс разбиения общей функции на подфункции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endParaRPr lang="ru-RU" altLang="ru-RU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06488" y="369888"/>
            <a:ext cx="7772400" cy="479425"/>
          </a:xfrm>
          <a:extLst/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4000" smtClean="0"/>
              <a:t>Декомпозиция процесса</a:t>
            </a:r>
          </a:p>
        </p:txBody>
      </p:sp>
      <p:pic>
        <p:nvPicPr>
          <p:cNvPr id="59394" name="Picture 3" descr="idef0-deco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524000"/>
            <a:ext cx="8001000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828675"/>
          </a:xfrm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4400" dirty="0" smtClean="0"/>
              <a:t>Декомпозиция процесса</a:t>
            </a:r>
          </a:p>
        </p:txBody>
      </p:sp>
      <p:pic>
        <p:nvPicPr>
          <p:cNvPr id="6144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2163" y="1412875"/>
            <a:ext cx="6988175" cy="481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728663"/>
            <a:ext cx="7793037" cy="94773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Методология </a:t>
            </a:r>
            <a:r>
              <a:rPr lang="en-US" altLang="ru-RU" smtClean="0"/>
              <a:t>IDEF0</a:t>
            </a:r>
            <a:endParaRPr lang="ru-RU" altLang="ru-RU" smtClean="0"/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431800" y="1854200"/>
            <a:ext cx="8326438" cy="166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45000"/>
              </a:spcBef>
            </a:pPr>
            <a:r>
              <a:rPr lang="ru-RU" altLang="ru-RU" sz="1600"/>
              <a:t>Методология </a:t>
            </a:r>
            <a:r>
              <a:rPr lang="en-US" altLang="ru-RU" sz="1600"/>
              <a:t>IDEF</a:t>
            </a:r>
            <a:r>
              <a:rPr lang="ru-RU" altLang="ru-RU" sz="1600"/>
              <a:t>0 базируется на методе </a:t>
            </a:r>
            <a:r>
              <a:rPr lang="en-US" altLang="ru-RU" sz="1600"/>
              <a:t>SADT</a:t>
            </a:r>
            <a:r>
              <a:rPr lang="ru-RU" altLang="ru-RU" sz="1600"/>
              <a:t> (</a:t>
            </a:r>
            <a:r>
              <a:rPr lang="en-US" altLang="ru-RU" sz="1600"/>
              <a:t>Structured Analysis and Design Technique</a:t>
            </a:r>
            <a:r>
              <a:rPr lang="ru-RU" altLang="ru-RU" sz="1600"/>
              <a:t>) Росса, предназначенном для структурированного представления функций системы и анализа системных требований. </a:t>
            </a:r>
            <a:endParaRPr lang="en-US" altLang="ru-RU" sz="1600"/>
          </a:p>
          <a:p>
            <a:pPr>
              <a:spcBef>
                <a:spcPct val="45000"/>
              </a:spcBef>
            </a:pPr>
            <a:r>
              <a:rPr lang="en-US" altLang="ru-RU" sz="1600"/>
              <a:t>IDEF</a:t>
            </a:r>
            <a:r>
              <a:rPr lang="ru-RU" altLang="ru-RU" sz="1600"/>
              <a:t>0-модель состоит из диаграмм и фрагментов текста. На диаграммах все функции системы и их взаимодействия  представлены как блоки (функции) и дуги (отношения).</a:t>
            </a:r>
            <a:endParaRPr lang="en-US" altLang="ru-RU" sz="1600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57225" y="4005263"/>
            <a:ext cx="4103688" cy="2065337"/>
            <a:chOff x="703" y="2523"/>
            <a:chExt cx="2585" cy="1301"/>
          </a:xfrm>
        </p:grpSpPr>
        <p:sp>
          <p:nvSpPr>
            <p:cNvPr id="63493" name="Line 9"/>
            <p:cNvSpPr>
              <a:spLocks noChangeShapeType="1"/>
            </p:cNvSpPr>
            <p:nvPr/>
          </p:nvSpPr>
          <p:spPr bwMode="auto">
            <a:xfrm>
              <a:off x="1771" y="3339"/>
              <a:ext cx="1" cy="2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lg" len="lg"/>
              <a:tailEnd type="none" w="sm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3494" name="Line 10"/>
            <p:cNvSpPr>
              <a:spLocks noChangeShapeType="1"/>
            </p:cNvSpPr>
            <p:nvPr/>
          </p:nvSpPr>
          <p:spPr bwMode="auto">
            <a:xfrm>
              <a:off x="2064" y="3339"/>
              <a:ext cx="1" cy="2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lg" len="lg"/>
              <a:tailEnd type="none" w="sm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3495" name="Text Box 11"/>
            <p:cNvSpPr txBox="1">
              <a:spLocks noChangeArrowheads="1"/>
            </p:cNvSpPr>
            <p:nvPr/>
          </p:nvSpPr>
          <p:spPr bwMode="auto">
            <a:xfrm>
              <a:off x="1568" y="3618"/>
              <a:ext cx="680" cy="20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ru-RU" altLang="ru-RU" sz="1400">
                  <a:latin typeface="Arial" charset="0"/>
                </a:rPr>
                <a:t>Механизм</a:t>
              </a:r>
            </a:p>
          </p:txBody>
        </p:sp>
        <p:sp>
          <p:nvSpPr>
            <p:cNvPr id="63496" name="Text Box 12"/>
            <p:cNvSpPr txBox="1">
              <a:spLocks noChangeArrowheads="1"/>
            </p:cNvSpPr>
            <p:nvPr/>
          </p:nvSpPr>
          <p:spPr bwMode="auto">
            <a:xfrm>
              <a:off x="1565" y="2523"/>
              <a:ext cx="725" cy="2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ru-RU" altLang="ru-RU" sz="1400">
                  <a:latin typeface="Arial" charset="0"/>
                </a:rPr>
                <a:t>Управление</a:t>
              </a:r>
            </a:p>
          </p:txBody>
        </p:sp>
        <p:sp>
          <p:nvSpPr>
            <p:cNvPr id="63497" name="Text Box 13"/>
            <p:cNvSpPr txBox="1">
              <a:spLocks noChangeArrowheads="1"/>
            </p:cNvSpPr>
            <p:nvPr/>
          </p:nvSpPr>
          <p:spPr bwMode="auto">
            <a:xfrm>
              <a:off x="703" y="3047"/>
              <a:ext cx="369" cy="20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ru-RU" altLang="ru-RU" sz="1400">
                  <a:latin typeface="Arial" charset="0"/>
                </a:rPr>
                <a:t>Входы</a:t>
              </a:r>
            </a:p>
          </p:txBody>
        </p:sp>
        <p:sp>
          <p:nvSpPr>
            <p:cNvPr id="63498" name="Line 14"/>
            <p:cNvSpPr>
              <a:spLocks noChangeShapeType="1"/>
            </p:cNvSpPr>
            <p:nvPr/>
          </p:nvSpPr>
          <p:spPr bwMode="auto">
            <a:xfrm>
              <a:off x="1145" y="3047"/>
              <a:ext cx="34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3499" name="Line 15"/>
            <p:cNvSpPr>
              <a:spLocks noChangeShapeType="1"/>
            </p:cNvSpPr>
            <p:nvPr/>
          </p:nvSpPr>
          <p:spPr bwMode="auto">
            <a:xfrm>
              <a:off x="1145" y="3253"/>
              <a:ext cx="34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3500" name="Text Box 16"/>
            <p:cNvSpPr txBox="1">
              <a:spLocks noChangeArrowheads="1"/>
            </p:cNvSpPr>
            <p:nvPr/>
          </p:nvSpPr>
          <p:spPr bwMode="auto">
            <a:xfrm>
              <a:off x="2794" y="3047"/>
              <a:ext cx="494" cy="20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ru-RU" altLang="ru-RU" sz="1400">
                  <a:latin typeface="Arial" charset="0"/>
                </a:rPr>
                <a:t>Выходы</a:t>
              </a:r>
            </a:p>
          </p:txBody>
        </p:sp>
        <p:sp>
          <p:nvSpPr>
            <p:cNvPr id="63501" name="Line 17"/>
            <p:cNvSpPr>
              <a:spLocks noChangeShapeType="1"/>
            </p:cNvSpPr>
            <p:nvPr/>
          </p:nvSpPr>
          <p:spPr bwMode="auto">
            <a:xfrm>
              <a:off x="2373" y="3047"/>
              <a:ext cx="3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3502" name="Line 18"/>
            <p:cNvSpPr>
              <a:spLocks noChangeShapeType="1"/>
            </p:cNvSpPr>
            <p:nvPr/>
          </p:nvSpPr>
          <p:spPr bwMode="auto">
            <a:xfrm>
              <a:off x="2373" y="3253"/>
              <a:ext cx="3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3503" name="Line 19"/>
            <p:cNvSpPr>
              <a:spLocks noChangeShapeType="1"/>
            </p:cNvSpPr>
            <p:nvPr/>
          </p:nvSpPr>
          <p:spPr bwMode="auto">
            <a:xfrm>
              <a:off x="1769" y="2668"/>
              <a:ext cx="0" cy="2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3504" name="Line 20"/>
            <p:cNvSpPr>
              <a:spLocks noChangeShapeType="1"/>
            </p:cNvSpPr>
            <p:nvPr/>
          </p:nvSpPr>
          <p:spPr bwMode="auto">
            <a:xfrm>
              <a:off x="2062" y="2668"/>
              <a:ext cx="0" cy="2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3505" name="Text Box 21"/>
            <p:cNvSpPr txBox="1">
              <a:spLocks noChangeArrowheads="1"/>
            </p:cNvSpPr>
            <p:nvPr/>
          </p:nvSpPr>
          <p:spPr bwMode="auto">
            <a:xfrm>
              <a:off x="1474" y="2931"/>
              <a:ext cx="862" cy="4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18800" bIns="118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400">
                  <a:latin typeface="Arial" charset="0"/>
                </a:rPr>
                <a:t>Функциональ-ный блок</a:t>
              </a:r>
            </a:p>
          </p:txBody>
        </p:sp>
      </p:grpSp>
      <p:sp>
        <p:nvSpPr>
          <p:cNvPr id="21526" name="Rectangle 22"/>
          <p:cNvSpPr>
            <a:spLocks noChangeArrowheads="1"/>
          </p:cNvSpPr>
          <p:nvPr/>
        </p:nvSpPr>
        <p:spPr bwMode="auto">
          <a:xfrm>
            <a:off x="4930775" y="3414713"/>
            <a:ext cx="4013200" cy="302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3038" indent="-173038"/>
            <a:r>
              <a:rPr lang="ru-RU" altLang="ru-RU" sz="1600"/>
              <a:t>Основные элементы модели: </a:t>
            </a:r>
          </a:p>
          <a:p>
            <a:pPr marL="173038" indent="-173038">
              <a:spcBef>
                <a:spcPct val="20000"/>
              </a:spcBef>
              <a:buFontTx/>
              <a:buChar char="•"/>
            </a:pPr>
            <a:r>
              <a:rPr lang="ru-RU" altLang="ru-RU" sz="1600"/>
              <a:t>Функциональный блок (</a:t>
            </a:r>
            <a:r>
              <a:rPr lang="en-US" altLang="ru-RU" sz="1600"/>
              <a:t>Activity</a:t>
            </a:r>
            <a:r>
              <a:rPr lang="ru-RU" altLang="ru-RU" sz="1600"/>
              <a:t>) – преобразование (активность);</a:t>
            </a:r>
          </a:p>
          <a:p>
            <a:pPr marL="173038" indent="-173038">
              <a:spcBef>
                <a:spcPct val="20000"/>
              </a:spcBef>
              <a:buFontTx/>
              <a:buChar char="•"/>
            </a:pPr>
            <a:r>
              <a:rPr lang="ru-RU" altLang="ru-RU" sz="1600"/>
              <a:t>Выходы (</a:t>
            </a:r>
            <a:r>
              <a:rPr lang="en-US" altLang="ru-RU" sz="1600"/>
              <a:t>Output</a:t>
            </a:r>
            <a:r>
              <a:rPr lang="ru-RU" altLang="ru-RU" sz="1600"/>
              <a:t>) – результат преобразования;</a:t>
            </a:r>
          </a:p>
          <a:p>
            <a:pPr marL="173038" indent="-173038">
              <a:spcBef>
                <a:spcPct val="20000"/>
              </a:spcBef>
              <a:buFontTx/>
              <a:buChar char="•"/>
            </a:pPr>
            <a:r>
              <a:rPr lang="ru-RU" altLang="ru-RU" sz="1600"/>
              <a:t>Входы (</a:t>
            </a:r>
            <a:r>
              <a:rPr lang="en-US" altLang="ru-RU" sz="1600"/>
              <a:t>Input</a:t>
            </a:r>
            <a:r>
              <a:rPr lang="ru-RU" altLang="ru-RU" sz="1600"/>
              <a:t>) - объекты, которые преобразуются в Выходы;</a:t>
            </a:r>
          </a:p>
          <a:p>
            <a:pPr marL="173038" indent="-173038">
              <a:spcBef>
                <a:spcPct val="20000"/>
              </a:spcBef>
              <a:buFontTx/>
              <a:buChar char="•"/>
            </a:pPr>
            <a:r>
              <a:rPr lang="ru-RU" altLang="ru-RU" sz="1600"/>
              <a:t>Управление (</a:t>
            </a:r>
            <a:r>
              <a:rPr lang="en-US" altLang="ru-RU" sz="1600"/>
              <a:t>Control</a:t>
            </a:r>
            <a:r>
              <a:rPr lang="ru-RU" altLang="ru-RU" sz="1600"/>
              <a:t>) - информация, как происходит преобразование;</a:t>
            </a:r>
          </a:p>
          <a:p>
            <a:pPr marL="173038" indent="-173038">
              <a:spcBef>
                <a:spcPct val="20000"/>
              </a:spcBef>
              <a:buFontTx/>
              <a:buChar char="•"/>
            </a:pPr>
            <a:r>
              <a:rPr lang="ru-RU" altLang="ru-RU" sz="1600"/>
              <a:t>Механизм (</a:t>
            </a:r>
            <a:r>
              <a:rPr lang="en-US" altLang="ru-RU" sz="1600"/>
              <a:t>Mechanism</a:t>
            </a:r>
            <a:r>
              <a:rPr lang="ru-RU" altLang="ru-RU" sz="1600"/>
              <a:t>) – объекты, осуществляющие преобразование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1" grpId="0"/>
      <p:bldP spid="215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84213"/>
            <a:ext cx="7793037" cy="99218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Методология </a:t>
            </a:r>
            <a:r>
              <a:rPr lang="en-US" altLang="ru-RU" smtClean="0"/>
              <a:t>IDEF0</a:t>
            </a:r>
            <a:endParaRPr lang="ru-RU" altLang="ru-RU" smtClean="0"/>
          </a:p>
        </p:txBody>
      </p:sp>
      <p:grpSp>
        <p:nvGrpSpPr>
          <p:cNvPr id="64514" name="Group 75"/>
          <p:cNvGrpSpPr>
            <a:grpSpLocks/>
          </p:cNvGrpSpPr>
          <p:nvPr/>
        </p:nvGrpSpPr>
        <p:grpSpPr bwMode="auto">
          <a:xfrm>
            <a:off x="838200" y="1827213"/>
            <a:ext cx="4824413" cy="4824412"/>
            <a:chOff x="521" y="935"/>
            <a:chExt cx="3039" cy="3039"/>
          </a:xfrm>
        </p:grpSpPr>
        <p:grpSp>
          <p:nvGrpSpPr>
            <p:cNvPr id="64516" name="Group 76"/>
            <p:cNvGrpSpPr>
              <a:grpSpLocks/>
            </p:cNvGrpSpPr>
            <p:nvPr/>
          </p:nvGrpSpPr>
          <p:grpSpPr bwMode="auto">
            <a:xfrm>
              <a:off x="521" y="935"/>
              <a:ext cx="3031" cy="3039"/>
              <a:chOff x="529" y="935"/>
              <a:chExt cx="2112" cy="2613"/>
            </a:xfrm>
          </p:grpSpPr>
          <p:sp>
            <p:nvSpPr>
              <p:cNvPr id="64519" name="Rectangle 77"/>
              <p:cNvSpPr>
                <a:spLocks noChangeArrowheads="1"/>
              </p:cNvSpPr>
              <p:nvPr/>
            </p:nvSpPr>
            <p:spPr bwMode="auto">
              <a:xfrm>
                <a:off x="1172" y="1710"/>
                <a:ext cx="1469" cy="83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 altLang="ru-RU"/>
              </a:p>
            </p:txBody>
          </p:sp>
          <p:sp>
            <p:nvSpPr>
              <p:cNvPr id="64520" name="Rectangle 78"/>
              <p:cNvSpPr>
                <a:spLocks noChangeArrowheads="1"/>
              </p:cNvSpPr>
              <p:nvPr/>
            </p:nvSpPr>
            <p:spPr bwMode="auto">
              <a:xfrm>
                <a:off x="567" y="1049"/>
                <a:ext cx="959" cy="49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 altLang="ru-RU"/>
              </a:p>
            </p:txBody>
          </p:sp>
          <p:sp>
            <p:nvSpPr>
              <p:cNvPr id="64521" name="Text Box 79"/>
              <p:cNvSpPr txBox="1">
                <a:spLocks noChangeArrowheads="1"/>
              </p:cNvSpPr>
              <p:nvPr/>
            </p:nvSpPr>
            <p:spPr bwMode="auto">
              <a:xfrm>
                <a:off x="780" y="935"/>
                <a:ext cx="472" cy="9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/>
                <a:r>
                  <a:rPr lang="ru-RU" altLang="ru-RU" sz="1200">
                    <a:latin typeface="Arial" charset="0"/>
                  </a:rPr>
                  <a:t>Диаграмма А-0</a:t>
                </a:r>
              </a:p>
            </p:txBody>
          </p:sp>
          <p:grpSp>
            <p:nvGrpSpPr>
              <p:cNvPr id="64522" name="Group 80"/>
              <p:cNvGrpSpPr>
                <a:grpSpLocks/>
              </p:cNvGrpSpPr>
              <p:nvPr/>
            </p:nvGrpSpPr>
            <p:grpSpPr bwMode="auto">
              <a:xfrm>
                <a:off x="882" y="1200"/>
                <a:ext cx="212" cy="141"/>
                <a:chOff x="1236" y="4912"/>
                <a:chExt cx="623" cy="419"/>
              </a:xfrm>
            </p:grpSpPr>
            <p:sp>
              <p:nvSpPr>
                <p:cNvPr id="64585" name="Rectangle 81"/>
                <p:cNvSpPr>
                  <a:spLocks noChangeArrowheads="1"/>
                </p:cNvSpPr>
                <p:nvPr/>
              </p:nvSpPr>
              <p:spPr bwMode="auto">
                <a:xfrm>
                  <a:off x="1236" y="4912"/>
                  <a:ext cx="623" cy="41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ru-RU" altLang="ru-RU"/>
                </a:p>
              </p:txBody>
            </p:sp>
            <p:sp>
              <p:nvSpPr>
                <p:cNvPr id="64586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1565" y="5080"/>
                  <a:ext cx="246" cy="22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r>
                    <a:rPr lang="ru-RU" altLang="ru-RU" sz="900">
                      <a:latin typeface="Arial" charset="0"/>
                    </a:rPr>
                    <a:t>А0</a:t>
                  </a:r>
                </a:p>
              </p:txBody>
            </p:sp>
          </p:grpSp>
          <p:sp>
            <p:nvSpPr>
              <p:cNvPr id="64523" name="Line 83"/>
              <p:cNvSpPr>
                <a:spLocks noChangeShapeType="1"/>
              </p:cNvSpPr>
              <p:nvPr/>
            </p:nvSpPr>
            <p:spPr bwMode="auto">
              <a:xfrm>
                <a:off x="706" y="1253"/>
                <a:ext cx="17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24" name="Line 84"/>
              <p:cNvSpPr>
                <a:spLocks noChangeShapeType="1"/>
              </p:cNvSpPr>
              <p:nvPr/>
            </p:nvSpPr>
            <p:spPr bwMode="auto">
              <a:xfrm>
                <a:off x="706" y="1306"/>
                <a:ext cx="17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25" name="Line 85"/>
              <p:cNvSpPr>
                <a:spLocks noChangeShapeType="1"/>
              </p:cNvSpPr>
              <p:nvPr/>
            </p:nvSpPr>
            <p:spPr bwMode="auto">
              <a:xfrm>
                <a:off x="1094" y="1270"/>
                <a:ext cx="15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26" name="Line 86"/>
              <p:cNvSpPr>
                <a:spLocks noChangeShapeType="1"/>
              </p:cNvSpPr>
              <p:nvPr/>
            </p:nvSpPr>
            <p:spPr bwMode="auto">
              <a:xfrm>
                <a:off x="988" y="1095"/>
                <a:ext cx="0" cy="10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64527" name="Group 87"/>
              <p:cNvGrpSpPr>
                <a:grpSpLocks/>
              </p:cNvGrpSpPr>
              <p:nvPr/>
            </p:nvGrpSpPr>
            <p:grpSpPr bwMode="auto">
              <a:xfrm>
                <a:off x="1787" y="2034"/>
                <a:ext cx="212" cy="141"/>
                <a:chOff x="1236" y="4912"/>
                <a:chExt cx="623" cy="419"/>
              </a:xfrm>
            </p:grpSpPr>
            <p:sp>
              <p:nvSpPr>
                <p:cNvPr id="64583" name="Rectangle 88"/>
                <p:cNvSpPr>
                  <a:spLocks noChangeArrowheads="1"/>
                </p:cNvSpPr>
                <p:nvPr/>
              </p:nvSpPr>
              <p:spPr bwMode="auto">
                <a:xfrm>
                  <a:off x="1236" y="4912"/>
                  <a:ext cx="623" cy="41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ru-RU" altLang="ru-RU"/>
                </a:p>
              </p:txBody>
            </p:sp>
            <p:sp>
              <p:nvSpPr>
                <p:cNvPr id="64584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1565" y="5080"/>
                  <a:ext cx="246" cy="22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r>
                    <a:rPr lang="ru-RU" altLang="ru-RU" sz="900">
                      <a:latin typeface="Arial" charset="0"/>
                    </a:rPr>
                    <a:t>А2</a:t>
                  </a:r>
                </a:p>
              </p:txBody>
            </p:sp>
          </p:grpSp>
          <p:grpSp>
            <p:nvGrpSpPr>
              <p:cNvPr id="64528" name="Group 90"/>
              <p:cNvGrpSpPr>
                <a:grpSpLocks/>
              </p:cNvGrpSpPr>
              <p:nvPr/>
            </p:nvGrpSpPr>
            <p:grpSpPr bwMode="auto">
              <a:xfrm>
                <a:off x="1471" y="1871"/>
                <a:ext cx="212" cy="141"/>
                <a:chOff x="1236" y="4912"/>
                <a:chExt cx="623" cy="419"/>
              </a:xfrm>
            </p:grpSpPr>
            <p:sp>
              <p:nvSpPr>
                <p:cNvPr id="64581" name="Rectangle 91"/>
                <p:cNvSpPr>
                  <a:spLocks noChangeArrowheads="1"/>
                </p:cNvSpPr>
                <p:nvPr/>
              </p:nvSpPr>
              <p:spPr bwMode="auto">
                <a:xfrm>
                  <a:off x="1236" y="4912"/>
                  <a:ext cx="623" cy="41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ru-RU" altLang="ru-RU"/>
                </a:p>
              </p:txBody>
            </p:sp>
            <p:sp>
              <p:nvSpPr>
                <p:cNvPr id="64582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1565" y="5080"/>
                  <a:ext cx="246" cy="22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r>
                    <a:rPr lang="ru-RU" altLang="ru-RU" sz="900">
                      <a:latin typeface="Arial" charset="0"/>
                    </a:rPr>
                    <a:t>А1</a:t>
                  </a:r>
                </a:p>
              </p:txBody>
            </p:sp>
          </p:grpSp>
          <p:sp>
            <p:nvSpPr>
              <p:cNvPr id="64529" name="Line 93"/>
              <p:cNvSpPr>
                <a:spLocks noChangeShapeType="1"/>
              </p:cNvSpPr>
              <p:nvPr/>
            </p:nvSpPr>
            <p:spPr bwMode="auto">
              <a:xfrm flipV="1">
                <a:off x="994" y="1341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30" name="Line 94"/>
              <p:cNvSpPr>
                <a:spLocks noChangeShapeType="1"/>
              </p:cNvSpPr>
              <p:nvPr/>
            </p:nvSpPr>
            <p:spPr bwMode="auto">
              <a:xfrm flipV="1">
                <a:off x="1582" y="2012"/>
                <a:ext cx="2" cy="40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64531" name="Group 95"/>
              <p:cNvGrpSpPr>
                <a:grpSpLocks/>
              </p:cNvGrpSpPr>
              <p:nvPr/>
            </p:nvGrpSpPr>
            <p:grpSpPr bwMode="auto">
              <a:xfrm>
                <a:off x="2168" y="2175"/>
                <a:ext cx="211" cy="141"/>
                <a:chOff x="1236" y="4912"/>
                <a:chExt cx="623" cy="419"/>
              </a:xfrm>
            </p:grpSpPr>
            <p:sp>
              <p:nvSpPr>
                <p:cNvPr id="64579" name="Rectangle 96"/>
                <p:cNvSpPr>
                  <a:spLocks noChangeArrowheads="1"/>
                </p:cNvSpPr>
                <p:nvPr/>
              </p:nvSpPr>
              <p:spPr bwMode="auto">
                <a:xfrm>
                  <a:off x="1236" y="4912"/>
                  <a:ext cx="623" cy="41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ru-RU" altLang="ru-RU"/>
                </a:p>
              </p:txBody>
            </p:sp>
            <p:sp>
              <p:nvSpPr>
                <p:cNvPr id="64580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1565" y="5080"/>
                  <a:ext cx="246" cy="22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r>
                    <a:rPr lang="ru-RU" altLang="ru-RU" sz="900">
                      <a:latin typeface="Arial" charset="0"/>
                    </a:rPr>
                    <a:t>А3</a:t>
                  </a:r>
                </a:p>
              </p:txBody>
            </p:sp>
          </p:grpSp>
          <p:sp>
            <p:nvSpPr>
              <p:cNvPr id="64532" name="Text Box 98"/>
              <p:cNvSpPr txBox="1">
                <a:spLocks noChangeArrowheads="1"/>
              </p:cNvSpPr>
              <p:nvPr/>
            </p:nvSpPr>
            <p:spPr bwMode="auto">
              <a:xfrm>
                <a:off x="1526" y="2418"/>
                <a:ext cx="91" cy="9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ru-RU" altLang="ru-RU" sz="900">
                    <a:latin typeface="Arial" charset="0"/>
                  </a:rPr>
                  <a:t>М</a:t>
                </a:r>
                <a:r>
                  <a:rPr lang="en-US" altLang="ru-RU" sz="900">
                    <a:latin typeface="Arial" charset="0"/>
                  </a:rPr>
                  <a:t>1</a:t>
                </a:r>
                <a:endParaRPr lang="ru-RU" altLang="ru-RU" sz="900">
                  <a:latin typeface="Arial" charset="0"/>
                </a:endParaRPr>
              </a:p>
            </p:txBody>
          </p:sp>
          <p:sp>
            <p:nvSpPr>
              <p:cNvPr id="64533" name="Line 99"/>
              <p:cNvSpPr>
                <a:spLocks noChangeShapeType="1"/>
              </p:cNvSpPr>
              <p:nvPr/>
            </p:nvSpPr>
            <p:spPr bwMode="auto">
              <a:xfrm>
                <a:off x="1584" y="2372"/>
                <a:ext cx="6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34" name="Line 100"/>
              <p:cNvSpPr>
                <a:spLocks noChangeShapeType="1"/>
              </p:cNvSpPr>
              <p:nvPr/>
            </p:nvSpPr>
            <p:spPr bwMode="auto">
              <a:xfrm flipV="1">
                <a:off x="1898" y="2175"/>
                <a:ext cx="1" cy="19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35" name="Line 101"/>
              <p:cNvSpPr>
                <a:spLocks noChangeShapeType="1"/>
              </p:cNvSpPr>
              <p:nvPr/>
            </p:nvSpPr>
            <p:spPr bwMode="auto">
              <a:xfrm flipV="1">
                <a:off x="2273" y="2316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36" name="Text Box 102"/>
              <p:cNvSpPr txBox="1">
                <a:spLocks noChangeArrowheads="1"/>
              </p:cNvSpPr>
              <p:nvPr/>
            </p:nvSpPr>
            <p:spPr bwMode="auto">
              <a:xfrm>
                <a:off x="1617" y="1596"/>
                <a:ext cx="472" cy="9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/>
                <a:r>
                  <a:rPr lang="ru-RU" altLang="ru-RU" sz="1200">
                    <a:latin typeface="Arial" charset="0"/>
                  </a:rPr>
                  <a:t>Диаграмма А0</a:t>
                </a:r>
              </a:p>
            </p:txBody>
          </p:sp>
          <p:sp>
            <p:nvSpPr>
              <p:cNvPr id="64537" name="Rectangle 103"/>
              <p:cNvSpPr>
                <a:spLocks noChangeArrowheads="1"/>
              </p:cNvSpPr>
              <p:nvPr/>
            </p:nvSpPr>
            <p:spPr bwMode="auto">
              <a:xfrm>
                <a:off x="529" y="2759"/>
                <a:ext cx="1470" cy="78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 altLang="ru-RU"/>
              </a:p>
            </p:txBody>
          </p:sp>
          <p:sp>
            <p:nvSpPr>
              <p:cNvPr id="64538" name="Rectangle 104"/>
              <p:cNvSpPr>
                <a:spLocks noChangeArrowheads="1"/>
              </p:cNvSpPr>
              <p:nvPr/>
            </p:nvSpPr>
            <p:spPr bwMode="auto">
              <a:xfrm>
                <a:off x="1145" y="3050"/>
                <a:ext cx="211" cy="14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 altLang="ru-RU"/>
              </a:p>
            </p:txBody>
          </p:sp>
          <p:sp>
            <p:nvSpPr>
              <p:cNvPr id="64539" name="Text Box 105"/>
              <p:cNvSpPr txBox="1">
                <a:spLocks noChangeArrowheads="1"/>
              </p:cNvSpPr>
              <p:nvPr/>
            </p:nvSpPr>
            <p:spPr bwMode="auto">
              <a:xfrm>
                <a:off x="1228" y="3107"/>
                <a:ext cx="112" cy="7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ru-RU" altLang="ru-RU" sz="900">
                    <a:latin typeface="Arial" charset="0"/>
                  </a:rPr>
                  <a:t>А12</a:t>
                </a:r>
              </a:p>
            </p:txBody>
          </p:sp>
          <p:sp>
            <p:nvSpPr>
              <p:cNvPr id="64540" name="Rectangle 106"/>
              <p:cNvSpPr>
                <a:spLocks noChangeArrowheads="1"/>
              </p:cNvSpPr>
              <p:nvPr/>
            </p:nvSpPr>
            <p:spPr bwMode="auto">
              <a:xfrm>
                <a:off x="780" y="2887"/>
                <a:ext cx="211" cy="1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 altLang="ru-RU"/>
              </a:p>
            </p:txBody>
          </p:sp>
          <p:sp>
            <p:nvSpPr>
              <p:cNvPr id="64541" name="Text Box 107"/>
              <p:cNvSpPr txBox="1">
                <a:spLocks noChangeArrowheads="1"/>
              </p:cNvSpPr>
              <p:nvPr/>
            </p:nvSpPr>
            <p:spPr bwMode="auto">
              <a:xfrm>
                <a:off x="861" y="2943"/>
                <a:ext cx="114" cy="7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ru-RU" altLang="ru-RU" sz="900">
                    <a:latin typeface="Arial" charset="0"/>
                  </a:rPr>
                  <a:t>А11</a:t>
                </a:r>
              </a:p>
            </p:txBody>
          </p:sp>
          <p:sp>
            <p:nvSpPr>
              <p:cNvPr id="64542" name="Line 108"/>
              <p:cNvSpPr>
                <a:spLocks noChangeShapeType="1"/>
              </p:cNvSpPr>
              <p:nvPr/>
            </p:nvSpPr>
            <p:spPr bwMode="auto">
              <a:xfrm flipV="1">
                <a:off x="888" y="3027"/>
                <a:ext cx="2" cy="4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43" name="Rectangle 109"/>
              <p:cNvSpPr>
                <a:spLocks noChangeArrowheads="1"/>
              </p:cNvSpPr>
              <p:nvPr/>
            </p:nvSpPr>
            <p:spPr bwMode="auto">
              <a:xfrm>
                <a:off x="1525" y="3191"/>
                <a:ext cx="211" cy="14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 altLang="ru-RU"/>
              </a:p>
            </p:txBody>
          </p:sp>
          <p:sp>
            <p:nvSpPr>
              <p:cNvPr id="64544" name="Text Box 110"/>
              <p:cNvSpPr txBox="1">
                <a:spLocks noChangeArrowheads="1"/>
              </p:cNvSpPr>
              <p:nvPr/>
            </p:nvSpPr>
            <p:spPr bwMode="auto">
              <a:xfrm>
                <a:off x="1593" y="3247"/>
                <a:ext cx="114" cy="7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ru-RU" altLang="ru-RU" sz="900">
                    <a:latin typeface="Arial" charset="0"/>
                  </a:rPr>
                  <a:t>А13</a:t>
                </a:r>
              </a:p>
            </p:txBody>
          </p:sp>
          <p:sp>
            <p:nvSpPr>
              <p:cNvPr id="64545" name="Text Box 111"/>
              <p:cNvSpPr txBox="1">
                <a:spLocks noChangeArrowheads="1"/>
              </p:cNvSpPr>
              <p:nvPr/>
            </p:nvSpPr>
            <p:spPr bwMode="auto">
              <a:xfrm>
                <a:off x="832" y="3434"/>
                <a:ext cx="91" cy="9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ru-RU" altLang="ru-RU" sz="900">
                    <a:latin typeface="Arial" charset="0"/>
                  </a:rPr>
                  <a:t>М</a:t>
                </a:r>
                <a:r>
                  <a:rPr lang="en-US" altLang="ru-RU" sz="900">
                    <a:latin typeface="Arial" charset="0"/>
                  </a:rPr>
                  <a:t>1</a:t>
                </a:r>
                <a:endParaRPr lang="ru-RU" altLang="ru-RU" sz="900">
                  <a:latin typeface="Arial" charset="0"/>
                </a:endParaRPr>
              </a:p>
            </p:txBody>
          </p:sp>
          <p:sp>
            <p:nvSpPr>
              <p:cNvPr id="64546" name="Line 112"/>
              <p:cNvSpPr>
                <a:spLocks noChangeShapeType="1"/>
              </p:cNvSpPr>
              <p:nvPr/>
            </p:nvSpPr>
            <p:spPr bwMode="auto">
              <a:xfrm>
                <a:off x="882" y="3388"/>
                <a:ext cx="74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47" name="Line 113"/>
              <p:cNvSpPr>
                <a:spLocks noChangeShapeType="1"/>
              </p:cNvSpPr>
              <p:nvPr/>
            </p:nvSpPr>
            <p:spPr bwMode="auto">
              <a:xfrm flipV="1">
                <a:off x="1244" y="3191"/>
                <a:ext cx="1" cy="20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48" name="Line 114"/>
              <p:cNvSpPr>
                <a:spLocks noChangeShapeType="1"/>
              </p:cNvSpPr>
              <p:nvPr/>
            </p:nvSpPr>
            <p:spPr bwMode="auto">
              <a:xfrm flipV="1">
                <a:off x="1630" y="3325"/>
                <a:ext cx="1" cy="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49" name="Text Box 115"/>
              <p:cNvSpPr txBox="1">
                <a:spLocks noChangeArrowheads="1"/>
              </p:cNvSpPr>
              <p:nvPr/>
            </p:nvSpPr>
            <p:spPr bwMode="auto">
              <a:xfrm>
                <a:off x="1053" y="2659"/>
                <a:ext cx="472" cy="9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/>
                <a:r>
                  <a:rPr lang="ru-RU" altLang="ru-RU" sz="1200">
                    <a:latin typeface="Arial" charset="0"/>
                  </a:rPr>
                  <a:t>Диаграмма А1</a:t>
                </a:r>
              </a:p>
            </p:txBody>
          </p:sp>
          <p:sp>
            <p:nvSpPr>
              <p:cNvPr id="64550" name="Line 116"/>
              <p:cNvSpPr>
                <a:spLocks noChangeShapeType="1"/>
              </p:cNvSpPr>
              <p:nvPr/>
            </p:nvSpPr>
            <p:spPr bwMode="auto">
              <a:xfrm flipH="1">
                <a:off x="529" y="2012"/>
                <a:ext cx="942" cy="74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51" name="Line 117"/>
              <p:cNvSpPr>
                <a:spLocks noChangeShapeType="1"/>
              </p:cNvSpPr>
              <p:nvPr/>
            </p:nvSpPr>
            <p:spPr bwMode="auto">
              <a:xfrm>
                <a:off x="1683" y="2012"/>
                <a:ext cx="299" cy="74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52" name="Line 118"/>
              <p:cNvSpPr>
                <a:spLocks noChangeShapeType="1"/>
              </p:cNvSpPr>
              <p:nvPr/>
            </p:nvSpPr>
            <p:spPr bwMode="auto">
              <a:xfrm>
                <a:off x="1363" y="3124"/>
                <a:ext cx="7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53" name="Line 119"/>
              <p:cNvSpPr>
                <a:spLocks noChangeShapeType="1"/>
              </p:cNvSpPr>
              <p:nvPr/>
            </p:nvSpPr>
            <p:spPr bwMode="auto">
              <a:xfrm>
                <a:off x="1433" y="3124"/>
                <a:ext cx="1" cy="12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54" name="Line 120"/>
              <p:cNvSpPr>
                <a:spLocks noChangeShapeType="1"/>
              </p:cNvSpPr>
              <p:nvPr/>
            </p:nvSpPr>
            <p:spPr bwMode="auto">
              <a:xfrm>
                <a:off x="1433" y="3247"/>
                <a:ext cx="10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55" name="Line 121"/>
              <p:cNvSpPr>
                <a:spLocks noChangeShapeType="1"/>
              </p:cNvSpPr>
              <p:nvPr/>
            </p:nvSpPr>
            <p:spPr bwMode="auto">
              <a:xfrm>
                <a:off x="987" y="2983"/>
                <a:ext cx="7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56" name="Line 122"/>
              <p:cNvSpPr>
                <a:spLocks noChangeShapeType="1"/>
              </p:cNvSpPr>
              <p:nvPr/>
            </p:nvSpPr>
            <p:spPr bwMode="auto">
              <a:xfrm>
                <a:off x="1057" y="2983"/>
                <a:ext cx="1" cy="1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57" name="Line 123"/>
              <p:cNvSpPr>
                <a:spLocks noChangeShapeType="1"/>
              </p:cNvSpPr>
              <p:nvPr/>
            </p:nvSpPr>
            <p:spPr bwMode="auto">
              <a:xfrm>
                <a:off x="1057" y="3107"/>
                <a:ext cx="10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58" name="Text Box 124"/>
              <p:cNvSpPr txBox="1">
                <a:spLocks noChangeArrowheads="1"/>
              </p:cNvSpPr>
              <p:nvPr/>
            </p:nvSpPr>
            <p:spPr bwMode="auto">
              <a:xfrm>
                <a:off x="567" y="2893"/>
                <a:ext cx="91" cy="9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altLang="ru-RU" sz="900">
                    <a:latin typeface="Arial" charset="0"/>
                  </a:rPr>
                  <a:t>I1</a:t>
                </a:r>
                <a:endParaRPr lang="ru-RU" altLang="ru-RU" sz="900">
                  <a:latin typeface="Arial" charset="0"/>
                </a:endParaRPr>
              </a:p>
            </p:txBody>
          </p:sp>
          <p:sp>
            <p:nvSpPr>
              <p:cNvPr id="64559" name="Line 125"/>
              <p:cNvSpPr>
                <a:spLocks noChangeShapeType="1"/>
              </p:cNvSpPr>
              <p:nvPr/>
            </p:nvSpPr>
            <p:spPr bwMode="auto">
              <a:xfrm>
                <a:off x="658" y="2939"/>
                <a:ext cx="1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60" name="Line 126"/>
              <p:cNvSpPr>
                <a:spLocks noChangeShapeType="1"/>
              </p:cNvSpPr>
              <p:nvPr/>
            </p:nvSpPr>
            <p:spPr bwMode="auto">
              <a:xfrm>
                <a:off x="1734" y="3248"/>
                <a:ext cx="15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61" name="Text Box 127"/>
              <p:cNvSpPr txBox="1">
                <a:spLocks noChangeArrowheads="1"/>
              </p:cNvSpPr>
              <p:nvPr/>
            </p:nvSpPr>
            <p:spPr bwMode="auto">
              <a:xfrm>
                <a:off x="1865" y="3153"/>
                <a:ext cx="91" cy="9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altLang="ru-RU" sz="900">
                    <a:latin typeface="Arial" charset="0"/>
                  </a:rPr>
                  <a:t>O1</a:t>
                </a:r>
                <a:endParaRPr lang="ru-RU" altLang="ru-RU" sz="900">
                  <a:latin typeface="Arial" charset="0"/>
                </a:endParaRPr>
              </a:p>
            </p:txBody>
          </p:sp>
          <p:sp>
            <p:nvSpPr>
              <p:cNvPr id="64562" name="Text Box 128"/>
              <p:cNvSpPr txBox="1">
                <a:spLocks noChangeArrowheads="1"/>
              </p:cNvSpPr>
              <p:nvPr/>
            </p:nvSpPr>
            <p:spPr bwMode="auto">
              <a:xfrm>
                <a:off x="1832" y="1733"/>
                <a:ext cx="91" cy="9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/>
                <a:r>
                  <a:rPr lang="ru-RU" altLang="ru-RU" sz="900">
                    <a:latin typeface="Arial" charset="0"/>
                  </a:rPr>
                  <a:t>С1</a:t>
                </a:r>
              </a:p>
            </p:txBody>
          </p:sp>
          <p:sp>
            <p:nvSpPr>
              <p:cNvPr id="64563" name="Line 129"/>
              <p:cNvSpPr>
                <a:spLocks noChangeShapeType="1"/>
              </p:cNvSpPr>
              <p:nvPr/>
            </p:nvSpPr>
            <p:spPr bwMode="auto">
              <a:xfrm>
                <a:off x="1832" y="1838"/>
                <a:ext cx="0" cy="1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64" name="Line 130"/>
              <p:cNvSpPr>
                <a:spLocks noChangeShapeType="1"/>
              </p:cNvSpPr>
              <p:nvPr/>
            </p:nvSpPr>
            <p:spPr bwMode="auto">
              <a:xfrm>
                <a:off x="1923" y="1942"/>
                <a:ext cx="0" cy="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65" name="Line 131"/>
              <p:cNvSpPr>
                <a:spLocks noChangeShapeType="1"/>
              </p:cNvSpPr>
              <p:nvPr/>
            </p:nvSpPr>
            <p:spPr bwMode="auto">
              <a:xfrm>
                <a:off x="1683" y="1942"/>
                <a:ext cx="5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66" name="Text Box 132"/>
              <p:cNvSpPr txBox="1">
                <a:spLocks noChangeArrowheads="1"/>
              </p:cNvSpPr>
              <p:nvPr/>
            </p:nvSpPr>
            <p:spPr bwMode="auto">
              <a:xfrm>
                <a:off x="1245" y="1893"/>
                <a:ext cx="90" cy="9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altLang="ru-RU" sz="900">
                    <a:latin typeface="Arial" charset="0"/>
                  </a:rPr>
                  <a:t>I1</a:t>
                </a:r>
                <a:endParaRPr lang="ru-RU" altLang="ru-RU" sz="900">
                  <a:latin typeface="Arial" charset="0"/>
                </a:endParaRPr>
              </a:p>
            </p:txBody>
          </p:sp>
          <p:sp>
            <p:nvSpPr>
              <p:cNvPr id="64567" name="Line 133"/>
              <p:cNvSpPr>
                <a:spLocks noChangeShapeType="1"/>
              </p:cNvSpPr>
              <p:nvPr/>
            </p:nvSpPr>
            <p:spPr bwMode="auto">
              <a:xfrm>
                <a:off x="1335" y="1938"/>
                <a:ext cx="1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68" name="Line 134"/>
              <p:cNvSpPr>
                <a:spLocks noChangeShapeType="1"/>
              </p:cNvSpPr>
              <p:nvPr/>
            </p:nvSpPr>
            <p:spPr bwMode="auto">
              <a:xfrm>
                <a:off x="1381" y="2119"/>
                <a:ext cx="40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69" name="Line 135"/>
              <p:cNvSpPr>
                <a:spLocks noChangeShapeType="1"/>
              </p:cNvSpPr>
              <p:nvPr/>
            </p:nvSpPr>
            <p:spPr bwMode="auto">
              <a:xfrm>
                <a:off x="1381" y="1938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70" name="Line 136"/>
              <p:cNvSpPr>
                <a:spLocks noChangeShapeType="1"/>
              </p:cNvSpPr>
              <p:nvPr/>
            </p:nvSpPr>
            <p:spPr bwMode="auto">
              <a:xfrm>
                <a:off x="2062" y="2094"/>
                <a:ext cx="0" cy="1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71" name="Line 137"/>
              <p:cNvSpPr>
                <a:spLocks noChangeShapeType="1"/>
              </p:cNvSpPr>
              <p:nvPr/>
            </p:nvSpPr>
            <p:spPr bwMode="auto">
              <a:xfrm>
                <a:off x="1999" y="2094"/>
                <a:ext cx="6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72" name="Line 138"/>
              <p:cNvSpPr>
                <a:spLocks noChangeShapeType="1"/>
              </p:cNvSpPr>
              <p:nvPr/>
            </p:nvSpPr>
            <p:spPr bwMode="auto">
              <a:xfrm>
                <a:off x="2062" y="2218"/>
                <a:ext cx="10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73" name="Line 139"/>
              <p:cNvSpPr>
                <a:spLocks noChangeShapeType="1"/>
              </p:cNvSpPr>
              <p:nvPr/>
            </p:nvSpPr>
            <p:spPr bwMode="auto">
              <a:xfrm>
                <a:off x="2379" y="2238"/>
                <a:ext cx="158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74" name="Text Box 140"/>
              <p:cNvSpPr txBox="1">
                <a:spLocks noChangeArrowheads="1"/>
              </p:cNvSpPr>
              <p:nvPr/>
            </p:nvSpPr>
            <p:spPr bwMode="auto">
              <a:xfrm>
                <a:off x="2510" y="2144"/>
                <a:ext cx="91" cy="9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altLang="ru-RU" sz="900">
                    <a:latin typeface="Arial" charset="0"/>
                  </a:rPr>
                  <a:t>O1</a:t>
                </a:r>
                <a:endParaRPr lang="ru-RU" altLang="ru-RU" sz="900">
                  <a:latin typeface="Arial" charset="0"/>
                </a:endParaRPr>
              </a:p>
            </p:txBody>
          </p:sp>
          <p:sp>
            <p:nvSpPr>
              <p:cNvPr id="64575" name="Text Box 141"/>
              <p:cNvSpPr txBox="1">
                <a:spLocks noChangeArrowheads="1"/>
              </p:cNvSpPr>
              <p:nvPr/>
            </p:nvSpPr>
            <p:spPr bwMode="auto">
              <a:xfrm>
                <a:off x="1245" y="2236"/>
                <a:ext cx="90" cy="9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altLang="ru-RU" sz="900">
                    <a:latin typeface="Arial" charset="0"/>
                  </a:rPr>
                  <a:t>I2</a:t>
                </a:r>
                <a:endParaRPr lang="ru-RU" altLang="ru-RU" sz="900">
                  <a:latin typeface="Arial" charset="0"/>
                </a:endParaRPr>
              </a:p>
            </p:txBody>
          </p:sp>
          <p:sp>
            <p:nvSpPr>
              <p:cNvPr id="64576" name="Text Box 142"/>
              <p:cNvSpPr txBox="1">
                <a:spLocks noChangeArrowheads="1"/>
              </p:cNvSpPr>
              <p:nvPr/>
            </p:nvSpPr>
            <p:spPr bwMode="auto">
              <a:xfrm>
                <a:off x="2231" y="2091"/>
                <a:ext cx="99" cy="7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ru-RU" altLang="ru-RU" sz="800">
                    <a:latin typeface="Arial" charset="0"/>
                  </a:rPr>
                  <a:t>(   )</a:t>
                </a:r>
                <a:endParaRPr lang="ru-RU" altLang="ru-RU">
                  <a:latin typeface="Arial" charset="0"/>
                </a:endParaRPr>
              </a:p>
            </p:txBody>
          </p:sp>
          <p:sp>
            <p:nvSpPr>
              <p:cNvPr id="64577" name="Line 143"/>
              <p:cNvSpPr>
                <a:spLocks noChangeShapeType="1"/>
              </p:cNvSpPr>
              <p:nvPr/>
            </p:nvSpPr>
            <p:spPr bwMode="auto">
              <a:xfrm>
                <a:off x="1335" y="2276"/>
                <a:ext cx="83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4578" name="Line 144"/>
              <p:cNvSpPr>
                <a:spLocks noChangeShapeType="1"/>
              </p:cNvSpPr>
              <p:nvPr/>
            </p:nvSpPr>
            <p:spPr bwMode="auto">
              <a:xfrm>
                <a:off x="2273" y="1942"/>
                <a:ext cx="1" cy="2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64517" name="Line 145"/>
            <p:cNvSpPr>
              <a:spLocks noChangeShapeType="1"/>
            </p:cNvSpPr>
            <p:nvPr/>
          </p:nvSpPr>
          <p:spPr bwMode="auto">
            <a:xfrm>
              <a:off x="1066" y="1434"/>
              <a:ext cx="363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4518" name="Line 146"/>
            <p:cNvSpPr>
              <a:spLocks noChangeShapeType="1"/>
            </p:cNvSpPr>
            <p:nvPr/>
          </p:nvSpPr>
          <p:spPr bwMode="auto">
            <a:xfrm>
              <a:off x="1338" y="1389"/>
              <a:ext cx="2222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64515" name="Text Box 147"/>
          <p:cNvSpPr txBox="1">
            <a:spLocks noChangeArrowheads="1"/>
          </p:cNvSpPr>
          <p:nvPr/>
        </p:nvSpPr>
        <p:spPr bwMode="auto">
          <a:xfrm>
            <a:off x="5846763" y="1887538"/>
            <a:ext cx="3097212" cy="4665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400">
                <a:latin typeface="Arial" charset="0"/>
              </a:rPr>
              <a:t>Функциональный блок может быть </a:t>
            </a:r>
            <a:r>
              <a:rPr lang="ru-RU" altLang="ru-RU" sz="1400" b="1" i="1">
                <a:latin typeface="Arial" charset="0"/>
              </a:rPr>
              <a:t>декомпозирован</a:t>
            </a:r>
            <a:r>
              <a:rPr lang="ru-RU" altLang="ru-RU" sz="1400">
                <a:latin typeface="Arial" charset="0"/>
              </a:rPr>
              <a:t> - представлен в виде совокупности других взаимосвязанных блоков, которые детально описывают исходный блок. </a:t>
            </a:r>
          </a:p>
          <a:p>
            <a:pPr>
              <a:spcBef>
                <a:spcPct val="50000"/>
              </a:spcBef>
            </a:pPr>
            <a:r>
              <a:rPr lang="ru-RU" altLang="ru-RU" sz="1400">
                <a:latin typeface="Arial" charset="0"/>
              </a:rPr>
              <a:t>Таким образом, </a:t>
            </a:r>
            <a:r>
              <a:rPr lang="en-US" altLang="ru-RU" sz="1400">
                <a:latin typeface="Arial" charset="0"/>
              </a:rPr>
              <a:t>IDEF</a:t>
            </a:r>
            <a:r>
              <a:rPr lang="ru-RU" altLang="ru-RU" sz="1400">
                <a:latin typeface="Arial" charset="0"/>
              </a:rPr>
              <a:t>0-модель состоит из набора иерархически связанных диаграмм </a:t>
            </a:r>
          </a:p>
          <a:p>
            <a:pPr>
              <a:spcBef>
                <a:spcPct val="50000"/>
              </a:spcBef>
            </a:pPr>
            <a:r>
              <a:rPr lang="ru-RU" altLang="ru-RU" sz="1400">
                <a:latin typeface="Arial" charset="0"/>
              </a:rPr>
              <a:t>На диаграмме блоки соединяются дугами: выходные дуги одних блоков могут являться входами (управлением, механизмом) других. </a:t>
            </a:r>
          </a:p>
          <a:p>
            <a:pPr>
              <a:spcBef>
                <a:spcPct val="50000"/>
              </a:spcBef>
            </a:pPr>
            <a:r>
              <a:rPr lang="ru-RU" altLang="ru-RU" sz="1400">
                <a:latin typeface="Arial" charset="0"/>
              </a:rPr>
              <a:t>Дуги с одним свободным концом имеют источник или получатель вне диаграммы. Для обозначения внешних дуг используются буквы: </a:t>
            </a:r>
            <a:r>
              <a:rPr lang="en-US" altLang="ru-RU" sz="1400">
                <a:latin typeface="Arial" charset="0"/>
              </a:rPr>
              <a:t>I</a:t>
            </a:r>
            <a:r>
              <a:rPr lang="ru-RU" altLang="ru-RU" sz="1400">
                <a:latin typeface="Arial" charset="0"/>
              </a:rPr>
              <a:t> (</a:t>
            </a:r>
            <a:r>
              <a:rPr lang="en-US" altLang="ru-RU" sz="1400">
                <a:latin typeface="Arial" charset="0"/>
              </a:rPr>
              <a:t>Input</a:t>
            </a:r>
            <a:r>
              <a:rPr lang="ru-RU" altLang="ru-RU" sz="1400">
                <a:latin typeface="Arial" charset="0"/>
              </a:rPr>
              <a:t>), </a:t>
            </a:r>
            <a:r>
              <a:rPr lang="en-US" altLang="ru-RU" sz="1400">
                <a:latin typeface="Arial" charset="0"/>
              </a:rPr>
              <a:t>C</a:t>
            </a:r>
            <a:r>
              <a:rPr lang="ru-RU" altLang="ru-RU" sz="1400">
                <a:latin typeface="Arial" charset="0"/>
              </a:rPr>
              <a:t> (</a:t>
            </a:r>
            <a:r>
              <a:rPr lang="en-US" altLang="ru-RU" sz="1400">
                <a:latin typeface="Arial" charset="0"/>
              </a:rPr>
              <a:t>Control</a:t>
            </a:r>
            <a:r>
              <a:rPr lang="ru-RU" altLang="ru-RU" sz="1400">
                <a:latin typeface="Arial" charset="0"/>
              </a:rPr>
              <a:t>), </a:t>
            </a:r>
            <a:r>
              <a:rPr lang="en-US" altLang="ru-RU" sz="1400">
                <a:latin typeface="Arial" charset="0"/>
              </a:rPr>
              <a:t>O</a:t>
            </a:r>
            <a:r>
              <a:rPr lang="ru-RU" altLang="ru-RU" sz="1400">
                <a:latin typeface="Arial" charset="0"/>
              </a:rPr>
              <a:t> (</a:t>
            </a:r>
            <a:r>
              <a:rPr lang="en-US" altLang="ru-RU" sz="1400">
                <a:latin typeface="Arial" charset="0"/>
              </a:rPr>
              <a:t>Output</a:t>
            </a:r>
            <a:r>
              <a:rPr lang="ru-RU" altLang="ru-RU" sz="1400">
                <a:latin typeface="Arial" charset="0"/>
              </a:rPr>
              <a:t>) и </a:t>
            </a:r>
            <a:r>
              <a:rPr lang="en-US" altLang="ru-RU" sz="1400">
                <a:latin typeface="Arial" charset="0"/>
              </a:rPr>
              <a:t>M</a:t>
            </a:r>
            <a:r>
              <a:rPr lang="ru-RU" altLang="ru-RU" sz="1400">
                <a:latin typeface="Arial" charset="0"/>
              </a:rPr>
              <a:t> (</a:t>
            </a:r>
            <a:r>
              <a:rPr lang="en-US" altLang="ru-RU" sz="1400">
                <a:latin typeface="Arial" charset="0"/>
              </a:rPr>
              <a:t>Mechanism</a:t>
            </a:r>
            <a:r>
              <a:rPr lang="ru-RU" altLang="ru-RU" sz="1400">
                <a:latin typeface="Arial" charset="0"/>
              </a:rPr>
              <a:t>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Заголовок 1"/>
          <p:cNvSpPr>
            <a:spLocks noGrp="1"/>
          </p:cNvSpPr>
          <p:nvPr>
            <p:ph type="title"/>
          </p:nvPr>
        </p:nvSpPr>
        <p:spPr>
          <a:xfrm>
            <a:off x="1150938" y="673100"/>
            <a:ext cx="7793037" cy="10033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Методология </a:t>
            </a:r>
            <a:r>
              <a:rPr lang="en-US" altLang="ru-RU" smtClean="0"/>
              <a:t>IDEF0</a:t>
            </a:r>
            <a:endParaRPr lang="ru-RU" altLang="ru-RU" smtClean="0"/>
          </a:p>
        </p:txBody>
      </p:sp>
      <p:pic>
        <p:nvPicPr>
          <p:cNvPr id="65538" name="Picture 2" descr="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60750" y="2628900"/>
            <a:ext cx="22383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39" name="Picture 3" descr="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2419350"/>
            <a:ext cx="2419350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0" name="Picture 4" descr="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62025" y="4581525"/>
            <a:ext cx="2676525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1" name="Picture 5" descr="1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37113" y="4619625"/>
            <a:ext cx="2698750" cy="160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2" name="Picture 6" descr="1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949950" y="2549525"/>
            <a:ext cx="2762250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543" name="TextBox 10"/>
          <p:cNvSpPr txBox="1">
            <a:spLocks noChangeArrowheads="1"/>
          </p:cNvSpPr>
          <p:nvPr/>
        </p:nvSpPr>
        <p:spPr bwMode="auto">
          <a:xfrm>
            <a:off x="2482850" y="1828800"/>
            <a:ext cx="39989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Типы связей между блоками:</a:t>
            </a:r>
          </a:p>
        </p:txBody>
      </p:sp>
      <p:sp>
        <p:nvSpPr>
          <p:cNvPr id="65544" name="TextBox 11"/>
          <p:cNvSpPr txBox="1">
            <a:spLocks noChangeArrowheads="1"/>
          </p:cNvSpPr>
          <p:nvPr/>
        </p:nvSpPr>
        <p:spPr bwMode="auto">
          <a:xfrm>
            <a:off x="838200" y="2228850"/>
            <a:ext cx="2311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Выход-вход</a:t>
            </a:r>
          </a:p>
        </p:txBody>
      </p:sp>
      <p:sp>
        <p:nvSpPr>
          <p:cNvPr id="65545" name="TextBox 12"/>
          <p:cNvSpPr txBox="1">
            <a:spLocks noChangeArrowheads="1"/>
          </p:cNvSpPr>
          <p:nvPr/>
        </p:nvSpPr>
        <p:spPr bwMode="auto">
          <a:xfrm>
            <a:off x="3302000" y="2273300"/>
            <a:ext cx="2311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Выход-управление</a:t>
            </a:r>
          </a:p>
        </p:txBody>
      </p:sp>
      <p:sp>
        <p:nvSpPr>
          <p:cNvPr id="65546" name="TextBox 13"/>
          <p:cNvSpPr txBox="1">
            <a:spLocks noChangeArrowheads="1"/>
          </p:cNvSpPr>
          <p:nvPr/>
        </p:nvSpPr>
        <p:spPr bwMode="auto">
          <a:xfrm>
            <a:off x="6080125" y="2273300"/>
            <a:ext cx="2311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Выход-механизм</a:t>
            </a:r>
          </a:p>
        </p:txBody>
      </p:sp>
      <p:sp>
        <p:nvSpPr>
          <p:cNvPr id="65547" name="TextBox 14"/>
          <p:cNvSpPr txBox="1">
            <a:spLocks noChangeArrowheads="1"/>
          </p:cNvSpPr>
          <p:nvPr/>
        </p:nvSpPr>
        <p:spPr bwMode="auto">
          <a:xfrm>
            <a:off x="4624388" y="4273550"/>
            <a:ext cx="29114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Обратная связь по входу</a:t>
            </a:r>
          </a:p>
        </p:txBody>
      </p:sp>
      <p:sp>
        <p:nvSpPr>
          <p:cNvPr id="65548" name="TextBox 15"/>
          <p:cNvSpPr txBox="1">
            <a:spLocks noChangeArrowheads="1"/>
          </p:cNvSpPr>
          <p:nvPr/>
        </p:nvSpPr>
        <p:spPr bwMode="auto">
          <a:xfrm>
            <a:off x="704850" y="4241800"/>
            <a:ext cx="36004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Обратная связь по управлению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. 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033588"/>
            <a:ext cx="8229600" cy="4525962"/>
          </a:xfrm>
          <a:extLst/>
        </p:spPr>
        <p:txBody>
          <a:bodyPr rtlCol="0">
            <a:normAutofit lnSpcReduction="10000"/>
          </a:bodyPr>
          <a:lstStyle/>
          <a:p>
            <a:pPr marL="571500" indent="-38100" eaLnBrk="1" fontAlgn="auto" hangingPunct="1">
              <a:spcBef>
                <a:spcPct val="5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altLang="ru-RU" b="1" i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На первом этапе моделирования</a:t>
            </a:r>
            <a:r>
              <a:rPr lang="ru-RU" altLang="ru-RU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функциональность предприятия описывается в целом. Такое описание называется            </a:t>
            </a:r>
            <a:r>
              <a:rPr lang="ru-RU" altLang="ru-RU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контекстной диаграммой</a:t>
            </a:r>
          </a:p>
          <a:p>
            <a:pPr marL="571500" indent="-38100" eaLnBrk="1" fontAlgn="auto" hangingPunct="1">
              <a:spcBef>
                <a:spcPct val="3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altLang="ru-RU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Системы представляется в виде простейшего компонента - одного блока и дуг, изображающих интерфейсы с функциями вне системы: </a:t>
            </a:r>
          </a:p>
          <a:p>
            <a:pPr marL="571500" indent="-38100" eaLnBrk="1" fontAlgn="auto" hangingPunct="1">
              <a:spcBef>
                <a:spcPct val="3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altLang="ru-RU" i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имя</a:t>
            </a:r>
            <a:r>
              <a:rPr lang="ru-RU" altLang="ru-RU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указанной в блоке, является общим; </a:t>
            </a:r>
          </a:p>
          <a:p>
            <a:pPr marL="571500" indent="-38100" eaLnBrk="1" fontAlgn="auto" hangingPunct="1">
              <a:spcBef>
                <a:spcPct val="3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altLang="ru-RU" i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интерфейсные дуги</a:t>
            </a:r>
            <a:r>
              <a:rPr lang="ru-RU" altLang="ru-RU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соответствуют полному набору внешних интерфейсов системы в целом.</a:t>
            </a:r>
          </a:p>
          <a:p>
            <a:pPr marL="571500" indent="-38100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ru-RU" altLang="ru-RU" b="1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563" name="Rectangle 4"/>
          <p:cNvSpPr>
            <a:spLocks noChangeArrowheads="1"/>
          </p:cNvSpPr>
          <p:nvPr/>
        </p:nvSpPr>
        <p:spPr bwMode="auto">
          <a:xfrm>
            <a:off x="1150938" y="990600"/>
            <a:ext cx="7281862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ru-RU" altLang="ru-RU" sz="3600">
                <a:solidFill>
                  <a:schemeClr val="tx2"/>
                </a:solidFill>
              </a:rPr>
              <a:t>Моделирование бизнес-процесса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21" name="Rectangle 1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Контекстная диаграмма</a:t>
            </a:r>
            <a:br>
              <a:rPr lang="ru-RU" altLang="ru-RU" smtClean="0"/>
            </a:br>
            <a:endParaRPr lang="ru-RU" altLang="ru-RU" smtClean="0"/>
          </a:p>
        </p:txBody>
      </p:sp>
      <p:graphicFrame>
        <p:nvGraphicFramePr>
          <p:cNvPr id="43021" name="Object 13"/>
          <p:cNvGraphicFramePr>
            <a:graphicFrameLocks noGrp="1" noChangeAspect="1"/>
          </p:cNvGraphicFramePr>
          <p:nvPr>
            <p:ph idx="4294967295"/>
          </p:nvPr>
        </p:nvGraphicFramePr>
        <p:xfrm>
          <a:off x="0" y="944563"/>
          <a:ext cx="8245475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2" name="Bitmap Image" r:id="rId4" imgW="4963218" imgH="2800741" progId="PBrush">
                  <p:embed/>
                </p:oleObj>
              </mc:Choice>
              <mc:Fallback>
                <p:oleObj name="Bitmap Image" r:id="rId4" imgW="4963218" imgH="2800741" progId="PBrush">
                  <p:embed/>
                  <p:pic>
                    <p:nvPicPr>
                      <p:cNvPr id="0" name="Picture 1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44563"/>
                        <a:ext cx="8245475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23" name="Group 4"/>
          <p:cNvGrpSpPr>
            <a:grpSpLocks/>
          </p:cNvGrpSpPr>
          <p:nvPr/>
        </p:nvGrpSpPr>
        <p:grpSpPr bwMode="auto">
          <a:xfrm>
            <a:off x="6119813" y="4113213"/>
            <a:ext cx="2735262" cy="2160587"/>
            <a:chOff x="2781" y="6354"/>
            <a:chExt cx="3960" cy="3060"/>
          </a:xfrm>
        </p:grpSpPr>
        <p:sp>
          <p:nvSpPr>
            <p:cNvPr id="43024" name="Rectangle 5"/>
            <p:cNvSpPr>
              <a:spLocks noChangeArrowheads="1"/>
            </p:cNvSpPr>
            <p:nvPr/>
          </p:nvSpPr>
          <p:spPr bwMode="auto">
            <a:xfrm>
              <a:off x="2781" y="6894"/>
              <a:ext cx="3960" cy="2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r>
                <a:rPr lang="ru-RU" altLang="ru-RU" sz="1400" b="1">
                  <a:latin typeface="Arial" charset="0"/>
                </a:rPr>
                <a:t>А0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43025" name="Rectangle 6"/>
            <p:cNvSpPr>
              <a:spLocks noChangeArrowheads="1"/>
            </p:cNvSpPr>
            <p:nvPr/>
          </p:nvSpPr>
          <p:spPr bwMode="auto">
            <a:xfrm>
              <a:off x="3861" y="7794"/>
              <a:ext cx="1620" cy="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 altLang="ru-RU" sz="1200">
                <a:latin typeface="Arial" charset="0"/>
              </a:endParaRPr>
            </a:p>
            <a:p>
              <a:r>
                <a:rPr lang="ru-RU" altLang="ru-RU" sz="1200">
                  <a:latin typeface="Arial" charset="0"/>
                </a:rPr>
                <a:t>	     </a:t>
              </a:r>
              <a:r>
                <a:rPr lang="ru-RU" altLang="ru-RU" sz="1200" b="1">
                  <a:latin typeface="Arial" charset="0"/>
                </a:rPr>
                <a:t>А0</a:t>
              </a:r>
            </a:p>
            <a:p>
              <a:r>
                <a:rPr lang="ru-RU" altLang="ru-RU" sz="1200">
                  <a:latin typeface="Arial" charset="0"/>
                </a:rPr>
                <a:t>	     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43026" name="Line 7"/>
            <p:cNvSpPr>
              <a:spLocks noChangeShapeType="1"/>
            </p:cNvSpPr>
            <p:nvPr/>
          </p:nvSpPr>
          <p:spPr bwMode="auto">
            <a:xfrm>
              <a:off x="2961" y="7974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3027" name="Line 8"/>
            <p:cNvSpPr>
              <a:spLocks noChangeShapeType="1"/>
            </p:cNvSpPr>
            <p:nvPr/>
          </p:nvSpPr>
          <p:spPr bwMode="auto">
            <a:xfrm>
              <a:off x="2961" y="8514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3028" name="Line 9"/>
            <p:cNvSpPr>
              <a:spLocks noChangeShapeType="1"/>
            </p:cNvSpPr>
            <p:nvPr/>
          </p:nvSpPr>
          <p:spPr bwMode="auto">
            <a:xfrm>
              <a:off x="4581" y="707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3029" name="Line 10"/>
            <p:cNvSpPr>
              <a:spLocks noChangeShapeType="1"/>
            </p:cNvSpPr>
            <p:nvPr/>
          </p:nvSpPr>
          <p:spPr bwMode="auto">
            <a:xfrm>
              <a:off x="5481" y="833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3030" name="Rectangle 11"/>
            <p:cNvSpPr>
              <a:spLocks noChangeArrowheads="1"/>
            </p:cNvSpPr>
            <p:nvPr/>
          </p:nvSpPr>
          <p:spPr bwMode="auto">
            <a:xfrm>
              <a:off x="2961" y="6354"/>
              <a:ext cx="270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200">
                  <a:latin typeface="Arial" charset="0"/>
                </a:rPr>
                <a:t>Общее представление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43031" name="Line 12"/>
            <p:cNvSpPr>
              <a:spLocks noChangeShapeType="1"/>
            </p:cNvSpPr>
            <p:nvPr/>
          </p:nvSpPr>
          <p:spPr bwMode="auto">
            <a:xfrm>
              <a:off x="2961" y="6894"/>
              <a:ext cx="30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extLst/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Построение иерархии диаграмм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b="1" i="1" smtClean="0"/>
              <a:t>На втором этапе моделирования</a:t>
            </a:r>
            <a:r>
              <a:rPr lang="ru-RU" altLang="ru-RU" smtClean="0"/>
              <a:t> б</a:t>
            </a:r>
            <a:r>
              <a:rPr lang="ru-RU" altLang="ru-RU" sz="2800" smtClean="0"/>
              <a:t>лок, который представляет систему в качестве единого модуля, детализируется на другой диаграмме с помощью нескольких блоков, соединенных интерфейсными дугами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800" smtClean="0"/>
              <a:t> эти блоки определяют основные подфункции исходной функции; 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800" smtClean="0"/>
              <a:t>каждая из этих подфункций может быть декомпозирована подобным образом в целях большей детализации.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ru-RU" altLang="ru-RU" smtClean="0"/>
          </a:p>
        </p:txBody>
      </p:sp>
      <p:pic>
        <p:nvPicPr>
          <p:cNvPr id="7373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825" y="225425"/>
            <a:ext cx="8389938" cy="558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3731" name="Group 4"/>
          <p:cNvGrpSpPr>
            <a:grpSpLocks/>
          </p:cNvGrpSpPr>
          <p:nvPr/>
        </p:nvGrpSpPr>
        <p:grpSpPr bwMode="auto">
          <a:xfrm>
            <a:off x="5651500" y="5229225"/>
            <a:ext cx="3348038" cy="1447800"/>
            <a:chOff x="1881" y="9954"/>
            <a:chExt cx="7380" cy="4140"/>
          </a:xfrm>
        </p:grpSpPr>
        <p:sp>
          <p:nvSpPr>
            <p:cNvPr id="73732" name="Rectangle 5"/>
            <p:cNvSpPr>
              <a:spLocks noChangeArrowheads="1"/>
            </p:cNvSpPr>
            <p:nvPr/>
          </p:nvSpPr>
          <p:spPr bwMode="auto">
            <a:xfrm>
              <a:off x="1881" y="10674"/>
              <a:ext cx="7380" cy="3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>
                <a:latin typeface="Arial" charset="0"/>
              </a:endParaRPr>
            </a:p>
          </p:txBody>
        </p:sp>
        <p:sp>
          <p:nvSpPr>
            <p:cNvPr id="73733" name="Rectangle 6"/>
            <p:cNvSpPr>
              <a:spLocks noChangeArrowheads="1"/>
            </p:cNvSpPr>
            <p:nvPr/>
          </p:nvSpPr>
          <p:spPr bwMode="auto">
            <a:xfrm>
              <a:off x="2601" y="11214"/>
              <a:ext cx="108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200">
                  <a:latin typeface="Arial" charset="0"/>
                </a:rPr>
                <a:t> </a:t>
              </a:r>
            </a:p>
            <a:p>
              <a:r>
                <a:rPr lang="ru-RU" altLang="ru-RU" sz="1200">
                  <a:latin typeface="Arial" charset="0"/>
                </a:rPr>
                <a:t>        </a:t>
              </a:r>
              <a:r>
                <a:rPr lang="ru-RU" altLang="ru-RU" sz="1200" b="1">
                  <a:latin typeface="Arial" charset="0"/>
                </a:rPr>
                <a:t>А1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73734" name="Rectangle 7"/>
            <p:cNvSpPr>
              <a:spLocks noChangeArrowheads="1"/>
            </p:cNvSpPr>
            <p:nvPr/>
          </p:nvSpPr>
          <p:spPr bwMode="auto">
            <a:xfrm>
              <a:off x="4221" y="11934"/>
              <a:ext cx="108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200">
                  <a:latin typeface="Arial" charset="0"/>
                </a:rPr>
                <a:t> </a:t>
              </a:r>
            </a:p>
            <a:p>
              <a:r>
                <a:rPr lang="ru-RU" altLang="ru-RU" sz="1200">
                  <a:latin typeface="Arial" charset="0"/>
                </a:rPr>
                <a:t>        </a:t>
              </a:r>
              <a:r>
                <a:rPr lang="ru-RU" altLang="ru-RU" sz="1200" b="1">
                  <a:latin typeface="Arial" charset="0"/>
                </a:rPr>
                <a:t>А2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73735" name="Rectangle 8"/>
            <p:cNvSpPr>
              <a:spLocks noChangeArrowheads="1"/>
            </p:cNvSpPr>
            <p:nvPr/>
          </p:nvSpPr>
          <p:spPr bwMode="auto">
            <a:xfrm>
              <a:off x="5841" y="12474"/>
              <a:ext cx="108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200">
                  <a:latin typeface="Arial" charset="0"/>
                </a:rPr>
                <a:t> </a:t>
              </a:r>
            </a:p>
            <a:p>
              <a:r>
                <a:rPr lang="ru-RU" altLang="ru-RU" sz="1200">
                  <a:latin typeface="Arial" charset="0"/>
                </a:rPr>
                <a:t>        </a:t>
              </a:r>
              <a:r>
                <a:rPr lang="ru-RU" altLang="ru-RU" sz="1200" b="1">
                  <a:latin typeface="Arial" charset="0"/>
                </a:rPr>
                <a:t>А3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73736" name="Rectangle 9"/>
            <p:cNvSpPr>
              <a:spLocks noChangeArrowheads="1"/>
            </p:cNvSpPr>
            <p:nvPr/>
          </p:nvSpPr>
          <p:spPr bwMode="auto">
            <a:xfrm>
              <a:off x="7461" y="13014"/>
              <a:ext cx="108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200">
                  <a:latin typeface="Arial" charset="0"/>
                </a:rPr>
                <a:t> </a:t>
              </a:r>
            </a:p>
            <a:p>
              <a:r>
                <a:rPr lang="ru-RU" altLang="ru-RU" sz="1200">
                  <a:latin typeface="Arial" charset="0"/>
                </a:rPr>
                <a:t>        </a:t>
              </a:r>
              <a:r>
                <a:rPr lang="ru-RU" altLang="ru-RU" sz="1200" b="1">
                  <a:latin typeface="Arial" charset="0"/>
                </a:rPr>
                <a:t>А4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73737" name="Line 10"/>
            <p:cNvSpPr>
              <a:spLocks noChangeShapeType="1"/>
            </p:cNvSpPr>
            <p:nvPr/>
          </p:nvSpPr>
          <p:spPr bwMode="auto">
            <a:xfrm>
              <a:off x="2061" y="1157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3738" name="Line 11"/>
            <p:cNvSpPr>
              <a:spLocks noChangeShapeType="1"/>
            </p:cNvSpPr>
            <p:nvPr/>
          </p:nvSpPr>
          <p:spPr bwMode="auto">
            <a:xfrm>
              <a:off x="3501" y="1229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3739" name="Line 12"/>
            <p:cNvSpPr>
              <a:spLocks noChangeShapeType="1"/>
            </p:cNvSpPr>
            <p:nvPr/>
          </p:nvSpPr>
          <p:spPr bwMode="auto">
            <a:xfrm>
              <a:off x="3141" y="1085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3740" name="Line 13"/>
            <p:cNvSpPr>
              <a:spLocks noChangeShapeType="1"/>
            </p:cNvSpPr>
            <p:nvPr/>
          </p:nvSpPr>
          <p:spPr bwMode="auto">
            <a:xfrm>
              <a:off x="3681" y="11574"/>
              <a:ext cx="43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3741" name="Line 14"/>
            <p:cNvSpPr>
              <a:spLocks noChangeShapeType="1"/>
            </p:cNvSpPr>
            <p:nvPr/>
          </p:nvSpPr>
          <p:spPr bwMode="auto">
            <a:xfrm>
              <a:off x="8001" y="11574"/>
              <a:ext cx="0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3742" name="Line 15"/>
            <p:cNvSpPr>
              <a:spLocks noChangeShapeType="1"/>
            </p:cNvSpPr>
            <p:nvPr/>
          </p:nvSpPr>
          <p:spPr bwMode="auto">
            <a:xfrm>
              <a:off x="6381" y="11574"/>
              <a:ext cx="0" cy="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3743" name="Line 16"/>
            <p:cNvSpPr>
              <a:spLocks noChangeShapeType="1"/>
            </p:cNvSpPr>
            <p:nvPr/>
          </p:nvSpPr>
          <p:spPr bwMode="auto">
            <a:xfrm>
              <a:off x="4761" y="1157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3744" name="Line 17"/>
            <p:cNvSpPr>
              <a:spLocks noChangeShapeType="1"/>
            </p:cNvSpPr>
            <p:nvPr/>
          </p:nvSpPr>
          <p:spPr bwMode="auto">
            <a:xfrm>
              <a:off x="5301" y="12294"/>
              <a:ext cx="1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3745" name="Line 18"/>
            <p:cNvSpPr>
              <a:spLocks noChangeShapeType="1"/>
            </p:cNvSpPr>
            <p:nvPr/>
          </p:nvSpPr>
          <p:spPr bwMode="auto">
            <a:xfrm>
              <a:off x="5481" y="12294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3746" name="Line 19"/>
            <p:cNvSpPr>
              <a:spLocks noChangeShapeType="1"/>
            </p:cNvSpPr>
            <p:nvPr/>
          </p:nvSpPr>
          <p:spPr bwMode="auto">
            <a:xfrm>
              <a:off x="5481" y="12834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3747" name="Line 20"/>
            <p:cNvSpPr>
              <a:spLocks noChangeShapeType="1"/>
            </p:cNvSpPr>
            <p:nvPr/>
          </p:nvSpPr>
          <p:spPr bwMode="auto">
            <a:xfrm>
              <a:off x="6921" y="12834"/>
              <a:ext cx="1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3748" name="Line 21"/>
            <p:cNvSpPr>
              <a:spLocks noChangeShapeType="1"/>
            </p:cNvSpPr>
            <p:nvPr/>
          </p:nvSpPr>
          <p:spPr bwMode="auto">
            <a:xfrm>
              <a:off x="7101" y="12834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3749" name="Line 22"/>
            <p:cNvSpPr>
              <a:spLocks noChangeShapeType="1"/>
            </p:cNvSpPr>
            <p:nvPr/>
          </p:nvSpPr>
          <p:spPr bwMode="auto">
            <a:xfrm>
              <a:off x="7101" y="13374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3750" name="Line 23"/>
            <p:cNvSpPr>
              <a:spLocks noChangeShapeType="1"/>
            </p:cNvSpPr>
            <p:nvPr/>
          </p:nvSpPr>
          <p:spPr bwMode="auto">
            <a:xfrm>
              <a:off x="8541" y="1337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3751" name="Rectangle 24"/>
            <p:cNvSpPr>
              <a:spLocks noChangeArrowheads="1"/>
            </p:cNvSpPr>
            <p:nvPr/>
          </p:nvSpPr>
          <p:spPr bwMode="auto">
            <a:xfrm>
              <a:off x="2961" y="9954"/>
              <a:ext cx="414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200">
                  <a:latin typeface="Arial" charset="0"/>
                </a:rPr>
                <a:t>Более детальное представление</a:t>
              </a:r>
              <a:endParaRPr lang="ru-RU" altLang="ru-RU"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extLst/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3600" smtClean="0"/>
              <a:t>Моделирование бизнес-процесса</a:t>
            </a:r>
          </a:p>
        </p:txBody>
      </p:sp>
      <p:pic>
        <p:nvPicPr>
          <p:cNvPr id="75778" name="Picture 3" descr="img_189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685800" y="1600200"/>
            <a:ext cx="4162425" cy="4876800"/>
          </a:xfrm>
        </p:spPr>
      </p:pic>
      <p:sp>
        <p:nvSpPr>
          <p:cNvPr id="757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105400" y="1981200"/>
            <a:ext cx="3657600" cy="4114800"/>
          </a:xfrm>
        </p:spPr>
        <p:txBody>
          <a:bodyPr/>
          <a:lstStyle/>
          <a:p>
            <a:pPr eaLnBrk="1" hangingPunct="1"/>
            <a:r>
              <a:rPr lang="ru-RU" altLang="ru-RU" b="1" i="1" smtClean="0"/>
              <a:t>На третьем этапе моделирования</a:t>
            </a:r>
            <a:r>
              <a:rPr lang="ru-RU" altLang="ru-RU" smtClean="0"/>
              <a:t> каждая подфункция декомпозируется на более мелкие – и так далее до достижения необходимой детализации описания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25" name="Group 2"/>
          <p:cNvGrpSpPr>
            <a:grpSpLocks/>
          </p:cNvGrpSpPr>
          <p:nvPr/>
        </p:nvGrpSpPr>
        <p:grpSpPr bwMode="auto">
          <a:xfrm>
            <a:off x="468313" y="228600"/>
            <a:ext cx="2514600" cy="2190750"/>
            <a:chOff x="295" y="144"/>
            <a:chExt cx="1584" cy="1380"/>
          </a:xfrm>
        </p:grpSpPr>
        <p:sp>
          <p:nvSpPr>
            <p:cNvPr id="77867" name="Rectangle 3"/>
            <p:cNvSpPr>
              <a:spLocks noChangeArrowheads="1"/>
            </p:cNvSpPr>
            <p:nvPr/>
          </p:nvSpPr>
          <p:spPr bwMode="auto">
            <a:xfrm>
              <a:off x="295" y="516"/>
              <a:ext cx="1584" cy="10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r>
                <a:rPr lang="ru-RU" altLang="ru-RU" sz="1400" b="1">
                  <a:latin typeface="Arial" charset="0"/>
                </a:rPr>
                <a:t>А-0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77868" name="Rectangle 4"/>
            <p:cNvSpPr>
              <a:spLocks noChangeArrowheads="1"/>
            </p:cNvSpPr>
            <p:nvPr/>
          </p:nvSpPr>
          <p:spPr bwMode="auto">
            <a:xfrm>
              <a:off x="727" y="876"/>
              <a:ext cx="648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 altLang="ru-RU" sz="1200">
                <a:latin typeface="Arial" charset="0"/>
              </a:endParaRPr>
            </a:p>
            <a:p>
              <a:r>
                <a:rPr lang="ru-RU" altLang="ru-RU" sz="1200">
                  <a:latin typeface="Arial" charset="0"/>
                </a:rPr>
                <a:t>	     </a:t>
              </a:r>
              <a:r>
                <a:rPr lang="ru-RU" altLang="ru-RU" sz="1200" b="1">
                  <a:latin typeface="Arial" charset="0"/>
                </a:rPr>
                <a:t>А0</a:t>
              </a:r>
            </a:p>
            <a:p>
              <a:r>
                <a:rPr lang="ru-RU" altLang="ru-RU" sz="1200">
                  <a:latin typeface="Arial" charset="0"/>
                </a:rPr>
                <a:t>	     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77869" name="Line 5"/>
            <p:cNvSpPr>
              <a:spLocks noChangeShapeType="1"/>
            </p:cNvSpPr>
            <p:nvPr/>
          </p:nvSpPr>
          <p:spPr bwMode="auto">
            <a:xfrm>
              <a:off x="367" y="948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70" name="Line 6"/>
            <p:cNvSpPr>
              <a:spLocks noChangeShapeType="1"/>
            </p:cNvSpPr>
            <p:nvPr/>
          </p:nvSpPr>
          <p:spPr bwMode="auto">
            <a:xfrm>
              <a:off x="367" y="1164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71" name="Line 7"/>
            <p:cNvSpPr>
              <a:spLocks noChangeShapeType="1"/>
            </p:cNvSpPr>
            <p:nvPr/>
          </p:nvSpPr>
          <p:spPr bwMode="auto">
            <a:xfrm>
              <a:off x="1015" y="588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72" name="Line 8"/>
            <p:cNvSpPr>
              <a:spLocks noChangeShapeType="1"/>
            </p:cNvSpPr>
            <p:nvPr/>
          </p:nvSpPr>
          <p:spPr bwMode="auto">
            <a:xfrm>
              <a:off x="1375" y="1092"/>
              <a:ext cx="4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73" name="Rectangle 9"/>
            <p:cNvSpPr>
              <a:spLocks noChangeArrowheads="1"/>
            </p:cNvSpPr>
            <p:nvPr/>
          </p:nvSpPr>
          <p:spPr bwMode="auto">
            <a:xfrm>
              <a:off x="336" y="144"/>
              <a:ext cx="10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200">
                  <a:latin typeface="Arial" charset="0"/>
                </a:rPr>
                <a:t>Общее представление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77874" name="Line 10"/>
            <p:cNvSpPr>
              <a:spLocks noChangeShapeType="1"/>
            </p:cNvSpPr>
            <p:nvPr/>
          </p:nvSpPr>
          <p:spPr bwMode="auto">
            <a:xfrm>
              <a:off x="367" y="516"/>
              <a:ext cx="12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77826" name="Group 11"/>
          <p:cNvGrpSpPr>
            <a:grpSpLocks/>
          </p:cNvGrpSpPr>
          <p:nvPr/>
        </p:nvGrpSpPr>
        <p:grpSpPr bwMode="auto">
          <a:xfrm>
            <a:off x="3708400" y="476250"/>
            <a:ext cx="4686300" cy="2628900"/>
            <a:chOff x="2336" y="300"/>
            <a:chExt cx="2952" cy="1656"/>
          </a:xfrm>
        </p:grpSpPr>
        <p:sp>
          <p:nvSpPr>
            <p:cNvPr id="77847" name="Rectangle 12"/>
            <p:cNvSpPr>
              <a:spLocks noChangeArrowheads="1"/>
            </p:cNvSpPr>
            <p:nvPr/>
          </p:nvSpPr>
          <p:spPr bwMode="auto">
            <a:xfrm>
              <a:off x="2336" y="588"/>
              <a:ext cx="2952" cy="13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endParaRPr lang="ru-RU" altLang="ru-RU" sz="1200">
                <a:latin typeface="Arial" charset="0"/>
              </a:endParaRPr>
            </a:p>
            <a:p>
              <a:r>
                <a:rPr lang="ru-RU" altLang="ru-RU" sz="1400" b="1">
                  <a:latin typeface="Arial" charset="0"/>
                </a:rPr>
                <a:t>А0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77848" name="Rectangle 13"/>
            <p:cNvSpPr>
              <a:spLocks noChangeArrowheads="1"/>
            </p:cNvSpPr>
            <p:nvPr/>
          </p:nvSpPr>
          <p:spPr bwMode="auto">
            <a:xfrm>
              <a:off x="2624" y="804"/>
              <a:ext cx="432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200">
                  <a:latin typeface="Arial" charset="0"/>
                </a:rPr>
                <a:t> </a:t>
              </a:r>
            </a:p>
            <a:p>
              <a:r>
                <a:rPr lang="ru-RU" altLang="ru-RU" sz="1200">
                  <a:latin typeface="Arial" charset="0"/>
                </a:rPr>
                <a:t>        </a:t>
              </a:r>
              <a:r>
                <a:rPr lang="ru-RU" altLang="ru-RU" sz="1200" b="1">
                  <a:latin typeface="Arial" charset="0"/>
                </a:rPr>
                <a:t>А1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77849" name="Rectangle 14"/>
            <p:cNvSpPr>
              <a:spLocks noChangeArrowheads="1"/>
            </p:cNvSpPr>
            <p:nvPr/>
          </p:nvSpPr>
          <p:spPr bwMode="auto">
            <a:xfrm>
              <a:off x="3272" y="1092"/>
              <a:ext cx="432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200">
                  <a:latin typeface="Arial" charset="0"/>
                </a:rPr>
                <a:t> </a:t>
              </a:r>
            </a:p>
            <a:p>
              <a:r>
                <a:rPr lang="ru-RU" altLang="ru-RU" sz="1200">
                  <a:latin typeface="Arial" charset="0"/>
                </a:rPr>
                <a:t>        </a:t>
              </a:r>
              <a:r>
                <a:rPr lang="ru-RU" altLang="ru-RU" sz="1200" b="1">
                  <a:latin typeface="Arial" charset="0"/>
                </a:rPr>
                <a:t>А2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77850" name="Rectangle 15"/>
            <p:cNvSpPr>
              <a:spLocks noChangeArrowheads="1"/>
            </p:cNvSpPr>
            <p:nvPr/>
          </p:nvSpPr>
          <p:spPr bwMode="auto">
            <a:xfrm>
              <a:off x="3920" y="1308"/>
              <a:ext cx="432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200">
                  <a:latin typeface="Arial" charset="0"/>
                </a:rPr>
                <a:t> </a:t>
              </a:r>
            </a:p>
            <a:p>
              <a:r>
                <a:rPr lang="ru-RU" altLang="ru-RU" sz="1200">
                  <a:latin typeface="Arial" charset="0"/>
                </a:rPr>
                <a:t>        </a:t>
              </a:r>
              <a:r>
                <a:rPr lang="ru-RU" altLang="ru-RU" sz="1200" b="1">
                  <a:latin typeface="Arial" charset="0"/>
                </a:rPr>
                <a:t>А3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77851" name="Rectangle 16"/>
            <p:cNvSpPr>
              <a:spLocks noChangeArrowheads="1"/>
            </p:cNvSpPr>
            <p:nvPr/>
          </p:nvSpPr>
          <p:spPr bwMode="auto">
            <a:xfrm>
              <a:off x="4568" y="1524"/>
              <a:ext cx="432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200">
                  <a:latin typeface="Arial" charset="0"/>
                </a:rPr>
                <a:t> </a:t>
              </a:r>
            </a:p>
            <a:p>
              <a:r>
                <a:rPr lang="ru-RU" altLang="ru-RU" sz="1200">
                  <a:latin typeface="Arial" charset="0"/>
                </a:rPr>
                <a:t>        </a:t>
              </a:r>
              <a:r>
                <a:rPr lang="ru-RU" altLang="ru-RU" sz="1200" b="1">
                  <a:latin typeface="Arial" charset="0"/>
                </a:rPr>
                <a:t>А4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77852" name="Line 17"/>
            <p:cNvSpPr>
              <a:spLocks noChangeShapeType="1"/>
            </p:cNvSpPr>
            <p:nvPr/>
          </p:nvSpPr>
          <p:spPr bwMode="auto">
            <a:xfrm>
              <a:off x="2408" y="948"/>
              <a:ext cx="21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53" name="Line 18"/>
            <p:cNvSpPr>
              <a:spLocks noChangeShapeType="1"/>
            </p:cNvSpPr>
            <p:nvPr/>
          </p:nvSpPr>
          <p:spPr bwMode="auto">
            <a:xfrm>
              <a:off x="2984" y="1236"/>
              <a:ext cx="2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54" name="Line 19"/>
            <p:cNvSpPr>
              <a:spLocks noChangeShapeType="1"/>
            </p:cNvSpPr>
            <p:nvPr/>
          </p:nvSpPr>
          <p:spPr bwMode="auto">
            <a:xfrm>
              <a:off x="2840" y="660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55" name="Line 20"/>
            <p:cNvSpPr>
              <a:spLocks noChangeShapeType="1"/>
            </p:cNvSpPr>
            <p:nvPr/>
          </p:nvSpPr>
          <p:spPr bwMode="auto">
            <a:xfrm>
              <a:off x="3056" y="948"/>
              <a:ext cx="17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56" name="Line 21"/>
            <p:cNvSpPr>
              <a:spLocks noChangeShapeType="1"/>
            </p:cNvSpPr>
            <p:nvPr/>
          </p:nvSpPr>
          <p:spPr bwMode="auto">
            <a:xfrm>
              <a:off x="4784" y="948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57" name="Line 22"/>
            <p:cNvSpPr>
              <a:spLocks noChangeShapeType="1"/>
            </p:cNvSpPr>
            <p:nvPr/>
          </p:nvSpPr>
          <p:spPr bwMode="auto">
            <a:xfrm>
              <a:off x="4136" y="94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58" name="Line 23"/>
            <p:cNvSpPr>
              <a:spLocks noChangeShapeType="1"/>
            </p:cNvSpPr>
            <p:nvPr/>
          </p:nvSpPr>
          <p:spPr bwMode="auto">
            <a:xfrm>
              <a:off x="3488" y="948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59" name="Line 24"/>
            <p:cNvSpPr>
              <a:spLocks noChangeShapeType="1"/>
            </p:cNvSpPr>
            <p:nvPr/>
          </p:nvSpPr>
          <p:spPr bwMode="auto">
            <a:xfrm>
              <a:off x="3704" y="1236"/>
              <a:ext cx="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60" name="Line 25"/>
            <p:cNvSpPr>
              <a:spLocks noChangeShapeType="1"/>
            </p:cNvSpPr>
            <p:nvPr/>
          </p:nvSpPr>
          <p:spPr bwMode="auto">
            <a:xfrm>
              <a:off x="3776" y="1236"/>
              <a:ext cx="0" cy="2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61" name="Line 26"/>
            <p:cNvSpPr>
              <a:spLocks noChangeShapeType="1"/>
            </p:cNvSpPr>
            <p:nvPr/>
          </p:nvSpPr>
          <p:spPr bwMode="auto">
            <a:xfrm>
              <a:off x="3776" y="1452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62" name="Line 27"/>
            <p:cNvSpPr>
              <a:spLocks noChangeShapeType="1"/>
            </p:cNvSpPr>
            <p:nvPr/>
          </p:nvSpPr>
          <p:spPr bwMode="auto">
            <a:xfrm>
              <a:off x="4352" y="1452"/>
              <a:ext cx="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63" name="Line 28"/>
            <p:cNvSpPr>
              <a:spLocks noChangeShapeType="1"/>
            </p:cNvSpPr>
            <p:nvPr/>
          </p:nvSpPr>
          <p:spPr bwMode="auto">
            <a:xfrm>
              <a:off x="4424" y="1452"/>
              <a:ext cx="0" cy="2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64" name="Line 29"/>
            <p:cNvSpPr>
              <a:spLocks noChangeShapeType="1"/>
            </p:cNvSpPr>
            <p:nvPr/>
          </p:nvSpPr>
          <p:spPr bwMode="auto">
            <a:xfrm>
              <a:off x="4424" y="1668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65" name="Line 30"/>
            <p:cNvSpPr>
              <a:spLocks noChangeShapeType="1"/>
            </p:cNvSpPr>
            <p:nvPr/>
          </p:nvSpPr>
          <p:spPr bwMode="auto">
            <a:xfrm>
              <a:off x="5000" y="1668"/>
              <a:ext cx="21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66" name="Rectangle 31"/>
            <p:cNvSpPr>
              <a:spLocks noChangeArrowheads="1"/>
            </p:cNvSpPr>
            <p:nvPr/>
          </p:nvSpPr>
          <p:spPr bwMode="auto">
            <a:xfrm>
              <a:off x="2768" y="300"/>
              <a:ext cx="1656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200">
                  <a:latin typeface="Arial" charset="0"/>
                </a:rPr>
                <a:t>Более детальное представление</a:t>
              </a:r>
              <a:endParaRPr lang="ru-RU" altLang="ru-RU">
                <a:latin typeface="Arial" charset="0"/>
              </a:endParaRPr>
            </a:p>
          </p:txBody>
        </p:sp>
      </p:grpSp>
      <p:grpSp>
        <p:nvGrpSpPr>
          <p:cNvPr id="77827" name="Group 32"/>
          <p:cNvGrpSpPr>
            <a:grpSpLocks/>
          </p:cNvGrpSpPr>
          <p:nvPr/>
        </p:nvGrpSpPr>
        <p:grpSpPr bwMode="auto">
          <a:xfrm>
            <a:off x="1828800" y="3716338"/>
            <a:ext cx="6535738" cy="2171700"/>
            <a:chOff x="1152" y="2341"/>
            <a:chExt cx="4117" cy="1368"/>
          </a:xfrm>
        </p:grpSpPr>
        <p:grpSp>
          <p:nvGrpSpPr>
            <p:cNvPr id="77828" name="Group 33"/>
            <p:cNvGrpSpPr>
              <a:grpSpLocks/>
            </p:cNvGrpSpPr>
            <p:nvPr/>
          </p:nvGrpSpPr>
          <p:grpSpPr bwMode="auto">
            <a:xfrm>
              <a:off x="2965" y="2485"/>
              <a:ext cx="2304" cy="1224"/>
              <a:chOff x="1881" y="1314"/>
              <a:chExt cx="5760" cy="3060"/>
            </a:xfrm>
          </p:grpSpPr>
          <p:sp>
            <p:nvSpPr>
              <p:cNvPr id="77833" name="Rectangle 34"/>
              <p:cNvSpPr>
                <a:spLocks noChangeArrowheads="1"/>
              </p:cNvSpPr>
              <p:nvPr/>
            </p:nvSpPr>
            <p:spPr bwMode="auto">
              <a:xfrm>
                <a:off x="1881" y="1314"/>
                <a:ext cx="5760" cy="30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ru-RU" altLang="ru-RU"/>
              </a:p>
            </p:txBody>
          </p:sp>
          <p:sp>
            <p:nvSpPr>
              <p:cNvPr id="77834" name="Rectangle 35"/>
              <p:cNvSpPr>
                <a:spLocks noChangeArrowheads="1"/>
              </p:cNvSpPr>
              <p:nvPr/>
            </p:nvSpPr>
            <p:spPr bwMode="auto">
              <a:xfrm>
                <a:off x="2601" y="1854"/>
                <a:ext cx="900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ru-RU" altLang="ru-RU" sz="1200">
                    <a:latin typeface="Arial" charset="0"/>
                  </a:rPr>
                  <a:t>   </a:t>
                </a:r>
                <a:r>
                  <a:rPr lang="ru-RU" altLang="ru-RU" sz="1200" b="1">
                    <a:latin typeface="Arial" charset="0"/>
                  </a:rPr>
                  <a:t>А41</a:t>
                </a:r>
                <a:endParaRPr lang="ru-RU" altLang="ru-RU">
                  <a:latin typeface="Arial" charset="0"/>
                </a:endParaRPr>
              </a:p>
            </p:txBody>
          </p:sp>
          <p:sp>
            <p:nvSpPr>
              <p:cNvPr id="77835" name="Rectangle 36"/>
              <p:cNvSpPr>
                <a:spLocks noChangeArrowheads="1"/>
              </p:cNvSpPr>
              <p:nvPr/>
            </p:nvSpPr>
            <p:spPr bwMode="auto">
              <a:xfrm>
                <a:off x="4221" y="2574"/>
                <a:ext cx="900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ru-RU" altLang="ru-RU" sz="1200">
                    <a:latin typeface="Arial" charset="0"/>
                  </a:rPr>
                  <a:t>   </a:t>
                </a:r>
                <a:r>
                  <a:rPr lang="ru-RU" altLang="ru-RU" sz="1200" b="1">
                    <a:latin typeface="Arial" charset="0"/>
                  </a:rPr>
                  <a:t>А42</a:t>
                </a:r>
                <a:endParaRPr lang="ru-RU" altLang="ru-RU">
                  <a:latin typeface="Arial" charset="0"/>
                </a:endParaRPr>
              </a:p>
            </p:txBody>
          </p:sp>
          <p:sp>
            <p:nvSpPr>
              <p:cNvPr id="77836" name="Rectangle 37"/>
              <p:cNvSpPr>
                <a:spLocks noChangeArrowheads="1"/>
              </p:cNvSpPr>
              <p:nvPr/>
            </p:nvSpPr>
            <p:spPr bwMode="auto">
              <a:xfrm>
                <a:off x="5841" y="3114"/>
                <a:ext cx="900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ru-RU" altLang="ru-RU" sz="1200">
                    <a:latin typeface="Arial" charset="0"/>
                  </a:rPr>
                  <a:t>   </a:t>
                </a:r>
                <a:r>
                  <a:rPr lang="ru-RU" altLang="ru-RU" sz="1200" b="1">
                    <a:latin typeface="Arial" charset="0"/>
                  </a:rPr>
                  <a:t>А43</a:t>
                </a:r>
                <a:endParaRPr lang="ru-RU" altLang="ru-RU">
                  <a:latin typeface="Arial" charset="0"/>
                </a:endParaRPr>
              </a:p>
            </p:txBody>
          </p:sp>
          <p:sp>
            <p:nvSpPr>
              <p:cNvPr id="77837" name="Line 38"/>
              <p:cNvSpPr>
                <a:spLocks noChangeShapeType="1"/>
              </p:cNvSpPr>
              <p:nvPr/>
            </p:nvSpPr>
            <p:spPr bwMode="auto">
              <a:xfrm>
                <a:off x="2061" y="2034"/>
                <a:ext cx="5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7838" name="Line 39"/>
              <p:cNvSpPr>
                <a:spLocks noChangeShapeType="1"/>
              </p:cNvSpPr>
              <p:nvPr/>
            </p:nvSpPr>
            <p:spPr bwMode="auto">
              <a:xfrm>
                <a:off x="2961" y="1494"/>
                <a:ext cx="0" cy="3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7839" name="Line 40"/>
              <p:cNvSpPr>
                <a:spLocks noChangeShapeType="1"/>
              </p:cNvSpPr>
              <p:nvPr/>
            </p:nvSpPr>
            <p:spPr bwMode="auto">
              <a:xfrm>
                <a:off x="4581" y="2214"/>
                <a:ext cx="0" cy="3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7840" name="Line 41"/>
              <p:cNvSpPr>
                <a:spLocks noChangeShapeType="1"/>
              </p:cNvSpPr>
              <p:nvPr/>
            </p:nvSpPr>
            <p:spPr bwMode="auto">
              <a:xfrm>
                <a:off x="3501" y="2214"/>
                <a:ext cx="10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7841" name="Line 42"/>
              <p:cNvSpPr>
                <a:spLocks noChangeShapeType="1"/>
              </p:cNvSpPr>
              <p:nvPr/>
            </p:nvSpPr>
            <p:spPr bwMode="auto">
              <a:xfrm>
                <a:off x="5121" y="2754"/>
                <a:ext cx="10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7842" name="Line 43"/>
              <p:cNvSpPr>
                <a:spLocks noChangeShapeType="1"/>
              </p:cNvSpPr>
              <p:nvPr/>
            </p:nvSpPr>
            <p:spPr bwMode="auto">
              <a:xfrm>
                <a:off x="6201" y="2754"/>
                <a:ext cx="0" cy="3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7843" name="Line 44"/>
              <p:cNvSpPr>
                <a:spLocks noChangeShapeType="1"/>
              </p:cNvSpPr>
              <p:nvPr/>
            </p:nvSpPr>
            <p:spPr bwMode="auto">
              <a:xfrm>
                <a:off x="6741" y="3474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7844" name="Line 45"/>
              <p:cNvSpPr>
                <a:spLocks noChangeShapeType="1"/>
              </p:cNvSpPr>
              <p:nvPr/>
            </p:nvSpPr>
            <p:spPr bwMode="auto">
              <a:xfrm>
                <a:off x="2241" y="2034"/>
                <a:ext cx="0" cy="14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7845" name="Line 46"/>
              <p:cNvSpPr>
                <a:spLocks noChangeShapeType="1"/>
              </p:cNvSpPr>
              <p:nvPr/>
            </p:nvSpPr>
            <p:spPr bwMode="auto">
              <a:xfrm>
                <a:off x="2241" y="3474"/>
                <a:ext cx="36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7846" name="Line 47"/>
              <p:cNvSpPr>
                <a:spLocks noChangeShapeType="1"/>
              </p:cNvSpPr>
              <p:nvPr/>
            </p:nvSpPr>
            <p:spPr bwMode="auto">
              <a:xfrm>
                <a:off x="2241" y="2934"/>
                <a:ext cx="19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77829" name="Line 48"/>
            <p:cNvSpPr>
              <a:spLocks noChangeShapeType="1"/>
            </p:cNvSpPr>
            <p:nvPr/>
          </p:nvSpPr>
          <p:spPr bwMode="auto">
            <a:xfrm flipV="1">
              <a:off x="2605" y="2341"/>
              <a:ext cx="0" cy="2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30" name="Rectangle 49"/>
            <p:cNvSpPr>
              <a:spLocks noChangeArrowheads="1"/>
            </p:cNvSpPr>
            <p:nvPr/>
          </p:nvSpPr>
          <p:spPr bwMode="auto">
            <a:xfrm>
              <a:off x="1152" y="2557"/>
              <a:ext cx="1741" cy="6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400">
                  <a:latin typeface="Arial" charset="0"/>
                </a:rPr>
                <a:t>Верхняя диаграмма является родительской для нижней диаграммы</a:t>
              </a:r>
            </a:p>
          </p:txBody>
        </p:sp>
        <p:sp>
          <p:nvSpPr>
            <p:cNvPr id="77831" name="Line 50"/>
            <p:cNvSpPr>
              <a:spLocks noChangeShapeType="1"/>
            </p:cNvSpPr>
            <p:nvPr/>
          </p:nvSpPr>
          <p:spPr bwMode="auto">
            <a:xfrm>
              <a:off x="2605" y="3421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7832" name="Line 51"/>
            <p:cNvSpPr>
              <a:spLocks noChangeShapeType="1"/>
            </p:cNvSpPr>
            <p:nvPr/>
          </p:nvSpPr>
          <p:spPr bwMode="auto">
            <a:xfrm>
              <a:off x="2605" y="3205"/>
              <a:ext cx="0" cy="2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838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Декомпозиция</a:t>
            </a:r>
          </a:p>
        </p:txBody>
      </p:sp>
      <p:sp>
        <p:nvSpPr>
          <p:cNvPr id="155651" name="Rectangle 3"/>
          <p:cNvSpPr>
            <a:spLocks noChangeArrowheads="1"/>
          </p:cNvSpPr>
          <p:nvPr/>
        </p:nvSpPr>
        <p:spPr bwMode="auto">
          <a:xfrm>
            <a:off x="3133725" y="25098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ru-RU" altLang="ru-RU"/>
          </a:p>
        </p:txBody>
      </p:sp>
      <p:pic>
        <p:nvPicPr>
          <p:cNvPr id="79875" name="Picture 4" descr="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1600200"/>
            <a:ext cx="7162800" cy="457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9876" name="Rectangle 5"/>
          <p:cNvSpPr>
            <a:spLocks noChangeArrowheads="1"/>
          </p:cNvSpPr>
          <p:nvPr/>
        </p:nvSpPr>
        <p:spPr bwMode="auto">
          <a:xfrm>
            <a:off x="3233738" y="2486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ru-RU" altLang="ru-RU"/>
          </a:p>
        </p:txBody>
      </p:sp>
      <p:pic>
        <p:nvPicPr>
          <p:cNvPr id="155654" name="Picture 6" descr="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1295400"/>
            <a:ext cx="85344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5655" name="Rectangle 7"/>
          <p:cNvSpPr>
            <a:spLocks noChangeArrowheads="1"/>
          </p:cNvSpPr>
          <p:nvPr/>
        </p:nvSpPr>
        <p:spPr bwMode="auto">
          <a:xfrm>
            <a:off x="2819400" y="3048000"/>
            <a:ext cx="1066800" cy="762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ru-RU" altLang="ru-RU"/>
          </a:p>
        </p:txBody>
      </p:sp>
      <p:sp>
        <p:nvSpPr>
          <p:cNvPr id="155656" name="Rectangle 8"/>
          <p:cNvSpPr>
            <a:spLocks noChangeArrowheads="1"/>
          </p:cNvSpPr>
          <p:nvPr/>
        </p:nvSpPr>
        <p:spPr bwMode="auto">
          <a:xfrm>
            <a:off x="4191000" y="3352800"/>
            <a:ext cx="1066800" cy="762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ru-RU" altLang="ru-RU"/>
          </a:p>
        </p:txBody>
      </p:sp>
      <p:sp>
        <p:nvSpPr>
          <p:cNvPr id="155657" name="Rectangle 9"/>
          <p:cNvSpPr>
            <a:spLocks noChangeArrowheads="1"/>
          </p:cNvSpPr>
          <p:nvPr/>
        </p:nvSpPr>
        <p:spPr bwMode="auto">
          <a:xfrm>
            <a:off x="5562600" y="4114800"/>
            <a:ext cx="1066800" cy="762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ru-RU" altLang="ru-RU"/>
          </a:p>
        </p:txBody>
      </p:sp>
      <p:sp>
        <p:nvSpPr>
          <p:cNvPr id="155658" name="Line 10"/>
          <p:cNvSpPr>
            <a:spLocks noChangeShapeType="1"/>
          </p:cNvSpPr>
          <p:nvPr/>
        </p:nvSpPr>
        <p:spPr bwMode="auto">
          <a:xfrm>
            <a:off x="2209800" y="3657600"/>
            <a:ext cx="6096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55659" name="Line 11"/>
          <p:cNvSpPr>
            <a:spLocks noChangeShapeType="1"/>
          </p:cNvSpPr>
          <p:nvPr/>
        </p:nvSpPr>
        <p:spPr bwMode="auto">
          <a:xfrm>
            <a:off x="4495800" y="2667000"/>
            <a:ext cx="0" cy="6858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55660" name="Line 12"/>
          <p:cNvSpPr>
            <a:spLocks noChangeShapeType="1"/>
          </p:cNvSpPr>
          <p:nvPr/>
        </p:nvSpPr>
        <p:spPr bwMode="auto">
          <a:xfrm>
            <a:off x="5257800" y="3657600"/>
            <a:ext cx="15240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5661" name="Freeform 13"/>
          <p:cNvSpPr>
            <a:spLocks/>
          </p:cNvSpPr>
          <p:nvPr/>
        </p:nvSpPr>
        <p:spPr bwMode="auto">
          <a:xfrm>
            <a:off x="3276600" y="1905000"/>
            <a:ext cx="1219200" cy="1143000"/>
          </a:xfrm>
          <a:custGeom>
            <a:avLst/>
            <a:gdLst>
              <a:gd name="T0" fmla="*/ 1935480178 w 768"/>
              <a:gd name="T1" fmla="*/ 0 h 720"/>
              <a:gd name="T2" fmla="*/ 0 w 768"/>
              <a:gd name="T3" fmla="*/ 0 h 720"/>
              <a:gd name="T4" fmla="*/ 0 w 768"/>
              <a:gd name="T5" fmla="*/ 1814512678 h 720"/>
              <a:gd name="T6" fmla="*/ 0 60000 65536"/>
              <a:gd name="T7" fmla="*/ 0 60000 65536"/>
              <a:gd name="T8" fmla="*/ 0 60000 65536"/>
              <a:gd name="T9" fmla="*/ 0 w 768"/>
              <a:gd name="T10" fmla="*/ 0 h 720"/>
              <a:gd name="T11" fmla="*/ 768 w 768"/>
              <a:gd name="T12" fmla="*/ 720 h 7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8" h="720">
                <a:moveTo>
                  <a:pt x="768" y="0"/>
                </a:moveTo>
                <a:lnTo>
                  <a:pt x="0" y="0"/>
                </a:lnTo>
                <a:lnTo>
                  <a:pt x="0" y="720"/>
                </a:lnTo>
              </a:path>
            </a:pathLst>
          </a:custGeom>
          <a:noFill/>
          <a:ln w="57150" cmpd="sng">
            <a:solidFill>
              <a:schemeClr val="accent2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55662" name="Line 14"/>
          <p:cNvSpPr>
            <a:spLocks noChangeShapeType="1"/>
          </p:cNvSpPr>
          <p:nvPr/>
        </p:nvSpPr>
        <p:spPr bwMode="auto">
          <a:xfrm flipV="1">
            <a:off x="4495800" y="4114800"/>
            <a:ext cx="0" cy="9144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55663" name="Freeform 15"/>
          <p:cNvSpPr>
            <a:spLocks/>
          </p:cNvSpPr>
          <p:nvPr/>
        </p:nvSpPr>
        <p:spPr bwMode="auto">
          <a:xfrm>
            <a:off x="4495800" y="4876800"/>
            <a:ext cx="1447800" cy="838200"/>
          </a:xfrm>
          <a:custGeom>
            <a:avLst/>
            <a:gdLst>
              <a:gd name="T0" fmla="*/ 0 w 912"/>
              <a:gd name="T1" fmla="*/ 1330642282 h 528"/>
              <a:gd name="T2" fmla="*/ 2147483647 w 912"/>
              <a:gd name="T3" fmla="*/ 1330642282 h 528"/>
              <a:gd name="T4" fmla="*/ 2147483647 w 912"/>
              <a:gd name="T5" fmla="*/ 0 h 528"/>
              <a:gd name="T6" fmla="*/ 0 60000 65536"/>
              <a:gd name="T7" fmla="*/ 0 60000 65536"/>
              <a:gd name="T8" fmla="*/ 0 60000 65536"/>
              <a:gd name="T9" fmla="*/ 0 w 912"/>
              <a:gd name="T10" fmla="*/ 0 h 528"/>
              <a:gd name="T11" fmla="*/ 912 w 912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528">
                <a:moveTo>
                  <a:pt x="0" y="528"/>
                </a:moveTo>
                <a:lnTo>
                  <a:pt x="912" y="528"/>
                </a:lnTo>
                <a:lnTo>
                  <a:pt x="912" y="0"/>
                </a:lnTo>
              </a:path>
            </a:pathLst>
          </a:custGeom>
          <a:noFill/>
          <a:ln w="57150" cmpd="sng">
            <a:solidFill>
              <a:schemeClr val="accent2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55664" name="Freeform 16"/>
          <p:cNvSpPr>
            <a:spLocks/>
          </p:cNvSpPr>
          <p:nvPr/>
        </p:nvSpPr>
        <p:spPr bwMode="auto">
          <a:xfrm>
            <a:off x="6629400" y="3733800"/>
            <a:ext cx="838200" cy="762000"/>
          </a:xfrm>
          <a:custGeom>
            <a:avLst/>
            <a:gdLst>
              <a:gd name="T0" fmla="*/ 0 w 528"/>
              <a:gd name="T1" fmla="*/ 1209675089 h 480"/>
              <a:gd name="T2" fmla="*/ 1330642282 w 528"/>
              <a:gd name="T3" fmla="*/ 1209675089 h 480"/>
              <a:gd name="T4" fmla="*/ 1330642282 w 528"/>
              <a:gd name="T5" fmla="*/ 0 h 480"/>
              <a:gd name="T6" fmla="*/ 0 60000 65536"/>
              <a:gd name="T7" fmla="*/ 0 60000 65536"/>
              <a:gd name="T8" fmla="*/ 0 60000 65536"/>
              <a:gd name="T9" fmla="*/ 0 w 528"/>
              <a:gd name="T10" fmla="*/ 0 h 480"/>
              <a:gd name="T11" fmla="*/ 528 w 528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28" h="480">
                <a:moveTo>
                  <a:pt x="0" y="480"/>
                </a:moveTo>
                <a:lnTo>
                  <a:pt x="528" y="480"/>
                </a:lnTo>
                <a:lnTo>
                  <a:pt x="528" y="0"/>
                </a:lnTo>
              </a:path>
            </a:pathLst>
          </a:custGeom>
          <a:noFill/>
          <a:ln w="57150" cmpd="sng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5665" name="Line 17"/>
          <p:cNvSpPr>
            <a:spLocks noChangeShapeType="1"/>
          </p:cNvSpPr>
          <p:nvPr/>
        </p:nvSpPr>
        <p:spPr bwMode="auto">
          <a:xfrm>
            <a:off x="3886200" y="3581400"/>
            <a:ext cx="304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55666" name="Freeform 18"/>
          <p:cNvSpPr>
            <a:spLocks/>
          </p:cNvSpPr>
          <p:nvPr/>
        </p:nvSpPr>
        <p:spPr bwMode="auto">
          <a:xfrm>
            <a:off x="5257800" y="3810000"/>
            <a:ext cx="304800" cy="914400"/>
          </a:xfrm>
          <a:custGeom>
            <a:avLst/>
            <a:gdLst>
              <a:gd name="T0" fmla="*/ 0 w 192"/>
              <a:gd name="T1" fmla="*/ 0 h 576"/>
              <a:gd name="T2" fmla="*/ 120967511 w 192"/>
              <a:gd name="T3" fmla="*/ 0 h 576"/>
              <a:gd name="T4" fmla="*/ 120967511 w 192"/>
              <a:gd name="T5" fmla="*/ 1451609782 h 576"/>
              <a:gd name="T6" fmla="*/ 483870045 w 192"/>
              <a:gd name="T7" fmla="*/ 1451609782 h 576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76"/>
              <a:gd name="T14" fmla="*/ 192 w 192"/>
              <a:gd name="T15" fmla="*/ 576 h 5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76">
                <a:moveTo>
                  <a:pt x="0" y="0"/>
                </a:moveTo>
                <a:lnTo>
                  <a:pt x="48" y="0"/>
                </a:lnTo>
                <a:lnTo>
                  <a:pt x="48" y="576"/>
                </a:lnTo>
                <a:lnTo>
                  <a:pt x="192" y="576"/>
                </a:lnTo>
              </a:path>
            </a:pathLst>
          </a:custGeom>
          <a:noFill/>
          <a:ln w="38100" cmpd="sng">
            <a:solidFill>
              <a:schemeClr val="accent2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5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5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56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56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5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5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55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5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5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5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animBg="1"/>
      <p:bldP spid="155655" grpId="0" animBg="1"/>
      <p:bldP spid="155656" grpId="0" animBg="1"/>
      <p:bldP spid="155657" grpId="0" animBg="1"/>
      <p:bldP spid="155658" grpId="0" animBg="1"/>
      <p:bldP spid="155659" grpId="0" animBg="1"/>
      <p:bldP spid="155660" grpId="0" animBg="1"/>
      <p:bldP spid="155661" grpId="0" animBg="1"/>
      <p:bldP spid="155662" grpId="0" animBg="1"/>
      <p:bldP spid="155663" grpId="0" animBg="1"/>
      <p:bldP spid="155664" grpId="0" animBg="1"/>
      <p:bldP spid="155665" grpId="0" animBg="1"/>
      <p:bldP spid="15566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extLst/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Правила построения иерархии диаграмм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952625"/>
            <a:ext cx="8229600" cy="4525963"/>
          </a:xfrm>
        </p:spPr>
        <p:txBody>
          <a:bodyPr/>
          <a:lstStyle/>
          <a:p>
            <a:pPr eaLnBrk="1" hangingPunct="1"/>
            <a:r>
              <a:rPr lang="ru-RU" altLang="ru-RU" smtClean="0"/>
              <a:t>Дуги, входящие в блок и выходящие из него на диаграмме верхнего уровня, являются точно теми же самыми, что и дуги, входящие в диаграмму нижнего уровня и выходящие из нее, потому что блок и диаграммы изображают одну и ту же часть системы.</a:t>
            </a:r>
          </a:p>
          <a:p>
            <a:pPr eaLnBrk="1" hangingPunct="1"/>
            <a:endParaRPr lang="ru-RU" altLang="ru-R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3600" dirty="0" smtClean="0"/>
              <a:t>Правила построения иерархии диаграмм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41313" y="2017713"/>
            <a:ext cx="4038600" cy="4525962"/>
          </a:xfrm>
          <a:extLst/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altLang="ru-RU" sz="1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Неприсоединенные</a:t>
            </a: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дуги соответствуют входам, управлениям и выходам родительского блока.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Источник или получатель пограничных дуг может быть обнаружен только на родительской диаграмме.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ru-RU" altLang="ru-RU" sz="1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Неприсоединенные</a:t>
            </a: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концы должны соответствовать дугам на исходной диаграмме.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altLang="ru-RU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Все граничные дуги должны продолжаться на родительской диаграмме, чтобы она была полной и непротиворечивой.</a:t>
            </a:r>
          </a:p>
        </p:txBody>
      </p:sp>
      <p:sp>
        <p:nvSpPr>
          <p:cNvPr id="83971" name="Rectangle 4"/>
          <p:cNvSpPr>
            <a:spLocks noGrp="1" noChangeArrowheads="1" noTextEdit="1"/>
          </p:cNvSpPr>
          <p:nvPr>
            <p:ph type="clipArt" sz="half" idx="2"/>
          </p:nvPr>
        </p:nvSpPr>
        <p:spPr>
          <a:xfrm>
            <a:off x="5140325" y="2017713"/>
            <a:ext cx="3814763" cy="4114800"/>
          </a:xfrm>
        </p:spPr>
      </p:sp>
      <p:grpSp>
        <p:nvGrpSpPr>
          <p:cNvPr id="83972" name="Group 5"/>
          <p:cNvGrpSpPr>
            <a:grpSpLocks/>
          </p:cNvGrpSpPr>
          <p:nvPr/>
        </p:nvGrpSpPr>
        <p:grpSpPr bwMode="auto">
          <a:xfrm>
            <a:off x="5006975" y="1666875"/>
            <a:ext cx="3810000" cy="4876800"/>
            <a:chOff x="2781" y="544"/>
            <a:chExt cx="6000" cy="7680"/>
          </a:xfrm>
        </p:grpSpPr>
        <p:sp>
          <p:nvSpPr>
            <p:cNvPr id="83973" name="Rectangle 6"/>
            <p:cNvSpPr>
              <a:spLocks noChangeArrowheads="1"/>
            </p:cNvSpPr>
            <p:nvPr/>
          </p:nvSpPr>
          <p:spPr bwMode="auto">
            <a:xfrm>
              <a:off x="2781" y="544"/>
              <a:ext cx="5880" cy="34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ru-RU" altLang="ru-RU"/>
            </a:p>
          </p:txBody>
        </p:sp>
        <p:sp>
          <p:nvSpPr>
            <p:cNvPr id="83974" name="Text Box 7"/>
            <p:cNvSpPr txBox="1">
              <a:spLocks noChangeArrowheads="1"/>
            </p:cNvSpPr>
            <p:nvPr/>
          </p:nvSpPr>
          <p:spPr bwMode="auto">
            <a:xfrm>
              <a:off x="3381" y="1024"/>
              <a:ext cx="840" cy="8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ru-RU" altLang="ru-RU" sz="1200">
                  <a:latin typeface="Times New Roman" pitchFamily="18" charset="0"/>
                </a:rPr>
                <a:t>А11</a:t>
              </a:r>
            </a:p>
          </p:txBody>
        </p:sp>
        <p:sp>
          <p:nvSpPr>
            <p:cNvPr id="83975" name="Text Box 8"/>
            <p:cNvSpPr txBox="1">
              <a:spLocks noChangeArrowheads="1"/>
            </p:cNvSpPr>
            <p:nvPr/>
          </p:nvSpPr>
          <p:spPr bwMode="auto">
            <a:xfrm>
              <a:off x="4941" y="1864"/>
              <a:ext cx="1200" cy="9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ru-RU" altLang="ru-RU" sz="1200">
                  <a:latin typeface="Times New Roman" pitchFamily="18" charset="0"/>
                </a:rPr>
                <a:t>А12</a:t>
              </a:r>
            </a:p>
          </p:txBody>
        </p:sp>
        <p:sp>
          <p:nvSpPr>
            <p:cNvPr id="83976" name="Text Box 9"/>
            <p:cNvSpPr txBox="1">
              <a:spLocks noChangeArrowheads="1"/>
            </p:cNvSpPr>
            <p:nvPr/>
          </p:nvSpPr>
          <p:spPr bwMode="auto">
            <a:xfrm>
              <a:off x="6621" y="2704"/>
              <a:ext cx="1440" cy="9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ru-RU" altLang="ru-RU" sz="1200">
                  <a:latin typeface="Times New Roman" pitchFamily="18" charset="0"/>
                </a:rPr>
                <a:t>А13</a:t>
              </a:r>
            </a:p>
          </p:txBody>
        </p:sp>
        <p:sp>
          <p:nvSpPr>
            <p:cNvPr id="83977" name="Line 10"/>
            <p:cNvSpPr>
              <a:spLocks noChangeShapeType="1"/>
            </p:cNvSpPr>
            <p:nvPr/>
          </p:nvSpPr>
          <p:spPr bwMode="auto">
            <a:xfrm>
              <a:off x="4221" y="126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78" name="Line 11"/>
            <p:cNvSpPr>
              <a:spLocks noChangeShapeType="1"/>
            </p:cNvSpPr>
            <p:nvPr/>
          </p:nvSpPr>
          <p:spPr bwMode="auto">
            <a:xfrm>
              <a:off x="5301" y="1264"/>
              <a:ext cx="0" cy="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79" name="Line 12"/>
            <p:cNvSpPr>
              <a:spLocks noChangeShapeType="1"/>
            </p:cNvSpPr>
            <p:nvPr/>
          </p:nvSpPr>
          <p:spPr bwMode="auto">
            <a:xfrm>
              <a:off x="4221" y="1504"/>
              <a:ext cx="36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80" name="Line 13"/>
            <p:cNvSpPr>
              <a:spLocks noChangeShapeType="1"/>
            </p:cNvSpPr>
            <p:nvPr/>
          </p:nvSpPr>
          <p:spPr bwMode="auto">
            <a:xfrm>
              <a:off x="4581" y="1624"/>
              <a:ext cx="0" cy="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81" name="Line 14"/>
            <p:cNvSpPr>
              <a:spLocks noChangeShapeType="1"/>
            </p:cNvSpPr>
            <p:nvPr/>
          </p:nvSpPr>
          <p:spPr bwMode="auto">
            <a:xfrm>
              <a:off x="4581" y="2224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82" name="Line 15"/>
            <p:cNvSpPr>
              <a:spLocks noChangeShapeType="1"/>
            </p:cNvSpPr>
            <p:nvPr/>
          </p:nvSpPr>
          <p:spPr bwMode="auto">
            <a:xfrm>
              <a:off x="6141" y="2344"/>
              <a:ext cx="1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83" name="Line 16"/>
            <p:cNvSpPr>
              <a:spLocks noChangeShapeType="1"/>
            </p:cNvSpPr>
            <p:nvPr/>
          </p:nvSpPr>
          <p:spPr bwMode="auto">
            <a:xfrm>
              <a:off x="6261" y="2344"/>
              <a:ext cx="0" cy="8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84" name="Line 17"/>
            <p:cNvSpPr>
              <a:spLocks noChangeShapeType="1"/>
            </p:cNvSpPr>
            <p:nvPr/>
          </p:nvSpPr>
          <p:spPr bwMode="auto">
            <a:xfrm>
              <a:off x="6261" y="3184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85" name="Rectangle 18"/>
            <p:cNvSpPr>
              <a:spLocks noChangeArrowheads="1"/>
            </p:cNvSpPr>
            <p:nvPr/>
          </p:nvSpPr>
          <p:spPr bwMode="auto">
            <a:xfrm>
              <a:off x="2781" y="4504"/>
              <a:ext cx="6000" cy="3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ru-RU" altLang="ru-RU"/>
            </a:p>
          </p:txBody>
        </p:sp>
        <p:sp>
          <p:nvSpPr>
            <p:cNvPr id="83986" name="Text Box 19"/>
            <p:cNvSpPr txBox="1">
              <a:spLocks noChangeArrowheads="1"/>
            </p:cNvSpPr>
            <p:nvPr/>
          </p:nvSpPr>
          <p:spPr bwMode="auto">
            <a:xfrm>
              <a:off x="3141" y="4984"/>
              <a:ext cx="96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ru-RU" altLang="ru-RU" sz="1200">
                  <a:latin typeface="Times New Roman" pitchFamily="18" charset="0"/>
                </a:rPr>
                <a:t>А121</a:t>
              </a:r>
            </a:p>
          </p:txBody>
        </p:sp>
        <p:sp>
          <p:nvSpPr>
            <p:cNvPr id="83987" name="Text Box 20"/>
            <p:cNvSpPr txBox="1">
              <a:spLocks noChangeArrowheads="1"/>
            </p:cNvSpPr>
            <p:nvPr/>
          </p:nvSpPr>
          <p:spPr bwMode="auto">
            <a:xfrm>
              <a:off x="4941" y="5944"/>
              <a:ext cx="108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ru-RU" altLang="ru-RU" sz="1200">
                  <a:latin typeface="Times New Roman" pitchFamily="18" charset="0"/>
                </a:rPr>
                <a:t>А122</a:t>
              </a:r>
            </a:p>
          </p:txBody>
        </p:sp>
        <p:sp>
          <p:nvSpPr>
            <p:cNvPr id="83988" name="Text Box 21"/>
            <p:cNvSpPr txBox="1">
              <a:spLocks noChangeArrowheads="1"/>
            </p:cNvSpPr>
            <p:nvPr/>
          </p:nvSpPr>
          <p:spPr bwMode="auto">
            <a:xfrm>
              <a:off x="6861" y="6784"/>
              <a:ext cx="1080" cy="8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ru-RU" altLang="ru-RU" sz="1200">
                  <a:latin typeface="Times New Roman" pitchFamily="18" charset="0"/>
                </a:rPr>
                <a:t>А123</a:t>
              </a:r>
            </a:p>
          </p:txBody>
        </p:sp>
        <p:sp>
          <p:nvSpPr>
            <p:cNvPr id="83989" name="Line 22"/>
            <p:cNvSpPr>
              <a:spLocks noChangeShapeType="1"/>
            </p:cNvSpPr>
            <p:nvPr/>
          </p:nvSpPr>
          <p:spPr bwMode="auto">
            <a:xfrm>
              <a:off x="3981" y="6304"/>
              <a:ext cx="9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90" name="Line 23"/>
            <p:cNvSpPr>
              <a:spLocks noChangeShapeType="1"/>
            </p:cNvSpPr>
            <p:nvPr/>
          </p:nvSpPr>
          <p:spPr bwMode="auto">
            <a:xfrm>
              <a:off x="4101" y="522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91" name="Line 24"/>
            <p:cNvSpPr>
              <a:spLocks noChangeShapeType="1"/>
            </p:cNvSpPr>
            <p:nvPr/>
          </p:nvSpPr>
          <p:spPr bwMode="auto">
            <a:xfrm>
              <a:off x="5181" y="522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92" name="Line 25"/>
            <p:cNvSpPr>
              <a:spLocks noChangeShapeType="1"/>
            </p:cNvSpPr>
            <p:nvPr/>
          </p:nvSpPr>
          <p:spPr bwMode="auto">
            <a:xfrm>
              <a:off x="6021" y="618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93" name="Line 26"/>
            <p:cNvSpPr>
              <a:spLocks noChangeShapeType="1"/>
            </p:cNvSpPr>
            <p:nvPr/>
          </p:nvSpPr>
          <p:spPr bwMode="auto">
            <a:xfrm>
              <a:off x="7101" y="6184"/>
              <a:ext cx="0" cy="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94" name="Line 27"/>
            <p:cNvSpPr>
              <a:spLocks noChangeShapeType="1"/>
            </p:cNvSpPr>
            <p:nvPr/>
          </p:nvSpPr>
          <p:spPr bwMode="auto">
            <a:xfrm>
              <a:off x="7941" y="7144"/>
              <a:ext cx="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95" name="Text Box 28"/>
            <p:cNvSpPr txBox="1">
              <a:spLocks noChangeArrowheads="1"/>
            </p:cNvSpPr>
            <p:nvPr/>
          </p:nvSpPr>
          <p:spPr bwMode="auto">
            <a:xfrm>
              <a:off x="5661" y="4864"/>
              <a:ext cx="2760" cy="8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ru-RU" altLang="ru-RU" sz="1200">
                  <a:latin typeface="Times New Roman" pitchFamily="18" charset="0"/>
                </a:rPr>
                <a:t>Дуги перенолсятся с родительской диаграммы</a:t>
              </a:r>
            </a:p>
          </p:txBody>
        </p:sp>
        <p:sp>
          <p:nvSpPr>
            <p:cNvPr id="83996" name="Line 29"/>
            <p:cNvSpPr>
              <a:spLocks noChangeShapeType="1"/>
            </p:cNvSpPr>
            <p:nvPr/>
          </p:nvSpPr>
          <p:spPr bwMode="auto">
            <a:xfrm>
              <a:off x="3621" y="462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97" name="Line 30"/>
            <p:cNvSpPr>
              <a:spLocks noChangeShapeType="1"/>
            </p:cNvSpPr>
            <p:nvPr/>
          </p:nvSpPr>
          <p:spPr bwMode="auto">
            <a:xfrm flipH="1" flipV="1">
              <a:off x="3861" y="4744"/>
              <a:ext cx="204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98" name="Line 31"/>
            <p:cNvSpPr>
              <a:spLocks noChangeShapeType="1"/>
            </p:cNvSpPr>
            <p:nvPr/>
          </p:nvSpPr>
          <p:spPr bwMode="auto">
            <a:xfrm>
              <a:off x="7941" y="5464"/>
              <a:ext cx="240" cy="15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3999" name="Line 32"/>
            <p:cNvSpPr>
              <a:spLocks noChangeShapeType="1"/>
            </p:cNvSpPr>
            <p:nvPr/>
          </p:nvSpPr>
          <p:spPr bwMode="auto">
            <a:xfrm flipH="1">
              <a:off x="4221" y="5464"/>
              <a:ext cx="132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794" name="Object 19"/>
          <p:cNvGraphicFramePr>
            <a:graphicFrameLocks noChangeAspect="1"/>
          </p:cNvGraphicFramePr>
          <p:nvPr/>
        </p:nvGraphicFramePr>
        <p:xfrm>
          <a:off x="381000" y="381000"/>
          <a:ext cx="6705600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2" name="Точечный рисунок" r:id="rId4" imgW="6609524" imgH="3657143" progId="PBrush">
                  <p:embed/>
                </p:oleObj>
              </mc:Choice>
              <mc:Fallback>
                <p:oleObj name="Точечный рисунок" r:id="rId4" imgW="6609524" imgH="3657143" progId="PBrush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1000"/>
                        <a:ext cx="6705600" cy="371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5" name="Object 20"/>
          <p:cNvGraphicFramePr>
            <a:graphicFrameLocks noChangeAspect="1"/>
          </p:cNvGraphicFramePr>
          <p:nvPr/>
        </p:nvGraphicFramePr>
        <p:xfrm>
          <a:off x="2286000" y="2971800"/>
          <a:ext cx="6627813" cy="368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3" name="Точечный рисунок" r:id="rId6" imgW="6628571" imgH="3685714" progId="PBrush">
                  <p:embed/>
                </p:oleObj>
              </mc:Choice>
              <mc:Fallback>
                <p:oleObj name="Точечный рисунок" r:id="rId6" imgW="6628571" imgH="3685714" progId="PBrush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971800"/>
                        <a:ext cx="6627813" cy="368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796" name="Line 4"/>
          <p:cNvSpPr>
            <a:spLocks noChangeShapeType="1"/>
          </p:cNvSpPr>
          <p:nvPr/>
        </p:nvSpPr>
        <p:spPr bwMode="auto">
          <a:xfrm>
            <a:off x="3581400" y="457200"/>
            <a:ext cx="0" cy="990600"/>
          </a:xfrm>
          <a:prstGeom prst="line">
            <a:avLst/>
          </a:prstGeom>
          <a:noFill/>
          <a:ln w="28575">
            <a:solidFill>
              <a:srgbClr val="FF66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ru-RU"/>
          </a:p>
        </p:txBody>
      </p:sp>
      <p:grpSp>
        <p:nvGrpSpPr>
          <p:cNvPr id="161797" name="Group 5"/>
          <p:cNvGrpSpPr>
            <a:grpSpLocks/>
          </p:cNvGrpSpPr>
          <p:nvPr/>
        </p:nvGrpSpPr>
        <p:grpSpPr bwMode="auto">
          <a:xfrm>
            <a:off x="3886200" y="3048000"/>
            <a:ext cx="3505200" cy="2286000"/>
            <a:chOff x="2064" y="1776"/>
            <a:chExt cx="2208" cy="1440"/>
          </a:xfrm>
        </p:grpSpPr>
        <p:sp>
          <p:nvSpPr>
            <p:cNvPr id="51232" name="Line 6"/>
            <p:cNvSpPr>
              <a:spLocks noChangeShapeType="1"/>
            </p:cNvSpPr>
            <p:nvPr/>
          </p:nvSpPr>
          <p:spPr bwMode="auto">
            <a:xfrm>
              <a:off x="2064" y="1776"/>
              <a:ext cx="0" cy="28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ru-RU"/>
            </a:p>
          </p:txBody>
        </p:sp>
        <p:sp>
          <p:nvSpPr>
            <p:cNvPr id="51233" name="Line 7"/>
            <p:cNvSpPr>
              <a:spLocks noChangeShapeType="1"/>
            </p:cNvSpPr>
            <p:nvPr/>
          </p:nvSpPr>
          <p:spPr bwMode="auto">
            <a:xfrm>
              <a:off x="3264" y="1968"/>
              <a:ext cx="0" cy="672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ru-RU"/>
            </a:p>
          </p:txBody>
        </p:sp>
        <p:sp>
          <p:nvSpPr>
            <p:cNvPr id="51234" name="Line 8"/>
            <p:cNvSpPr>
              <a:spLocks noChangeShapeType="1"/>
            </p:cNvSpPr>
            <p:nvPr/>
          </p:nvSpPr>
          <p:spPr bwMode="auto">
            <a:xfrm>
              <a:off x="4272" y="1968"/>
              <a:ext cx="0" cy="124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ru-RU"/>
            </a:p>
          </p:txBody>
        </p:sp>
        <p:sp>
          <p:nvSpPr>
            <p:cNvPr id="51235" name="Line 9"/>
            <p:cNvSpPr>
              <a:spLocks noChangeShapeType="1"/>
            </p:cNvSpPr>
            <p:nvPr/>
          </p:nvSpPr>
          <p:spPr bwMode="auto">
            <a:xfrm>
              <a:off x="2064" y="1968"/>
              <a:ext cx="2208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ru-RU"/>
            </a:p>
          </p:txBody>
        </p:sp>
      </p:grpSp>
      <p:sp>
        <p:nvSpPr>
          <p:cNvPr id="161802" name="Line 10"/>
          <p:cNvSpPr>
            <a:spLocks noChangeShapeType="1"/>
          </p:cNvSpPr>
          <p:nvPr/>
        </p:nvSpPr>
        <p:spPr bwMode="auto">
          <a:xfrm>
            <a:off x="533400" y="1828800"/>
            <a:ext cx="2057400" cy="0"/>
          </a:xfrm>
          <a:prstGeom prst="line">
            <a:avLst/>
          </a:prstGeom>
          <a:noFill/>
          <a:ln w="28575">
            <a:solidFill>
              <a:srgbClr val="008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ru-RU"/>
          </a:p>
        </p:txBody>
      </p:sp>
      <p:sp>
        <p:nvSpPr>
          <p:cNvPr id="161803" name="Line 11"/>
          <p:cNvSpPr>
            <a:spLocks noChangeShapeType="1"/>
          </p:cNvSpPr>
          <p:nvPr/>
        </p:nvSpPr>
        <p:spPr bwMode="auto">
          <a:xfrm>
            <a:off x="2362200" y="3810000"/>
            <a:ext cx="990600" cy="0"/>
          </a:xfrm>
          <a:prstGeom prst="line">
            <a:avLst/>
          </a:prstGeom>
          <a:noFill/>
          <a:ln w="28575">
            <a:solidFill>
              <a:srgbClr val="008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ru-RU"/>
          </a:p>
        </p:txBody>
      </p:sp>
      <p:sp>
        <p:nvSpPr>
          <p:cNvPr id="161804" name="Line 12"/>
          <p:cNvSpPr>
            <a:spLocks noChangeShapeType="1"/>
          </p:cNvSpPr>
          <p:nvPr/>
        </p:nvSpPr>
        <p:spPr bwMode="auto">
          <a:xfrm>
            <a:off x="4724400" y="1828800"/>
            <a:ext cx="2209800" cy="0"/>
          </a:xfrm>
          <a:prstGeom prst="line">
            <a:avLst/>
          </a:prstGeom>
          <a:noFill/>
          <a:ln w="28575">
            <a:solidFill>
              <a:srgbClr val="333399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ru-RU"/>
          </a:p>
        </p:txBody>
      </p:sp>
      <p:sp>
        <p:nvSpPr>
          <p:cNvPr id="161805" name="Line 13"/>
          <p:cNvSpPr>
            <a:spLocks noChangeShapeType="1"/>
          </p:cNvSpPr>
          <p:nvPr/>
        </p:nvSpPr>
        <p:spPr bwMode="auto">
          <a:xfrm>
            <a:off x="4495800" y="3810000"/>
            <a:ext cx="4267200" cy="0"/>
          </a:xfrm>
          <a:prstGeom prst="line">
            <a:avLst/>
          </a:prstGeom>
          <a:noFill/>
          <a:ln w="28575">
            <a:solidFill>
              <a:srgbClr val="333399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ru-RU"/>
          </a:p>
        </p:txBody>
      </p:sp>
      <p:graphicFrame>
        <p:nvGraphicFramePr>
          <p:cNvPr id="161806" name="Object 21"/>
          <p:cNvGraphicFramePr>
            <a:graphicFrameLocks noChangeAspect="1"/>
          </p:cNvGraphicFramePr>
          <p:nvPr/>
        </p:nvGraphicFramePr>
        <p:xfrm>
          <a:off x="304800" y="228600"/>
          <a:ext cx="68580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4" name="Точечный рисунок" r:id="rId8" imgW="6542857" imgH="3543795" progId="PBrush">
                  <p:embed/>
                </p:oleObj>
              </mc:Choice>
              <mc:Fallback>
                <p:oleObj name="Точечный рисунок" r:id="rId8" imgW="6542857" imgH="3543795" progId="PBrush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8600"/>
                        <a:ext cx="6858000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07" name="Line 15"/>
          <p:cNvSpPr>
            <a:spLocks noChangeShapeType="1"/>
          </p:cNvSpPr>
          <p:nvPr/>
        </p:nvSpPr>
        <p:spPr bwMode="auto">
          <a:xfrm>
            <a:off x="304800" y="1600200"/>
            <a:ext cx="2133600" cy="0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61808" name="Line 16"/>
          <p:cNvSpPr>
            <a:spLocks noChangeShapeType="1"/>
          </p:cNvSpPr>
          <p:nvPr/>
        </p:nvSpPr>
        <p:spPr bwMode="auto">
          <a:xfrm>
            <a:off x="6019800" y="3276600"/>
            <a:ext cx="9144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61809" name="Line 17"/>
          <p:cNvSpPr>
            <a:spLocks noChangeShapeType="1"/>
          </p:cNvSpPr>
          <p:nvPr/>
        </p:nvSpPr>
        <p:spPr bwMode="auto">
          <a:xfrm>
            <a:off x="2362200" y="4572000"/>
            <a:ext cx="2590800" cy="0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61810" name="Freeform 18"/>
          <p:cNvSpPr>
            <a:spLocks/>
          </p:cNvSpPr>
          <p:nvPr/>
        </p:nvSpPr>
        <p:spPr bwMode="auto">
          <a:xfrm>
            <a:off x="6096000" y="4508500"/>
            <a:ext cx="381000" cy="1117600"/>
          </a:xfrm>
          <a:custGeom>
            <a:avLst/>
            <a:gdLst>
              <a:gd name="T0" fmla="*/ 0 w 240"/>
              <a:gd name="T1" fmla="*/ 221773772 h 704"/>
              <a:gd name="T2" fmla="*/ 483870075 w 240"/>
              <a:gd name="T3" fmla="*/ 221773772 h 704"/>
              <a:gd name="T4" fmla="*/ 483870075 w 240"/>
              <a:gd name="T5" fmla="*/ 1552416109 h 704"/>
              <a:gd name="T6" fmla="*/ 604837545 w 240"/>
              <a:gd name="T7" fmla="*/ 1552416109 h 704"/>
              <a:gd name="T8" fmla="*/ 0 60000 65536"/>
              <a:gd name="T9" fmla="*/ 0 60000 65536"/>
              <a:gd name="T10" fmla="*/ 0 60000 65536"/>
              <a:gd name="T11" fmla="*/ 0 60000 65536"/>
              <a:gd name="T12" fmla="*/ 0 w 240"/>
              <a:gd name="T13" fmla="*/ 0 h 704"/>
              <a:gd name="T14" fmla="*/ 240 w 240"/>
              <a:gd name="T15" fmla="*/ 704 h 7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0" h="704">
                <a:moveTo>
                  <a:pt x="0" y="88"/>
                </a:moveTo>
                <a:cubicBezTo>
                  <a:pt x="80" y="44"/>
                  <a:pt x="160" y="0"/>
                  <a:pt x="192" y="88"/>
                </a:cubicBezTo>
                <a:cubicBezTo>
                  <a:pt x="224" y="176"/>
                  <a:pt x="184" y="528"/>
                  <a:pt x="192" y="616"/>
                </a:cubicBezTo>
                <a:cubicBezTo>
                  <a:pt x="200" y="704"/>
                  <a:pt x="232" y="616"/>
                  <a:pt x="240" y="616"/>
                </a:cubicBezTo>
              </a:path>
            </a:pathLst>
          </a:custGeom>
          <a:noFill/>
          <a:ln w="28575" cmpd="sng">
            <a:solidFill>
              <a:srgbClr val="FF0066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1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1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1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1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18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18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1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1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1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1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1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1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1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18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1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1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618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18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6" grpId="0" animBg="1"/>
      <p:bldP spid="161802" grpId="0" animBg="1"/>
      <p:bldP spid="161803" grpId="0" animBg="1"/>
      <p:bldP spid="161804" grpId="0" animBg="1"/>
      <p:bldP spid="161805" grpId="0" animBg="1"/>
      <p:bldP spid="161807" grpId="0" animBg="1"/>
      <p:bldP spid="161808" grpId="0" animBg="1"/>
      <p:bldP spid="161809" grpId="0" animBg="1"/>
      <p:bldP spid="1618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4000" smtClean="0"/>
              <a:t>ПОСТРОЕНИЕ ИЕРАРХИИ ДИАГРАММ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2017713"/>
            <a:ext cx="3814762" cy="4114800"/>
          </a:xfrm>
          <a:extLst/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altLang="ru-RU" sz="2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На </a:t>
            </a:r>
            <a:r>
              <a:rPr lang="en-US" altLang="ru-RU" sz="2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SADT</a:t>
            </a:r>
            <a:r>
              <a:rPr lang="ru-RU" altLang="ru-RU" sz="2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-диаграммах не указаны явно ни последовательность, ни время.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altLang="ru-RU" sz="2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Обратные связи, итерации, продолжающиеся процессы и перекрывающиеся (по времени) функции могут быть изображены с помощью дуг.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altLang="ru-RU" sz="2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Обратные связи мог</a:t>
            </a:r>
            <a:r>
              <a:rPr lang="en-US" altLang="ru-RU" sz="2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yr</a:t>
            </a:r>
            <a:r>
              <a:rPr lang="ru-RU" altLang="ru-RU" sz="2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выступать в вида комментариев, замечаний, исправлений и т. д</a:t>
            </a:r>
          </a:p>
        </p:txBody>
      </p:sp>
      <p:sp>
        <p:nvSpPr>
          <p:cNvPr id="89091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5140325" y="2017713"/>
            <a:ext cx="3814763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ru-RU" altLang="ru-RU" sz="2000" smtClean="0"/>
          </a:p>
        </p:txBody>
      </p:sp>
      <p:grpSp>
        <p:nvGrpSpPr>
          <p:cNvPr id="89092" name="Group 5"/>
          <p:cNvGrpSpPr>
            <a:grpSpLocks/>
          </p:cNvGrpSpPr>
          <p:nvPr/>
        </p:nvGrpSpPr>
        <p:grpSpPr bwMode="auto">
          <a:xfrm>
            <a:off x="5246688" y="1676400"/>
            <a:ext cx="3516312" cy="4092575"/>
            <a:chOff x="2601" y="10494"/>
            <a:chExt cx="6300" cy="4140"/>
          </a:xfrm>
        </p:grpSpPr>
        <p:sp>
          <p:nvSpPr>
            <p:cNvPr id="89093" name="Rectangle 6"/>
            <p:cNvSpPr>
              <a:spLocks noChangeArrowheads="1"/>
            </p:cNvSpPr>
            <p:nvPr/>
          </p:nvSpPr>
          <p:spPr bwMode="auto">
            <a:xfrm>
              <a:off x="2601" y="10494"/>
              <a:ext cx="6300" cy="41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ru-RU" altLang="ru-RU"/>
            </a:p>
          </p:txBody>
        </p:sp>
        <p:sp>
          <p:nvSpPr>
            <p:cNvPr id="89094" name="Rectangle 7"/>
            <p:cNvSpPr>
              <a:spLocks noChangeArrowheads="1"/>
            </p:cNvSpPr>
            <p:nvPr/>
          </p:nvSpPr>
          <p:spPr bwMode="auto">
            <a:xfrm>
              <a:off x="2781" y="11754"/>
              <a:ext cx="1440" cy="12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000" b="1">
                  <a:latin typeface="Arial" charset="0"/>
                </a:rPr>
                <a:t>Разработка проекта</a:t>
              </a:r>
            </a:p>
            <a:p>
              <a:pPr algn="ctr"/>
              <a:endParaRPr lang="ru-RU" altLang="ru-RU" sz="1000" b="1">
                <a:latin typeface="Arial" charset="0"/>
              </a:endParaRPr>
            </a:p>
            <a:p>
              <a:pPr algn="ctr"/>
              <a:r>
                <a:rPr lang="ru-RU" altLang="ru-RU" sz="1200" b="1">
                  <a:latin typeface="Arial" charset="0"/>
                </a:rPr>
                <a:t>              А1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89095" name="Rectangle 8"/>
            <p:cNvSpPr>
              <a:spLocks noChangeArrowheads="1"/>
            </p:cNvSpPr>
            <p:nvPr/>
          </p:nvSpPr>
          <p:spPr bwMode="auto">
            <a:xfrm>
              <a:off x="5481" y="13014"/>
              <a:ext cx="1440" cy="12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ru-RU" altLang="ru-RU" sz="1000" b="1">
                <a:latin typeface="Arial" charset="0"/>
              </a:endParaRPr>
            </a:p>
            <a:p>
              <a:pPr algn="ctr"/>
              <a:r>
                <a:rPr lang="ru-RU" altLang="ru-RU" sz="1000" b="1">
                  <a:latin typeface="Arial" charset="0"/>
                </a:rPr>
                <a:t>Экспертиза</a:t>
              </a:r>
            </a:p>
            <a:p>
              <a:pPr algn="ctr"/>
              <a:endParaRPr lang="ru-RU" altLang="ru-RU" sz="1000" b="1">
                <a:latin typeface="Arial" charset="0"/>
              </a:endParaRPr>
            </a:p>
            <a:p>
              <a:pPr algn="ctr"/>
              <a:r>
                <a:rPr lang="ru-RU" altLang="ru-RU" sz="1200" b="1">
                  <a:latin typeface="Arial" charset="0"/>
                </a:rPr>
                <a:t>              А2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89096" name="Line 9"/>
            <p:cNvSpPr>
              <a:spLocks noChangeShapeType="1"/>
            </p:cNvSpPr>
            <p:nvPr/>
          </p:nvSpPr>
          <p:spPr bwMode="auto">
            <a:xfrm>
              <a:off x="3501" y="11214"/>
              <a:ext cx="27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097" name="Line 10"/>
            <p:cNvSpPr>
              <a:spLocks noChangeShapeType="1"/>
            </p:cNvSpPr>
            <p:nvPr/>
          </p:nvSpPr>
          <p:spPr bwMode="auto">
            <a:xfrm>
              <a:off x="3501" y="10674"/>
              <a:ext cx="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098" name="Line 11"/>
            <p:cNvSpPr>
              <a:spLocks noChangeShapeType="1"/>
            </p:cNvSpPr>
            <p:nvPr/>
          </p:nvSpPr>
          <p:spPr bwMode="auto">
            <a:xfrm>
              <a:off x="6201" y="11214"/>
              <a:ext cx="0" cy="1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099" name="Freeform 12"/>
            <p:cNvSpPr>
              <a:spLocks/>
            </p:cNvSpPr>
            <p:nvPr/>
          </p:nvSpPr>
          <p:spPr bwMode="auto">
            <a:xfrm>
              <a:off x="3861" y="11394"/>
              <a:ext cx="3420" cy="2160"/>
            </a:xfrm>
            <a:custGeom>
              <a:avLst/>
              <a:gdLst>
                <a:gd name="T0" fmla="*/ 3060 w 3420"/>
                <a:gd name="T1" fmla="*/ 2356 h 1980"/>
                <a:gd name="T2" fmla="*/ 3420 w 3420"/>
                <a:gd name="T3" fmla="*/ 2356 h 1980"/>
                <a:gd name="T4" fmla="*/ 3420 w 3420"/>
                <a:gd name="T5" fmla="*/ 0 h 1980"/>
                <a:gd name="T6" fmla="*/ 2340 w 3420"/>
                <a:gd name="T7" fmla="*/ 0 h 1980"/>
                <a:gd name="T8" fmla="*/ 0 w 3420"/>
                <a:gd name="T9" fmla="*/ 0 h 19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20"/>
                <a:gd name="T16" fmla="*/ 0 h 1980"/>
                <a:gd name="T17" fmla="*/ 3420 w 3420"/>
                <a:gd name="T18" fmla="*/ 1980 h 19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20" h="1980">
                  <a:moveTo>
                    <a:pt x="3060" y="1980"/>
                  </a:moveTo>
                  <a:lnTo>
                    <a:pt x="3420" y="1980"/>
                  </a:lnTo>
                  <a:lnTo>
                    <a:pt x="3420" y="0"/>
                  </a:lnTo>
                  <a:lnTo>
                    <a:pt x="2340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100" name="Line 13"/>
            <p:cNvSpPr>
              <a:spLocks noChangeShapeType="1"/>
            </p:cNvSpPr>
            <p:nvPr/>
          </p:nvSpPr>
          <p:spPr bwMode="auto">
            <a:xfrm>
              <a:off x="3861" y="1139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101" name="Line 14"/>
            <p:cNvSpPr>
              <a:spLocks noChangeShapeType="1"/>
            </p:cNvSpPr>
            <p:nvPr/>
          </p:nvSpPr>
          <p:spPr bwMode="auto">
            <a:xfrm>
              <a:off x="4221" y="1247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102" name="Line 15"/>
            <p:cNvSpPr>
              <a:spLocks noChangeShapeType="1"/>
            </p:cNvSpPr>
            <p:nvPr/>
          </p:nvSpPr>
          <p:spPr bwMode="auto">
            <a:xfrm>
              <a:off x="4761" y="12474"/>
              <a:ext cx="0" cy="12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103" name="Line 16"/>
            <p:cNvSpPr>
              <a:spLocks noChangeShapeType="1"/>
            </p:cNvSpPr>
            <p:nvPr/>
          </p:nvSpPr>
          <p:spPr bwMode="auto">
            <a:xfrm>
              <a:off x="4761" y="1373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104" name="Rectangle 17"/>
            <p:cNvSpPr>
              <a:spLocks noChangeArrowheads="1"/>
            </p:cNvSpPr>
            <p:nvPr/>
          </p:nvSpPr>
          <p:spPr bwMode="auto">
            <a:xfrm>
              <a:off x="2601" y="13374"/>
              <a:ext cx="198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000" b="1">
                  <a:latin typeface="Arial" charset="0"/>
                </a:rPr>
                <a:t>Предварительная спецификация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89105" name="Line 18"/>
            <p:cNvSpPr>
              <a:spLocks noChangeShapeType="1"/>
            </p:cNvSpPr>
            <p:nvPr/>
          </p:nvSpPr>
          <p:spPr bwMode="auto">
            <a:xfrm>
              <a:off x="6921" y="13734"/>
              <a:ext cx="16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106" name="Rectangle 19"/>
            <p:cNvSpPr>
              <a:spLocks noChangeArrowheads="1"/>
            </p:cNvSpPr>
            <p:nvPr/>
          </p:nvSpPr>
          <p:spPr bwMode="auto">
            <a:xfrm>
              <a:off x="6921" y="13914"/>
              <a:ext cx="198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000" b="1">
                  <a:latin typeface="Arial" charset="0"/>
                </a:rPr>
                <a:t>Улучшенный проект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89107" name="Rectangle 20"/>
            <p:cNvSpPr>
              <a:spLocks noChangeArrowheads="1"/>
            </p:cNvSpPr>
            <p:nvPr/>
          </p:nvSpPr>
          <p:spPr bwMode="auto">
            <a:xfrm>
              <a:off x="7281" y="11934"/>
              <a:ext cx="162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000" b="1">
                  <a:latin typeface="Arial" charset="0"/>
                </a:rPr>
                <a:t>Комментарии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89108" name="Rectangle 21"/>
            <p:cNvSpPr>
              <a:spLocks noChangeArrowheads="1"/>
            </p:cNvSpPr>
            <p:nvPr/>
          </p:nvSpPr>
          <p:spPr bwMode="auto">
            <a:xfrm>
              <a:off x="3861" y="10674"/>
              <a:ext cx="270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000" b="1">
                  <a:latin typeface="Arial" charset="0"/>
                </a:rPr>
                <a:t>Системные требования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89109" name="Line 22"/>
            <p:cNvSpPr>
              <a:spLocks noChangeShapeType="1"/>
            </p:cNvSpPr>
            <p:nvPr/>
          </p:nvSpPr>
          <p:spPr bwMode="auto">
            <a:xfrm>
              <a:off x="2601" y="13374"/>
              <a:ext cx="0" cy="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110" name="Line 23"/>
            <p:cNvSpPr>
              <a:spLocks noChangeShapeType="1"/>
            </p:cNvSpPr>
            <p:nvPr/>
          </p:nvSpPr>
          <p:spPr bwMode="auto">
            <a:xfrm>
              <a:off x="6921" y="1391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111" name="Line 24"/>
            <p:cNvSpPr>
              <a:spLocks noChangeShapeType="1"/>
            </p:cNvSpPr>
            <p:nvPr/>
          </p:nvSpPr>
          <p:spPr bwMode="auto">
            <a:xfrm>
              <a:off x="6921" y="14634"/>
              <a:ext cx="19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112" name="Line 25"/>
            <p:cNvSpPr>
              <a:spLocks noChangeShapeType="1"/>
            </p:cNvSpPr>
            <p:nvPr/>
          </p:nvSpPr>
          <p:spPr bwMode="auto">
            <a:xfrm>
              <a:off x="8901" y="13734"/>
              <a:ext cx="0" cy="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113" name="Line 26"/>
            <p:cNvSpPr>
              <a:spLocks noChangeShapeType="1"/>
            </p:cNvSpPr>
            <p:nvPr/>
          </p:nvSpPr>
          <p:spPr bwMode="auto">
            <a:xfrm flipV="1">
              <a:off x="8901" y="11754"/>
              <a:ext cx="0" cy="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9114" name="Line 27"/>
            <p:cNvSpPr>
              <a:spLocks noChangeShapeType="1"/>
            </p:cNvSpPr>
            <p:nvPr/>
          </p:nvSpPr>
          <p:spPr bwMode="auto">
            <a:xfrm>
              <a:off x="7281" y="1193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366838" y="252413"/>
            <a:ext cx="7361237" cy="974725"/>
          </a:xfrm>
          <a:extLst/>
        </p:spPr>
        <p:txBody>
          <a:bodyPr anchor="t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3200" smtClean="0"/>
              <a:t>Пример бизнес-процесса</a:t>
            </a:r>
          </a:p>
        </p:txBody>
      </p:sp>
      <p:grpSp>
        <p:nvGrpSpPr>
          <p:cNvPr id="91138" name="Group 4"/>
          <p:cNvGrpSpPr>
            <a:grpSpLocks/>
          </p:cNvGrpSpPr>
          <p:nvPr/>
        </p:nvGrpSpPr>
        <p:grpSpPr bwMode="auto">
          <a:xfrm>
            <a:off x="609600" y="1371600"/>
            <a:ext cx="8229600" cy="4495800"/>
            <a:chOff x="1881" y="954"/>
            <a:chExt cx="6660" cy="4860"/>
          </a:xfrm>
        </p:grpSpPr>
        <p:sp>
          <p:nvSpPr>
            <p:cNvPr id="91139" name="Rectangle 5"/>
            <p:cNvSpPr>
              <a:spLocks noChangeArrowheads="1"/>
            </p:cNvSpPr>
            <p:nvPr/>
          </p:nvSpPr>
          <p:spPr bwMode="auto">
            <a:xfrm>
              <a:off x="1881" y="954"/>
              <a:ext cx="6660" cy="4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ru-RU" altLang="ru-RU"/>
            </a:p>
          </p:txBody>
        </p:sp>
        <p:sp>
          <p:nvSpPr>
            <p:cNvPr id="91140" name="Line 6"/>
            <p:cNvSpPr>
              <a:spLocks noChangeShapeType="1"/>
            </p:cNvSpPr>
            <p:nvPr/>
          </p:nvSpPr>
          <p:spPr bwMode="auto">
            <a:xfrm>
              <a:off x="4761" y="1674"/>
              <a:ext cx="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141" name="Line 7"/>
            <p:cNvSpPr>
              <a:spLocks noChangeShapeType="1"/>
            </p:cNvSpPr>
            <p:nvPr/>
          </p:nvSpPr>
          <p:spPr bwMode="auto">
            <a:xfrm>
              <a:off x="5481" y="1674"/>
              <a:ext cx="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142" name="Line 8"/>
            <p:cNvSpPr>
              <a:spLocks noChangeShapeType="1"/>
            </p:cNvSpPr>
            <p:nvPr/>
          </p:nvSpPr>
          <p:spPr bwMode="auto">
            <a:xfrm>
              <a:off x="2601" y="3654"/>
              <a:ext cx="16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143" name="Rectangle 9"/>
            <p:cNvSpPr>
              <a:spLocks noChangeArrowheads="1"/>
            </p:cNvSpPr>
            <p:nvPr/>
          </p:nvSpPr>
          <p:spPr bwMode="auto">
            <a:xfrm>
              <a:off x="1881" y="2754"/>
              <a:ext cx="234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000" b="1">
                  <a:latin typeface="Arial" charset="0"/>
                </a:rPr>
                <a:t>Отчетность</a:t>
              </a:r>
            </a:p>
            <a:p>
              <a:pPr algn="ctr"/>
              <a:r>
                <a:rPr lang="ru-RU" altLang="ru-RU" sz="1000" b="1">
                  <a:latin typeface="Arial" charset="0"/>
                </a:rPr>
                <a:t>налогоплательщиков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1144" name="Rectangle 10"/>
            <p:cNvSpPr>
              <a:spLocks noChangeArrowheads="1"/>
            </p:cNvSpPr>
            <p:nvPr/>
          </p:nvSpPr>
          <p:spPr bwMode="auto">
            <a:xfrm>
              <a:off x="6381" y="2754"/>
              <a:ext cx="1980" cy="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000" b="1">
                  <a:latin typeface="Arial" charset="0"/>
                </a:rPr>
                <a:t>Отчетность</a:t>
              </a:r>
            </a:p>
            <a:p>
              <a:pPr algn="ctr"/>
              <a:r>
                <a:rPr lang="ru-RU" altLang="ru-RU" sz="1000" b="1">
                  <a:latin typeface="Arial" charset="0"/>
                </a:rPr>
                <a:t>вышестоящим</a:t>
              </a:r>
            </a:p>
            <a:p>
              <a:pPr algn="ctr"/>
              <a:r>
                <a:rPr lang="ru-RU" altLang="ru-RU" sz="1000" b="1">
                  <a:latin typeface="Arial" charset="0"/>
                </a:rPr>
                <a:t>организациям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1145" name="Line 11"/>
            <p:cNvSpPr>
              <a:spLocks noChangeShapeType="1"/>
            </p:cNvSpPr>
            <p:nvPr/>
          </p:nvSpPr>
          <p:spPr bwMode="auto">
            <a:xfrm>
              <a:off x="6021" y="3654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146" name="Rectangle 12"/>
            <p:cNvSpPr>
              <a:spLocks noChangeArrowheads="1"/>
            </p:cNvSpPr>
            <p:nvPr/>
          </p:nvSpPr>
          <p:spPr bwMode="auto">
            <a:xfrm>
              <a:off x="4221" y="2754"/>
              <a:ext cx="1800" cy="16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000" b="1">
                  <a:latin typeface="Arial" charset="0"/>
                </a:rPr>
                <a:t>Работа </a:t>
              </a:r>
            </a:p>
            <a:p>
              <a:pPr algn="ctr"/>
              <a:r>
                <a:rPr lang="ru-RU" altLang="ru-RU" sz="1000" b="1">
                  <a:latin typeface="Arial" charset="0"/>
                </a:rPr>
                <a:t>с отчетностью юридических лиц</a:t>
              </a:r>
            </a:p>
            <a:p>
              <a:pPr algn="ctr"/>
              <a:endParaRPr lang="ru-RU" altLang="ru-RU" sz="1000" b="1">
                <a:latin typeface="Arial" charset="0"/>
              </a:endParaRPr>
            </a:p>
            <a:p>
              <a:pPr algn="r"/>
              <a:r>
                <a:rPr lang="ru-RU" altLang="ru-RU" sz="1200" b="1">
                  <a:latin typeface="Arial" charset="0"/>
                </a:rPr>
                <a:t>А1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1147" name="Rectangle 13"/>
            <p:cNvSpPr>
              <a:spLocks noChangeArrowheads="1"/>
            </p:cNvSpPr>
            <p:nvPr/>
          </p:nvSpPr>
          <p:spPr bwMode="auto">
            <a:xfrm>
              <a:off x="4221" y="4914"/>
              <a:ext cx="1980" cy="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000" b="1">
                  <a:latin typeface="Arial" charset="0"/>
                </a:rPr>
                <a:t>Отдел по работе с юридическими лицами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1148" name="Line 14"/>
            <p:cNvSpPr>
              <a:spLocks noChangeShapeType="1"/>
            </p:cNvSpPr>
            <p:nvPr/>
          </p:nvSpPr>
          <p:spPr bwMode="auto">
            <a:xfrm flipV="1">
              <a:off x="5121" y="437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149" name="Rectangle 15"/>
            <p:cNvSpPr>
              <a:spLocks noChangeArrowheads="1"/>
            </p:cNvSpPr>
            <p:nvPr/>
          </p:nvSpPr>
          <p:spPr bwMode="auto">
            <a:xfrm>
              <a:off x="2961" y="1134"/>
              <a:ext cx="198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000" b="1">
                  <a:latin typeface="Arial" charset="0"/>
                </a:rPr>
                <a:t>Законодательство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1150" name="Rectangle 16"/>
            <p:cNvSpPr>
              <a:spLocks noChangeArrowheads="1"/>
            </p:cNvSpPr>
            <p:nvPr/>
          </p:nvSpPr>
          <p:spPr bwMode="auto">
            <a:xfrm>
              <a:off x="5661" y="1134"/>
              <a:ext cx="144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000" b="1">
                  <a:latin typeface="Arial" charset="0"/>
                </a:rPr>
                <a:t>Внутренние инструкции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1151" name="Line 17"/>
            <p:cNvSpPr>
              <a:spLocks noChangeShapeType="1"/>
            </p:cNvSpPr>
            <p:nvPr/>
          </p:nvSpPr>
          <p:spPr bwMode="auto">
            <a:xfrm>
              <a:off x="1881" y="2574"/>
              <a:ext cx="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1152" name="Line 18"/>
            <p:cNvSpPr>
              <a:spLocks noChangeShapeType="1"/>
            </p:cNvSpPr>
            <p:nvPr/>
          </p:nvSpPr>
          <p:spPr bwMode="auto">
            <a:xfrm>
              <a:off x="3861" y="5814"/>
              <a:ext cx="28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629525" cy="457200"/>
          </a:xfrm>
          <a:extLst/>
        </p:spPr>
        <p:txBody>
          <a:bodyPr anchor="t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3200" smtClean="0"/>
              <a:t>Пример дерева диаграмм</a:t>
            </a:r>
          </a:p>
        </p:txBody>
      </p:sp>
      <p:sp>
        <p:nvSpPr>
          <p:cNvPr id="9318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333375"/>
            <a:ext cx="8229600" cy="1495425"/>
          </a:xfrm>
        </p:spPr>
        <p:txBody>
          <a:bodyPr/>
          <a:lstStyle/>
          <a:p>
            <a:pPr marL="0" indent="0" algn="ctr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ru-RU" altLang="ru-RU" smtClean="0">
                <a:solidFill>
                  <a:schemeClr val="tx2"/>
                </a:solidFill>
              </a:rPr>
              <a:t>.</a:t>
            </a:r>
          </a:p>
        </p:txBody>
      </p:sp>
      <p:grpSp>
        <p:nvGrpSpPr>
          <p:cNvPr id="93187" name="Group 4"/>
          <p:cNvGrpSpPr>
            <a:grpSpLocks/>
          </p:cNvGrpSpPr>
          <p:nvPr/>
        </p:nvGrpSpPr>
        <p:grpSpPr bwMode="auto">
          <a:xfrm>
            <a:off x="914400" y="1295400"/>
            <a:ext cx="7543800" cy="5156200"/>
            <a:chOff x="2061" y="7614"/>
            <a:chExt cx="7740" cy="6120"/>
          </a:xfrm>
        </p:grpSpPr>
        <p:sp>
          <p:nvSpPr>
            <p:cNvPr id="93188" name="Rectangle 5"/>
            <p:cNvSpPr>
              <a:spLocks noChangeArrowheads="1"/>
            </p:cNvSpPr>
            <p:nvPr/>
          </p:nvSpPr>
          <p:spPr bwMode="auto">
            <a:xfrm>
              <a:off x="2061" y="7614"/>
              <a:ext cx="7740" cy="61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ru-RU" altLang="ru-RU"/>
            </a:p>
          </p:txBody>
        </p:sp>
        <p:sp>
          <p:nvSpPr>
            <p:cNvPr id="93189" name="Rectangle 6"/>
            <p:cNvSpPr>
              <a:spLocks noChangeArrowheads="1"/>
            </p:cNvSpPr>
            <p:nvPr/>
          </p:nvSpPr>
          <p:spPr bwMode="auto">
            <a:xfrm>
              <a:off x="4041" y="7794"/>
              <a:ext cx="3240" cy="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200" b="1">
                  <a:latin typeface="Arial" charset="0"/>
                </a:rPr>
                <a:t>А0</a:t>
              </a:r>
            </a:p>
            <a:p>
              <a:pPr algn="ctr"/>
              <a:r>
                <a:rPr lang="ru-RU" altLang="ru-RU" sz="1000" b="1">
                  <a:latin typeface="Arial" charset="0"/>
                </a:rPr>
                <a:t>Работа Государственной налоговой инспекции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3190" name="Line 7"/>
            <p:cNvSpPr>
              <a:spLocks noChangeShapeType="1"/>
            </p:cNvSpPr>
            <p:nvPr/>
          </p:nvSpPr>
          <p:spPr bwMode="auto">
            <a:xfrm>
              <a:off x="5661" y="8694"/>
              <a:ext cx="0" cy="12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191" name="Line 8"/>
            <p:cNvSpPr>
              <a:spLocks noChangeShapeType="1"/>
            </p:cNvSpPr>
            <p:nvPr/>
          </p:nvSpPr>
          <p:spPr bwMode="auto">
            <a:xfrm>
              <a:off x="2961" y="9234"/>
              <a:ext cx="55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192" name="Rectangle 9"/>
            <p:cNvSpPr>
              <a:spLocks noChangeArrowheads="1"/>
            </p:cNvSpPr>
            <p:nvPr/>
          </p:nvSpPr>
          <p:spPr bwMode="auto">
            <a:xfrm>
              <a:off x="4761" y="9954"/>
              <a:ext cx="1800" cy="1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200" b="1">
                  <a:latin typeface="Arial" charset="0"/>
                </a:rPr>
                <a:t>А2</a:t>
              </a:r>
            </a:p>
            <a:p>
              <a:pPr algn="ctr"/>
              <a:r>
                <a:rPr lang="ru-RU" altLang="ru-RU" sz="1000" b="1">
                  <a:latin typeface="Arial" charset="0"/>
                </a:rPr>
                <a:t>Работа с юридическими лицами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3193" name="Rectangle 10"/>
            <p:cNvSpPr>
              <a:spLocks noChangeArrowheads="1"/>
            </p:cNvSpPr>
            <p:nvPr/>
          </p:nvSpPr>
          <p:spPr bwMode="auto">
            <a:xfrm>
              <a:off x="7641" y="9954"/>
              <a:ext cx="1980" cy="1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200" b="1">
                  <a:latin typeface="Arial" charset="0"/>
                </a:rPr>
                <a:t>А3</a:t>
              </a:r>
            </a:p>
            <a:p>
              <a:pPr algn="ctr"/>
              <a:r>
                <a:rPr lang="ru-RU" altLang="ru-RU" sz="1000" b="1">
                  <a:latin typeface="Arial" charset="0"/>
                </a:rPr>
                <a:t>Работа вспомогательных подразделений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3194" name="Rectangle 11"/>
            <p:cNvSpPr>
              <a:spLocks noChangeArrowheads="1"/>
            </p:cNvSpPr>
            <p:nvPr/>
          </p:nvSpPr>
          <p:spPr bwMode="auto">
            <a:xfrm>
              <a:off x="2061" y="9954"/>
              <a:ext cx="1800" cy="1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200" b="1">
                  <a:latin typeface="Arial" charset="0"/>
                </a:rPr>
                <a:t>А1</a:t>
              </a:r>
            </a:p>
            <a:p>
              <a:pPr algn="ctr"/>
              <a:r>
                <a:rPr lang="ru-RU" altLang="ru-RU" sz="1000" b="1">
                  <a:latin typeface="Arial" charset="0"/>
                </a:rPr>
                <a:t>Работа с физическими лицами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3195" name="Line 12"/>
            <p:cNvSpPr>
              <a:spLocks noChangeShapeType="1"/>
            </p:cNvSpPr>
            <p:nvPr/>
          </p:nvSpPr>
          <p:spPr bwMode="auto">
            <a:xfrm>
              <a:off x="2961" y="923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196" name="Line 13"/>
            <p:cNvSpPr>
              <a:spLocks noChangeShapeType="1"/>
            </p:cNvSpPr>
            <p:nvPr/>
          </p:nvSpPr>
          <p:spPr bwMode="auto">
            <a:xfrm>
              <a:off x="8541" y="923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197" name="Line 14"/>
            <p:cNvSpPr>
              <a:spLocks noChangeShapeType="1"/>
            </p:cNvSpPr>
            <p:nvPr/>
          </p:nvSpPr>
          <p:spPr bwMode="auto">
            <a:xfrm>
              <a:off x="2961" y="11034"/>
              <a:ext cx="0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198" name="Line 15"/>
            <p:cNvSpPr>
              <a:spLocks noChangeShapeType="1"/>
            </p:cNvSpPr>
            <p:nvPr/>
          </p:nvSpPr>
          <p:spPr bwMode="auto">
            <a:xfrm>
              <a:off x="5661" y="1175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199" name="Line 16"/>
            <p:cNvSpPr>
              <a:spLocks noChangeShapeType="1"/>
            </p:cNvSpPr>
            <p:nvPr/>
          </p:nvSpPr>
          <p:spPr bwMode="auto">
            <a:xfrm>
              <a:off x="8541" y="11574"/>
              <a:ext cx="0" cy="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200" name="Line 17"/>
            <p:cNvSpPr>
              <a:spLocks noChangeShapeType="1"/>
            </p:cNvSpPr>
            <p:nvPr/>
          </p:nvSpPr>
          <p:spPr bwMode="auto">
            <a:xfrm flipH="1">
              <a:off x="2961" y="11754"/>
              <a:ext cx="27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201" name="Line 18"/>
            <p:cNvSpPr>
              <a:spLocks noChangeShapeType="1"/>
            </p:cNvSpPr>
            <p:nvPr/>
          </p:nvSpPr>
          <p:spPr bwMode="auto">
            <a:xfrm flipH="1">
              <a:off x="2961" y="11574"/>
              <a:ext cx="55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202" name="Rectangle 19"/>
            <p:cNvSpPr>
              <a:spLocks noChangeArrowheads="1"/>
            </p:cNvSpPr>
            <p:nvPr/>
          </p:nvSpPr>
          <p:spPr bwMode="auto">
            <a:xfrm>
              <a:off x="2061" y="12474"/>
              <a:ext cx="1800" cy="1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200" b="1">
                  <a:latin typeface="Arial" charset="0"/>
                </a:rPr>
                <a:t>А11</a:t>
              </a:r>
            </a:p>
            <a:p>
              <a:pPr algn="ctr"/>
              <a:r>
                <a:rPr lang="ru-RU" altLang="ru-RU" sz="1000" b="1">
                  <a:latin typeface="Arial" charset="0"/>
                </a:rPr>
                <a:t>Работа по подоходному налогу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3203" name="Rectangle 20"/>
            <p:cNvSpPr>
              <a:spLocks noChangeArrowheads="1"/>
            </p:cNvSpPr>
            <p:nvPr/>
          </p:nvSpPr>
          <p:spPr bwMode="auto">
            <a:xfrm>
              <a:off x="4761" y="12474"/>
              <a:ext cx="1800" cy="1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200" b="1">
                  <a:latin typeface="Arial" charset="0"/>
                </a:rPr>
                <a:t>А12</a:t>
              </a:r>
            </a:p>
            <a:p>
              <a:pPr algn="ctr"/>
              <a:r>
                <a:rPr lang="ru-RU" altLang="ru-RU" sz="1000" b="1">
                  <a:latin typeface="Arial" charset="0"/>
                </a:rPr>
                <a:t>Работа по налогу на имущество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3204" name="Rectangle 21"/>
            <p:cNvSpPr>
              <a:spLocks noChangeArrowheads="1"/>
            </p:cNvSpPr>
            <p:nvPr/>
          </p:nvSpPr>
          <p:spPr bwMode="auto">
            <a:xfrm>
              <a:off x="7641" y="12474"/>
              <a:ext cx="1800" cy="1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altLang="ru-RU" sz="1200" b="1">
                  <a:latin typeface="Arial" charset="0"/>
                </a:rPr>
                <a:t>А13</a:t>
              </a:r>
            </a:p>
            <a:p>
              <a:pPr algn="ctr"/>
              <a:r>
                <a:rPr lang="ru-RU" altLang="ru-RU" sz="1000" b="1">
                  <a:latin typeface="Arial" charset="0"/>
                </a:rPr>
                <a:t>Работа по налогу на землю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3205" name="Line 22"/>
            <p:cNvSpPr>
              <a:spLocks noChangeShapeType="1"/>
            </p:cNvSpPr>
            <p:nvPr/>
          </p:nvSpPr>
          <p:spPr bwMode="auto">
            <a:xfrm>
              <a:off x="2061" y="9954"/>
              <a:ext cx="0" cy="3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dirty="0" smtClean="0"/>
              <a:t>Типы связей между функциями</a:t>
            </a:r>
          </a:p>
        </p:txBody>
      </p:sp>
      <p:sp>
        <p:nvSpPr>
          <p:cNvPr id="9523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9138"/>
            <a:ext cx="8229600" cy="4137025"/>
          </a:xfrm>
        </p:spPr>
        <p:txBody>
          <a:bodyPr/>
          <a:lstStyle/>
          <a:p>
            <a:pPr eaLnBrk="1" hangingPunct="1"/>
            <a:r>
              <a:rPr lang="ru-RU" altLang="ru-RU" smtClean="0"/>
              <a:t>случайная;</a:t>
            </a:r>
          </a:p>
          <a:p>
            <a:pPr eaLnBrk="1" hangingPunct="1"/>
            <a:r>
              <a:rPr lang="ru-RU" altLang="ru-RU" smtClean="0"/>
              <a:t>логическая;</a:t>
            </a:r>
          </a:p>
          <a:p>
            <a:pPr eaLnBrk="1" hangingPunct="1"/>
            <a:r>
              <a:rPr lang="ru-RU" altLang="ru-RU" smtClean="0"/>
              <a:t>временная;</a:t>
            </a:r>
          </a:p>
          <a:p>
            <a:pPr eaLnBrk="1" hangingPunct="1"/>
            <a:r>
              <a:rPr lang="ru-RU" altLang="ru-RU" smtClean="0"/>
              <a:t>процедурная;</a:t>
            </a:r>
          </a:p>
          <a:p>
            <a:pPr eaLnBrk="1" hangingPunct="1"/>
            <a:r>
              <a:rPr lang="ru-RU" altLang="ru-RU" smtClean="0"/>
              <a:t>коммуникационная;</a:t>
            </a:r>
          </a:p>
          <a:p>
            <a:pPr eaLnBrk="1" hangingPunct="1"/>
            <a:r>
              <a:rPr lang="ru-RU" altLang="ru-RU" smtClean="0"/>
              <a:t>последовательная;</a:t>
            </a:r>
          </a:p>
          <a:p>
            <a:pPr eaLnBrk="1" hangingPunct="1"/>
            <a:r>
              <a:rPr lang="ru-RU" altLang="ru-RU" smtClean="0"/>
              <a:t>функциональная.</a:t>
            </a:r>
          </a:p>
          <a:p>
            <a:pPr eaLnBrk="1" hangingPunct="1"/>
            <a:endParaRPr lang="ru-RU" altLang="ru-R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56" name="Rectangle 24"/>
          <p:cNvSpPr>
            <a:spLocks noGrp="1" noChangeArrowheads="1"/>
          </p:cNvSpPr>
          <p:nvPr>
            <p:ph type="title"/>
          </p:nvPr>
        </p:nvSpPr>
        <p:spPr>
          <a:xfrm>
            <a:off x="862013" y="323850"/>
            <a:ext cx="7793037" cy="874713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Типы связей</a:t>
            </a:r>
          </a:p>
        </p:txBody>
      </p:sp>
      <p:sp>
        <p:nvSpPr>
          <p:cNvPr id="97282" name="Rectangle 25"/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1538288"/>
            <a:ext cx="7772400" cy="15303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altLang="ru-RU" sz="2000" smtClean="0"/>
              <a:t>Случайная связь — показывает, что конкретная связь между функциями незначительна или полностью отсутствует. Это относится к ситуации, когда имена данных на </a:t>
            </a:r>
            <a:r>
              <a:rPr lang="en-US" altLang="ru-RU" sz="2000" smtClean="0"/>
              <a:t>SADT</a:t>
            </a:r>
            <a:r>
              <a:rPr lang="ru-RU" altLang="ru-RU" sz="2000" smtClean="0"/>
              <a:t>-дугах в одной диаграмме имеют слабую связь друг с другом.</a:t>
            </a:r>
          </a:p>
        </p:txBody>
      </p:sp>
      <p:sp>
        <p:nvSpPr>
          <p:cNvPr id="97283" name="Rectangle 26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endParaRPr lang="ru-RU" altLang="ru-RU" sz="2800" smtClean="0"/>
          </a:p>
        </p:txBody>
      </p:sp>
      <p:grpSp>
        <p:nvGrpSpPr>
          <p:cNvPr id="97284" name="Group 5"/>
          <p:cNvGrpSpPr>
            <a:grpSpLocks/>
          </p:cNvGrpSpPr>
          <p:nvPr/>
        </p:nvGrpSpPr>
        <p:grpSpPr bwMode="auto">
          <a:xfrm>
            <a:off x="1066800" y="3200400"/>
            <a:ext cx="6858000" cy="3048000"/>
            <a:chOff x="2061" y="774"/>
            <a:chExt cx="7020" cy="3780"/>
          </a:xfrm>
        </p:grpSpPr>
        <p:sp>
          <p:nvSpPr>
            <p:cNvPr id="97285" name="Rectangle 6"/>
            <p:cNvSpPr>
              <a:spLocks noChangeArrowheads="1"/>
            </p:cNvSpPr>
            <p:nvPr/>
          </p:nvSpPr>
          <p:spPr bwMode="auto">
            <a:xfrm>
              <a:off x="2061" y="774"/>
              <a:ext cx="7020" cy="37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ru-RU" altLang="ru-RU"/>
            </a:p>
          </p:txBody>
        </p:sp>
        <p:sp>
          <p:nvSpPr>
            <p:cNvPr id="97286" name="Rectangle 7"/>
            <p:cNvSpPr>
              <a:spLocks noChangeArrowheads="1"/>
            </p:cNvSpPr>
            <p:nvPr/>
          </p:nvSpPr>
          <p:spPr bwMode="auto">
            <a:xfrm>
              <a:off x="6741" y="2214"/>
              <a:ext cx="54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altLang="ru-RU" sz="1200" b="1">
                  <a:latin typeface="Arial" charset="0"/>
                </a:rPr>
                <a:t>E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7287" name="Rectangle 8"/>
            <p:cNvSpPr>
              <a:spLocks noChangeArrowheads="1"/>
            </p:cNvSpPr>
            <p:nvPr/>
          </p:nvSpPr>
          <p:spPr bwMode="auto">
            <a:xfrm>
              <a:off x="4941" y="3654"/>
              <a:ext cx="54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altLang="ru-RU" sz="1200" b="1">
                  <a:latin typeface="Arial" charset="0"/>
                </a:rPr>
                <a:t>D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7288" name="Rectangle 9"/>
            <p:cNvSpPr>
              <a:spLocks noChangeArrowheads="1"/>
            </p:cNvSpPr>
            <p:nvPr/>
          </p:nvSpPr>
          <p:spPr bwMode="auto">
            <a:xfrm>
              <a:off x="2061" y="2214"/>
              <a:ext cx="54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200" b="1">
                  <a:latin typeface="Arial" charset="0"/>
                </a:rPr>
                <a:t>А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7289" name="Rectangle 10"/>
            <p:cNvSpPr>
              <a:spLocks noChangeArrowheads="1"/>
            </p:cNvSpPr>
            <p:nvPr/>
          </p:nvSpPr>
          <p:spPr bwMode="auto">
            <a:xfrm>
              <a:off x="3861" y="774"/>
              <a:ext cx="54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altLang="ru-RU" sz="1200" b="1">
                  <a:latin typeface="Arial" charset="0"/>
                </a:rPr>
                <a:t>B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7290" name="Rectangle 11"/>
            <p:cNvSpPr>
              <a:spLocks noChangeArrowheads="1"/>
            </p:cNvSpPr>
            <p:nvPr/>
          </p:nvSpPr>
          <p:spPr bwMode="auto">
            <a:xfrm>
              <a:off x="2961" y="1674"/>
              <a:ext cx="2160" cy="12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 altLang="ru-RU" sz="1200" b="1">
                <a:latin typeface="Arial" charset="0"/>
              </a:endParaRPr>
            </a:p>
            <a:p>
              <a:endParaRPr lang="ru-RU" altLang="ru-RU" sz="1200" b="1">
                <a:latin typeface="Arial" charset="0"/>
              </a:endParaRPr>
            </a:p>
            <a:p>
              <a:endParaRPr lang="ru-RU" altLang="ru-RU" sz="1200" b="1">
                <a:latin typeface="Arial" charset="0"/>
              </a:endParaRPr>
            </a:p>
            <a:p>
              <a:pPr algn="r"/>
              <a:r>
                <a:rPr lang="ru-RU" altLang="ru-RU" sz="1200" b="1">
                  <a:latin typeface="Arial" charset="0"/>
                </a:rPr>
                <a:t>А1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7291" name="Rectangle 12"/>
            <p:cNvSpPr>
              <a:spLocks noChangeArrowheads="1"/>
            </p:cNvSpPr>
            <p:nvPr/>
          </p:nvSpPr>
          <p:spPr bwMode="auto">
            <a:xfrm>
              <a:off x="5841" y="3114"/>
              <a:ext cx="2160" cy="12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 altLang="ru-RU" sz="1200" b="1">
                <a:latin typeface="Arial" charset="0"/>
              </a:endParaRPr>
            </a:p>
            <a:p>
              <a:endParaRPr lang="ru-RU" altLang="ru-RU" sz="1200" b="1">
                <a:latin typeface="Arial" charset="0"/>
              </a:endParaRPr>
            </a:p>
            <a:p>
              <a:endParaRPr lang="ru-RU" altLang="ru-RU" sz="1200" b="1">
                <a:latin typeface="Arial" charset="0"/>
              </a:endParaRPr>
            </a:p>
            <a:p>
              <a:pPr algn="r"/>
              <a:r>
                <a:rPr lang="ru-RU" altLang="ru-RU" sz="1200" b="1">
                  <a:latin typeface="Arial" charset="0"/>
                </a:rPr>
                <a:t>А2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7292" name="Line 13"/>
            <p:cNvSpPr>
              <a:spLocks noChangeShapeType="1"/>
            </p:cNvSpPr>
            <p:nvPr/>
          </p:nvSpPr>
          <p:spPr bwMode="auto">
            <a:xfrm>
              <a:off x="2421" y="239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7293" name="Line 14"/>
            <p:cNvSpPr>
              <a:spLocks noChangeShapeType="1"/>
            </p:cNvSpPr>
            <p:nvPr/>
          </p:nvSpPr>
          <p:spPr bwMode="auto">
            <a:xfrm>
              <a:off x="5121" y="239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7294" name="Line 15"/>
            <p:cNvSpPr>
              <a:spLocks noChangeShapeType="1"/>
            </p:cNvSpPr>
            <p:nvPr/>
          </p:nvSpPr>
          <p:spPr bwMode="auto">
            <a:xfrm>
              <a:off x="4041" y="1134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7295" name="Line 16"/>
            <p:cNvSpPr>
              <a:spLocks noChangeShapeType="1"/>
            </p:cNvSpPr>
            <p:nvPr/>
          </p:nvSpPr>
          <p:spPr bwMode="auto">
            <a:xfrm>
              <a:off x="6921" y="2574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7296" name="Line 17"/>
            <p:cNvSpPr>
              <a:spLocks noChangeShapeType="1"/>
            </p:cNvSpPr>
            <p:nvPr/>
          </p:nvSpPr>
          <p:spPr bwMode="auto">
            <a:xfrm>
              <a:off x="5301" y="383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7297" name="Line 18"/>
            <p:cNvSpPr>
              <a:spLocks noChangeShapeType="1"/>
            </p:cNvSpPr>
            <p:nvPr/>
          </p:nvSpPr>
          <p:spPr bwMode="auto">
            <a:xfrm>
              <a:off x="8001" y="383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7298" name="Rectangle 19"/>
            <p:cNvSpPr>
              <a:spLocks noChangeArrowheads="1"/>
            </p:cNvSpPr>
            <p:nvPr/>
          </p:nvSpPr>
          <p:spPr bwMode="auto">
            <a:xfrm>
              <a:off x="8541" y="3474"/>
              <a:ext cx="54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altLang="ru-RU" sz="1200" b="1">
                  <a:latin typeface="Arial" charset="0"/>
                </a:rPr>
                <a:t>F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7299" name="Rectangle 20"/>
            <p:cNvSpPr>
              <a:spLocks noChangeArrowheads="1"/>
            </p:cNvSpPr>
            <p:nvPr/>
          </p:nvSpPr>
          <p:spPr bwMode="auto">
            <a:xfrm>
              <a:off x="5661" y="2214"/>
              <a:ext cx="54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altLang="ru-RU" sz="1200" b="1">
                  <a:latin typeface="Arial" charset="0"/>
                </a:rPr>
                <a:t>C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97300" name="Line 21"/>
            <p:cNvSpPr>
              <a:spLocks noChangeShapeType="1"/>
            </p:cNvSpPr>
            <p:nvPr/>
          </p:nvSpPr>
          <p:spPr bwMode="auto">
            <a:xfrm>
              <a:off x="3321" y="774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7301" name="Line 22"/>
            <p:cNvSpPr>
              <a:spLocks noChangeShapeType="1"/>
            </p:cNvSpPr>
            <p:nvPr/>
          </p:nvSpPr>
          <p:spPr bwMode="auto">
            <a:xfrm>
              <a:off x="2061" y="2034"/>
              <a:ext cx="0" cy="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7302" name="Line 23"/>
            <p:cNvSpPr>
              <a:spLocks noChangeShapeType="1"/>
            </p:cNvSpPr>
            <p:nvPr/>
          </p:nvSpPr>
          <p:spPr bwMode="auto">
            <a:xfrm>
              <a:off x="9081" y="3294"/>
              <a:ext cx="0" cy="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Типы связей</a:t>
            </a:r>
          </a:p>
        </p:txBody>
      </p:sp>
      <p:sp>
        <p:nvSpPr>
          <p:cNvPr id="17408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Логическая связь – данные и функции собираются вместе благодаря тому, что они попадают в общий класс или набор элементов, но необходимых функциональных отношений между ними не обнаруживается.</a:t>
            </a:r>
          </a:p>
          <a:p>
            <a:pPr eaLnBrk="1" hangingPunct="1"/>
            <a:r>
              <a:rPr lang="ru-RU" altLang="ru-RU" smtClean="0"/>
              <a:t>Временная связь – представляет функции, связанные во времени, когда данные используются одновременно или функции включаются параллельно, а не последовательно.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4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74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5" grpId="0" build="p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55" name="Rectangle 27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0541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dirty="0" smtClean="0"/>
              <a:t>Типы связей</a:t>
            </a:r>
          </a:p>
        </p:txBody>
      </p:sp>
      <p:sp>
        <p:nvSpPr>
          <p:cNvPr id="101378" name="Rectangle 28"/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1493838"/>
            <a:ext cx="7772400" cy="2505075"/>
          </a:xfrm>
        </p:spPr>
        <p:txBody>
          <a:bodyPr/>
          <a:lstStyle/>
          <a:p>
            <a:pPr eaLnBrk="1" hangingPunct="1"/>
            <a:r>
              <a:rPr lang="ru-RU" altLang="ru-RU" smtClean="0"/>
              <a:t>Процедурная связь - функции сгруппированы вместе благодаря тому, что они выполняются в течение одной и той же части цикла или процесса</a:t>
            </a:r>
            <a:r>
              <a:rPr lang="ru-RU" altLang="ru-RU" sz="2000" smtClean="0"/>
              <a:t>.</a:t>
            </a:r>
          </a:p>
        </p:txBody>
      </p:sp>
      <p:sp>
        <p:nvSpPr>
          <p:cNvPr id="101379" name="Rectangle 29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endParaRPr lang="ru-RU" altLang="ru-RU" sz="2800" smtClean="0"/>
          </a:p>
        </p:txBody>
      </p:sp>
      <p:grpSp>
        <p:nvGrpSpPr>
          <p:cNvPr id="101380" name="Group 5"/>
          <p:cNvGrpSpPr>
            <a:grpSpLocks/>
          </p:cNvGrpSpPr>
          <p:nvPr/>
        </p:nvGrpSpPr>
        <p:grpSpPr bwMode="auto">
          <a:xfrm>
            <a:off x="1219200" y="3205163"/>
            <a:ext cx="7315200" cy="3276600"/>
            <a:chOff x="2781" y="5634"/>
            <a:chExt cx="7200" cy="3780"/>
          </a:xfrm>
        </p:grpSpPr>
        <p:sp>
          <p:nvSpPr>
            <p:cNvPr id="101381" name="Rectangle 6"/>
            <p:cNvSpPr>
              <a:spLocks noChangeArrowheads="1"/>
            </p:cNvSpPr>
            <p:nvPr/>
          </p:nvSpPr>
          <p:spPr bwMode="auto">
            <a:xfrm>
              <a:off x="2781" y="5634"/>
              <a:ext cx="7200" cy="37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ru-RU" altLang="ru-RU"/>
            </a:p>
          </p:txBody>
        </p:sp>
        <p:sp>
          <p:nvSpPr>
            <p:cNvPr id="101382" name="Rectangle 7"/>
            <p:cNvSpPr>
              <a:spLocks noChangeArrowheads="1"/>
            </p:cNvSpPr>
            <p:nvPr/>
          </p:nvSpPr>
          <p:spPr bwMode="auto">
            <a:xfrm>
              <a:off x="6921" y="8334"/>
              <a:ext cx="5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000" b="1">
                  <a:latin typeface="Arial" charset="0"/>
                </a:rPr>
                <a:t>В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1383" name="Rectangle 8"/>
            <p:cNvSpPr>
              <a:spLocks noChangeArrowheads="1"/>
            </p:cNvSpPr>
            <p:nvPr/>
          </p:nvSpPr>
          <p:spPr bwMode="auto">
            <a:xfrm>
              <a:off x="6201" y="6894"/>
              <a:ext cx="5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000" b="1">
                  <a:latin typeface="Arial" charset="0"/>
                </a:rPr>
                <a:t>А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1384" name="Rectangle 9"/>
            <p:cNvSpPr>
              <a:spLocks noChangeArrowheads="1"/>
            </p:cNvSpPr>
            <p:nvPr/>
          </p:nvSpPr>
          <p:spPr bwMode="auto">
            <a:xfrm>
              <a:off x="3501" y="6354"/>
              <a:ext cx="1980" cy="1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ru-RU" altLang="ru-RU" sz="1000" b="1">
                <a:latin typeface="Arial" charset="0"/>
              </a:endParaRPr>
            </a:p>
            <a:p>
              <a:pPr algn="ctr"/>
              <a:r>
                <a:rPr lang="ru-RU" altLang="ru-RU" sz="1000" b="1">
                  <a:latin typeface="Arial" charset="0"/>
                </a:rPr>
                <a:t>Планировать А</a:t>
              </a:r>
            </a:p>
            <a:p>
              <a:pPr algn="ctr"/>
              <a:endParaRPr lang="ru-RU" altLang="ru-RU" sz="1000" b="1">
                <a:latin typeface="Arial" charset="0"/>
              </a:endParaRPr>
            </a:p>
            <a:p>
              <a:pPr algn="r"/>
              <a:r>
                <a:rPr lang="ru-RU" altLang="ru-RU" sz="1000" b="1">
                  <a:latin typeface="Arial" charset="0"/>
                </a:rPr>
                <a:t>А1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1385" name="Rectangle 10"/>
            <p:cNvSpPr>
              <a:spLocks noChangeArrowheads="1"/>
            </p:cNvSpPr>
            <p:nvPr/>
          </p:nvSpPr>
          <p:spPr bwMode="auto">
            <a:xfrm>
              <a:off x="4581" y="8154"/>
              <a:ext cx="1980" cy="1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ru-RU" altLang="ru-RU" sz="1000" b="1">
                <a:latin typeface="Arial" charset="0"/>
              </a:endParaRPr>
            </a:p>
            <a:p>
              <a:pPr algn="ctr"/>
              <a:r>
                <a:rPr lang="ru-RU" altLang="ru-RU" sz="1000" b="1">
                  <a:latin typeface="Arial" charset="0"/>
                </a:rPr>
                <a:t>Планировать В</a:t>
              </a:r>
            </a:p>
            <a:p>
              <a:pPr algn="ctr"/>
              <a:endParaRPr lang="ru-RU" altLang="ru-RU" sz="1000" b="1">
                <a:latin typeface="Arial" charset="0"/>
              </a:endParaRPr>
            </a:p>
            <a:p>
              <a:pPr algn="r"/>
              <a:r>
                <a:rPr lang="ru-RU" altLang="ru-RU" sz="1000" b="1">
                  <a:latin typeface="Arial" charset="0"/>
                </a:rPr>
                <a:t>А2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1386" name="Rectangle 11"/>
            <p:cNvSpPr>
              <a:spLocks noChangeArrowheads="1"/>
            </p:cNvSpPr>
            <p:nvPr/>
          </p:nvSpPr>
          <p:spPr bwMode="auto">
            <a:xfrm>
              <a:off x="7281" y="7074"/>
              <a:ext cx="1980" cy="1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ru-RU" altLang="ru-RU" sz="1000" b="1">
                <a:latin typeface="Arial" charset="0"/>
              </a:endParaRPr>
            </a:p>
            <a:p>
              <a:pPr algn="ctr"/>
              <a:r>
                <a:rPr lang="ru-RU" altLang="ru-RU" sz="1000" b="1">
                  <a:latin typeface="Arial" charset="0"/>
                </a:rPr>
                <a:t>Согласовать </a:t>
              </a:r>
            </a:p>
            <a:p>
              <a:pPr algn="ctr"/>
              <a:r>
                <a:rPr lang="ru-RU" altLang="ru-RU" sz="1000" b="1">
                  <a:latin typeface="Arial" charset="0"/>
                </a:rPr>
                <a:t>А и В</a:t>
              </a:r>
            </a:p>
            <a:p>
              <a:pPr algn="r"/>
              <a:r>
                <a:rPr lang="ru-RU" altLang="ru-RU" sz="1000" b="1">
                  <a:latin typeface="Arial" charset="0"/>
                </a:rPr>
                <a:t>А3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1387" name="Line 12"/>
            <p:cNvSpPr>
              <a:spLocks noChangeShapeType="1"/>
            </p:cNvSpPr>
            <p:nvPr/>
          </p:nvSpPr>
          <p:spPr bwMode="auto">
            <a:xfrm>
              <a:off x="2961" y="689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1388" name="Line 13"/>
            <p:cNvSpPr>
              <a:spLocks noChangeShapeType="1"/>
            </p:cNvSpPr>
            <p:nvPr/>
          </p:nvSpPr>
          <p:spPr bwMode="auto">
            <a:xfrm>
              <a:off x="4401" y="5814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1389" name="Line 14"/>
            <p:cNvSpPr>
              <a:spLocks noChangeShapeType="1"/>
            </p:cNvSpPr>
            <p:nvPr/>
          </p:nvSpPr>
          <p:spPr bwMode="auto">
            <a:xfrm>
              <a:off x="5841" y="5814"/>
              <a:ext cx="0" cy="23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1390" name="Line 15"/>
            <p:cNvSpPr>
              <a:spLocks noChangeShapeType="1"/>
            </p:cNvSpPr>
            <p:nvPr/>
          </p:nvSpPr>
          <p:spPr bwMode="auto">
            <a:xfrm>
              <a:off x="8181" y="5814"/>
              <a:ext cx="0" cy="12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1391" name="Line 16"/>
            <p:cNvSpPr>
              <a:spLocks noChangeShapeType="1"/>
            </p:cNvSpPr>
            <p:nvPr/>
          </p:nvSpPr>
          <p:spPr bwMode="auto">
            <a:xfrm>
              <a:off x="6921" y="7974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1392" name="Line 17"/>
            <p:cNvSpPr>
              <a:spLocks noChangeShapeType="1"/>
            </p:cNvSpPr>
            <p:nvPr/>
          </p:nvSpPr>
          <p:spPr bwMode="auto">
            <a:xfrm>
              <a:off x="6561" y="761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1393" name="Line 18"/>
            <p:cNvSpPr>
              <a:spLocks noChangeShapeType="1"/>
            </p:cNvSpPr>
            <p:nvPr/>
          </p:nvSpPr>
          <p:spPr bwMode="auto">
            <a:xfrm>
              <a:off x="9261" y="7434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1394" name="Line 19"/>
            <p:cNvSpPr>
              <a:spLocks noChangeShapeType="1"/>
            </p:cNvSpPr>
            <p:nvPr/>
          </p:nvSpPr>
          <p:spPr bwMode="auto">
            <a:xfrm flipV="1">
              <a:off x="9261" y="7794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1395" name="Line 20"/>
            <p:cNvSpPr>
              <a:spLocks noChangeShapeType="1"/>
            </p:cNvSpPr>
            <p:nvPr/>
          </p:nvSpPr>
          <p:spPr bwMode="auto">
            <a:xfrm>
              <a:off x="5481" y="725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1396" name="Line 21"/>
            <p:cNvSpPr>
              <a:spLocks noChangeShapeType="1"/>
            </p:cNvSpPr>
            <p:nvPr/>
          </p:nvSpPr>
          <p:spPr bwMode="auto">
            <a:xfrm flipV="1">
              <a:off x="6561" y="725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1397" name="Line 22"/>
            <p:cNvSpPr>
              <a:spLocks noChangeShapeType="1"/>
            </p:cNvSpPr>
            <p:nvPr/>
          </p:nvSpPr>
          <p:spPr bwMode="auto">
            <a:xfrm>
              <a:off x="6921" y="797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1398" name="Line 23"/>
            <p:cNvSpPr>
              <a:spLocks noChangeShapeType="1"/>
            </p:cNvSpPr>
            <p:nvPr/>
          </p:nvSpPr>
          <p:spPr bwMode="auto">
            <a:xfrm flipH="1">
              <a:off x="6561" y="8694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1399" name="Rectangle 24"/>
            <p:cNvSpPr>
              <a:spLocks noChangeArrowheads="1"/>
            </p:cNvSpPr>
            <p:nvPr/>
          </p:nvSpPr>
          <p:spPr bwMode="auto">
            <a:xfrm>
              <a:off x="9441" y="6894"/>
              <a:ext cx="5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000" b="1">
                  <a:latin typeface="Arial" charset="0"/>
                </a:rPr>
                <a:t>А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1400" name="Rectangle 25"/>
            <p:cNvSpPr>
              <a:spLocks noChangeArrowheads="1"/>
            </p:cNvSpPr>
            <p:nvPr/>
          </p:nvSpPr>
          <p:spPr bwMode="auto">
            <a:xfrm>
              <a:off x="9441" y="7974"/>
              <a:ext cx="5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000" b="1">
                  <a:latin typeface="Arial" charset="0"/>
                </a:rPr>
                <a:t>В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1401" name="Line 26"/>
            <p:cNvSpPr>
              <a:spLocks noChangeShapeType="1"/>
            </p:cNvSpPr>
            <p:nvPr/>
          </p:nvSpPr>
          <p:spPr bwMode="auto">
            <a:xfrm>
              <a:off x="9981" y="6354"/>
              <a:ext cx="0" cy="21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97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Типы связей</a:t>
            </a:r>
          </a:p>
        </p:txBody>
      </p:sp>
      <p:sp>
        <p:nvSpPr>
          <p:cNvPr id="103426" name="Rectangle 22"/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1828800"/>
            <a:ext cx="7772400" cy="1981200"/>
          </a:xfrm>
        </p:spPr>
        <p:txBody>
          <a:bodyPr/>
          <a:lstStyle/>
          <a:p>
            <a:pPr eaLnBrk="1" hangingPunct="1"/>
            <a:r>
              <a:rPr lang="ru-RU" altLang="ru-RU" sz="2000" smtClean="0"/>
              <a:t>Коммуникационная - функции группируются благодаря тому, что они используют одни и те же входные данные и/или производят одни и те же выходные данные </a:t>
            </a:r>
          </a:p>
          <a:p>
            <a:pPr eaLnBrk="1" hangingPunct="1"/>
            <a:endParaRPr lang="ru-RU" altLang="ru-RU" sz="2000" smtClean="0"/>
          </a:p>
        </p:txBody>
      </p:sp>
      <p:sp>
        <p:nvSpPr>
          <p:cNvPr id="103427" name="Rectangle 23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endParaRPr lang="ru-RU" altLang="ru-RU" sz="2800" smtClean="0"/>
          </a:p>
        </p:txBody>
      </p:sp>
      <p:grpSp>
        <p:nvGrpSpPr>
          <p:cNvPr id="103428" name="Group 5"/>
          <p:cNvGrpSpPr>
            <a:grpSpLocks/>
          </p:cNvGrpSpPr>
          <p:nvPr/>
        </p:nvGrpSpPr>
        <p:grpSpPr bwMode="auto">
          <a:xfrm>
            <a:off x="1133475" y="3211513"/>
            <a:ext cx="7086600" cy="3505200"/>
            <a:chOff x="1521" y="8694"/>
            <a:chExt cx="6120" cy="3240"/>
          </a:xfrm>
        </p:grpSpPr>
        <p:sp>
          <p:nvSpPr>
            <p:cNvPr id="103429" name="Rectangle 6"/>
            <p:cNvSpPr>
              <a:spLocks noChangeArrowheads="1"/>
            </p:cNvSpPr>
            <p:nvPr/>
          </p:nvSpPr>
          <p:spPr bwMode="auto">
            <a:xfrm>
              <a:off x="1521" y="8694"/>
              <a:ext cx="6120" cy="3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ru-RU" altLang="ru-RU"/>
            </a:p>
          </p:txBody>
        </p:sp>
        <p:sp>
          <p:nvSpPr>
            <p:cNvPr id="103430" name="Rectangle 7"/>
            <p:cNvSpPr>
              <a:spLocks noChangeArrowheads="1"/>
            </p:cNvSpPr>
            <p:nvPr/>
          </p:nvSpPr>
          <p:spPr bwMode="auto">
            <a:xfrm>
              <a:off x="7101" y="9774"/>
              <a:ext cx="5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000" b="1">
                  <a:latin typeface="Arial" charset="0"/>
                </a:rPr>
                <a:t>В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3431" name="Rectangle 8"/>
            <p:cNvSpPr>
              <a:spLocks noChangeArrowheads="1"/>
            </p:cNvSpPr>
            <p:nvPr/>
          </p:nvSpPr>
          <p:spPr bwMode="auto">
            <a:xfrm>
              <a:off x="7101" y="10674"/>
              <a:ext cx="5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000" b="1">
                  <a:latin typeface="Arial" charset="0"/>
                </a:rPr>
                <a:t>С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3432" name="Rectangle 9"/>
            <p:cNvSpPr>
              <a:spLocks noChangeArrowheads="1"/>
            </p:cNvSpPr>
            <p:nvPr/>
          </p:nvSpPr>
          <p:spPr bwMode="auto">
            <a:xfrm>
              <a:off x="2061" y="10854"/>
              <a:ext cx="5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000" b="1">
                  <a:latin typeface="Arial" charset="0"/>
                </a:rPr>
                <a:t>А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3433" name="Rectangle 10"/>
            <p:cNvSpPr>
              <a:spLocks noChangeArrowheads="1"/>
            </p:cNvSpPr>
            <p:nvPr/>
          </p:nvSpPr>
          <p:spPr bwMode="auto">
            <a:xfrm>
              <a:off x="1701" y="9774"/>
              <a:ext cx="5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000" b="1">
                  <a:latin typeface="Arial" charset="0"/>
                </a:rPr>
                <a:t>А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3434" name="Rectangle 11"/>
            <p:cNvSpPr>
              <a:spLocks noChangeArrowheads="1"/>
            </p:cNvSpPr>
            <p:nvPr/>
          </p:nvSpPr>
          <p:spPr bwMode="auto">
            <a:xfrm>
              <a:off x="2421" y="9774"/>
              <a:ext cx="1620" cy="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 altLang="ru-RU" sz="1200">
                <a:latin typeface="Arial" charset="0"/>
              </a:endParaRPr>
            </a:p>
            <a:p>
              <a:endParaRPr lang="ru-RU" altLang="ru-RU" sz="1000">
                <a:latin typeface="Arial" charset="0"/>
              </a:endParaRPr>
            </a:p>
            <a:p>
              <a:pPr algn="r"/>
              <a:r>
                <a:rPr lang="ru-RU" altLang="ru-RU" sz="1000" b="1">
                  <a:latin typeface="Arial" charset="0"/>
                </a:rPr>
                <a:t>А1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3435" name="Rectangle 12"/>
            <p:cNvSpPr>
              <a:spLocks noChangeArrowheads="1"/>
            </p:cNvSpPr>
            <p:nvPr/>
          </p:nvSpPr>
          <p:spPr bwMode="auto">
            <a:xfrm>
              <a:off x="5121" y="10674"/>
              <a:ext cx="1620" cy="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 altLang="ru-RU" sz="1200">
                <a:latin typeface="Arial" charset="0"/>
              </a:endParaRPr>
            </a:p>
            <a:p>
              <a:endParaRPr lang="ru-RU" altLang="ru-RU" sz="1000">
                <a:latin typeface="Arial" charset="0"/>
              </a:endParaRPr>
            </a:p>
            <a:p>
              <a:pPr algn="r"/>
              <a:r>
                <a:rPr lang="ru-RU" altLang="ru-RU" sz="1000" b="1">
                  <a:latin typeface="Arial" charset="0"/>
                </a:rPr>
                <a:t>А2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3436" name="Line 13"/>
            <p:cNvSpPr>
              <a:spLocks noChangeShapeType="1"/>
            </p:cNvSpPr>
            <p:nvPr/>
          </p:nvSpPr>
          <p:spPr bwMode="auto">
            <a:xfrm>
              <a:off x="2061" y="10134"/>
              <a:ext cx="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3437" name="Line 14"/>
            <p:cNvSpPr>
              <a:spLocks noChangeShapeType="1"/>
            </p:cNvSpPr>
            <p:nvPr/>
          </p:nvSpPr>
          <p:spPr bwMode="auto">
            <a:xfrm>
              <a:off x="2061" y="11214"/>
              <a:ext cx="30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3438" name="Line 15"/>
            <p:cNvSpPr>
              <a:spLocks noChangeShapeType="1"/>
            </p:cNvSpPr>
            <p:nvPr/>
          </p:nvSpPr>
          <p:spPr bwMode="auto">
            <a:xfrm>
              <a:off x="3141" y="905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3439" name="Line 16"/>
            <p:cNvSpPr>
              <a:spLocks noChangeShapeType="1"/>
            </p:cNvSpPr>
            <p:nvPr/>
          </p:nvSpPr>
          <p:spPr bwMode="auto">
            <a:xfrm>
              <a:off x="6021" y="9054"/>
              <a:ext cx="0" cy="16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3440" name="Line 17"/>
            <p:cNvSpPr>
              <a:spLocks noChangeShapeType="1"/>
            </p:cNvSpPr>
            <p:nvPr/>
          </p:nvSpPr>
          <p:spPr bwMode="auto">
            <a:xfrm>
              <a:off x="6741" y="1103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3441" name="Line 18"/>
            <p:cNvSpPr>
              <a:spLocks noChangeShapeType="1"/>
            </p:cNvSpPr>
            <p:nvPr/>
          </p:nvSpPr>
          <p:spPr bwMode="auto">
            <a:xfrm>
              <a:off x="4041" y="10134"/>
              <a:ext cx="32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3442" name="Line 19"/>
            <p:cNvSpPr>
              <a:spLocks noChangeShapeType="1"/>
            </p:cNvSpPr>
            <p:nvPr/>
          </p:nvSpPr>
          <p:spPr bwMode="auto">
            <a:xfrm>
              <a:off x="7641" y="9774"/>
              <a:ext cx="0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3443" name="Line 20"/>
            <p:cNvSpPr>
              <a:spLocks noChangeShapeType="1"/>
            </p:cNvSpPr>
            <p:nvPr/>
          </p:nvSpPr>
          <p:spPr bwMode="auto">
            <a:xfrm>
              <a:off x="1701" y="1013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44" name="Rectangle 20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7842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dirty="0" smtClean="0"/>
              <a:t>Типы связей</a:t>
            </a:r>
          </a:p>
        </p:txBody>
      </p:sp>
      <p:sp>
        <p:nvSpPr>
          <p:cNvPr id="105474" name="Rectangle 21"/>
          <p:cNvSpPr>
            <a:spLocks noGrp="1" noChangeArrowheads="1"/>
          </p:cNvSpPr>
          <p:nvPr>
            <p:ph type="body" sz="half" idx="1"/>
          </p:nvPr>
        </p:nvSpPr>
        <p:spPr>
          <a:xfrm>
            <a:off x="1108075" y="1023938"/>
            <a:ext cx="7772400" cy="18192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altLang="ru-RU" sz="2000" smtClean="0"/>
              <a:t>Последовательная связь - выход одной функции служит входными данными для следующей функции. Связь между элементами на диаграмме является более тесной, чем в рассмотренных выше случаях, поскольку моделируются причинно-следственные зависимости </a:t>
            </a:r>
          </a:p>
          <a:p>
            <a:pPr eaLnBrk="1" hangingPunct="1">
              <a:lnSpc>
                <a:spcPct val="80000"/>
              </a:lnSpc>
            </a:pPr>
            <a:endParaRPr lang="ru-RU" altLang="ru-RU" sz="2000" smtClean="0"/>
          </a:p>
        </p:txBody>
      </p:sp>
      <p:sp>
        <p:nvSpPr>
          <p:cNvPr id="105475" name="Rectangle 22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endParaRPr lang="ru-RU" altLang="ru-RU" sz="2800" smtClean="0"/>
          </a:p>
        </p:txBody>
      </p:sp>
      <p:grpSp>
        <p:nvGrpSpPr>
          <p:cNvPr id="105476" name="Group 5"/>
          <p:cNvGrpSpPr>
            <a:grpSpLocks/>
          </p:cNvGrpSpPr>
          <p:nvPr/>
        </p:nvGrpSpPr>
        <p:grpSpPr bwMode="auto">
          <a:xfrm>
            <a:off x="990600" y="3352800"/>
            <a:ext cx="7620000" cy="2819400"/>
            <a:chOff x="1521" y="12474"/>
            <a:chExt cx="6120" cy="3240"/>
          </a:xfrm>
        </p:grpSpPr>
        <p:sp>
          <p:nvSpPr>
            <p:cNvPr id="105477" name="Rectangle 6"/>
            <p:cNvSpPr>
              <a:spLocks noChangeArrowheads="1"/>
            </p:cNvSpPr>
            <p:nvPr/>
          </p:nvSpPr>
          <p:spPr bwMode="auto">
            <a:xfrm>
              <a:off x="1521" y="12474"/>
              <a:ext cx="6120" cy="3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ru-RU" altLang="ru-RU"/>
            </a:p>
          </p:txBody>
        </p:sp>
        <p:sp>
          <p:nvSpPr>
            <p:cNvPr id="105478" name="Rectangle 7"/>
            <p:cNvSpPr>
              <a:spLocks noChangeArrowheads="1"/>
            </p:cNvSpPr>
            <p:nvPr/>
          </p:nvSpPr>
          <p:spPr bwMode="auto">
            <a:xfrm>
              <a:off x="4401" y="14454"/>
              <a:ext cx="5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000" b="1">
                  <a:latin typeface="Arial" charset="0"/>
                </a:rPr>
                <a:t>В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5479" name="Rectangle 8"/>
            <p:cNvSpPr>
              <a:spLocks noChangeArrowheads="1"/>
            </p:cNvSpPr>
            <p:nvPr/>
          </p:nvSpPr>
          <p:spPr bwMode="auto">
            <a:xfrm>
              <a:off x="7101" y="14454"/>
              <a:ext cx="5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000" b="1">
                  <a:latin typeface="Arial" charset="0"/>
                </a:rPr>
                <a:t>С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5480" name="Rectangle 9"/>
            <p:cNvSpPr>
              <a:spLocks noChangeArrowheads="1"/>
            </p:cNvSpPr>
            <p:nvPr/>
          </p:nvSpPr>
          <p:spPr bwMode="auto">
            <a:xfrm>
              <a:off x="1701" y="13554"/>
              <a:ext cx="5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000" b="1">
                  <a:latin typeface="Arial" charset="0"/>
                </a:rPr>
                <a:t>А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5481" name="Rectangle 10"/>
            <p:cNvSpPr>
              <a:spLocks noChangeArrowheads="1"/>
            </p:cNvSpPr>
            <p:nvPr/>
          </p:nvSpPr>
          <p:spPr bwMode="auto">
            <a:xfrm>
              <a:off x="2421" y="13554"/>
              <a:ext cx="1620" cy="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 altLang="ru-RU" sz="1200">
                <a:latin typeface="Arial" charset="0"/>
              </a:endParaRPr>
            </a:p>
            <a:p>
              <a:endParaRPr lang="ru-RU" altLang="ru-RU" sz="1000">
                <a:latin typeface="Arial" charset="0"/>
              </a:endParaRPr>
            </a:p>
            <a:p>
              <a:pPr algn="r"/>
              <a:r>
                <a:rPr lang="ru-RU" altLang="ru-RU" sz="1000" b="1">
                  <a:latin typeface="Arial" charset="0"/>
                </a:rPr>
                <a:t>А1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5482" name="Rectangle 11"/>
            <p:cNvSpPr>
              <a:spLocks noChangeArrowheads="1"/>
            </p:cNvSpPr>
            <p:nvPr/>
          </p:nvSpPr>
          <p:spPr bwMode="auto">
            <a:xfrm>
              <a:off x="5121" y="14454"/>
              <a:ext cx="1620" cy="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 altLang="ru-RU" sz="1200">
                <a:latin typeface="Arial" charset="0"/>
              </a:endParaRPr>
            </a:p>
            <a:p>
              <a:endParaRPr lang="ru-RU" altLang="ru-RU" sz="1000">
                <a:latin typeface="Arial" charset="0"/>
              </a:endParaRPr>
            </a:p>
            <a:p>
              <a:pPr algn="r"/>
              <a:r>
                <a:rPr lang="ru-RU" altLang="ru-RU" sz="1000" b="1">
                  <a:latin typeface="Arial" charset="0"/>
                </a:rPr>
                <a:t>А2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5483" name="Line 12"/>
            <p:cNvSpPr>
              <a:spLocks noChangeShapeType="1"/>
            </p:cNvSpPr>
            <p:nvPr/>
          </p:nvSpPr>
          <p:spPr bwMode="auto">
            <a:xfrm>
              <a:off x="4401" y="1409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5484" name="Line 13"/>
            <p:cNvSpPr>
              <a:spLocks noChangeShapeType="1"/>
            </p:cNvSpPr>
            <p:nvPr/>
          </p:nvSpPr>
          <p:spPr bwMode="auto">
            <a:xfrm>
              <a:off x="3141" y="1283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5485" name="Line 14"/>
            <p:cNvSpPr>
              <a:spLocks noChangeShapeType="1"/>
            </p:cNvSpPr>
            <p:nvPr/>
          </p:nvSpPr>
          <p:spPr bwMode="auto">
            <a:xfrm>
              <a:off x="6021" y="12834"/>
              <a:ext cx="0" cy="16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5486" name="Line 15"/>
            <p:cNvSpPr>
              <a:spLocks noChangeShapeType="1"/>
            </p:cNvSpPr>
            <p:nvPr/>
          </p:nvSpPr>
          <p:spPr bwMode="auto">
            <a:xfrm>
              <a:off x="6741" y="1481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5487" name="Line 16"/>
            <p:cNvSpPr>
              <a:spLocks noChangeShapeType="1"/>
            </p:cNvSpPr>
            <p:nvPr/>
          </p:nvSpPr>
          <p:spPr bwMode="auto">
            <a:xfrm>
              <a:off x="7641" y="13554"/>
              <a:ext cx="0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5488" name="Line 17"/>
            <p:cNvSpPr>
              <a:spLocks noChangeShapeType="1"/>
            </p:cNvSpPr>
            <p:nvPr/>
          </p:nvSpPr>
          <p:spPr bwMode="auto">
            <a:xfrm>
              <a:off x="1701" y="1391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5489" name="Line 18"/>
            <p:cNvSpPr>
              <a:spLocks noChangeShapeType="1"/>
            </p:cNvSpPr>
            <p:nvPr/>
          </p:nvSpPr>
          <p:spPr bwMode="auto">
            <a:xfrm>
              <a:off x="4401" y="1481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5490" name="Line 19"/>
            <p:cNvSpPr>
              <a:spLocks noChangeShapeType="1"/>
            </p:cNvSpPr>
            <p:nvPr/>
          </p:nvSpPr>
          <p:spPr bwMode="auto">
            <a:xfrm>
              <a:off x="4041" y="14094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88" name="Rectangle 16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91916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dirty="0" smtClean="0"/>
              <a:t>Типы связей</a:t>
            </a:r>
          </a:p>
        </p:txBody>
      </p:sp>
      <p:sp>
        <p:nvSpPr>
          <p:cNvPr id="107522" name="Rectangle 17"/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1358900"/>
            <a:ext cx="7772400" cy="26400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altLang="ru-RU" sz="2000" smtClean="0"/>
              <a:t>Функциональная связь – все элементы функции влияют на выполнение одной и только одной функции. Одним из способов определения функционально-связанных диаграмм является рассмотрение двух блоков, связанных через управляющие дуги.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000" smtClean="0"/>
              <a:t>В математических терминах необходимое условие для простейшего типа функциональной связи имеет следующий вид:     С=</a:t>
            </a:r>
            <a:r>
              <a:rPr lang="en-US" altLang="ru-RU" sz="2000" smtClean="0"/>
              <a:t>g</a:t>
            </a:r>
            <a:r>
              <a:rPr lang="ru-RU" altLang="ru-RU" sz="2000" smtClean="0"/>
              <a:t>(</a:t>
            </a:r>
            <a:r>
              <a:rPr lang="en-US" altLang="ru-RU" sz="2000" smtClean="0"/>
              <a:t>B</a:t>
            </a:r>
            <a:r>
              <a:rPr lang="ru-RU" altLang="ru-RU" sz="2000" smtClean="0"/>
              <a:t>)=</a:t>
            </a:r>
            <a:r>
              <a:rPr lang="en-US" altLang="ru-RU" sz="2000" smtClean="0"/>
              <a:t>g</a:t>
            </a:r>
            <a:r>
              <a:rPr lang="ru-RU" altLang="ru-RU" sz="2000" smtClean="0"/>
              <a:t>(</a:t>
            </a:r>
            <a:r>
              <a:rPr lang="en-US" altLang="ru-RU" sz="2000" smtClean="0"/>
              <a:t>f</a:t>
            </a:r>
            <a:r>
              <a:rPr lang="ru-RU" altLang="ru-RU" sz="2000" smtClean="0"/>
              <a:t>(</a:t>
            </a:r>
            <a:r>
              <a:rPr lang="en-US" altLang="ru-RU" sz="2000" smtClean="0"/>
              <a:t>A</a:t>
            </a:r>
            <a:r>
              <a:rPr lang="ru-RU" altLang="ru-RU" sz="2000" smtClean="0"/>
              <a:t>)) </a:t>
            </a:r>
          </a:p>
        </p:txBody>
      </p:sp>
      <p:sp>
        <p:nvSpPr>
          <p:cNvPr id="107523" name="Rectangle 18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endParaRPr lang="ru-RU" altLang="ru-RU" sz="2800" smtClean="0"/>
          </a:p>
        </p:txBody>
      </p:sp>
      <p:grpSp>
        <p:nvGrpSpPr>
          <p:cNvPr id="107524" name="Group 4"/>
          <p:cNvGrpSpPr>
            <a:grpSpLocks/>
          </p:cNvGrpSpPr>
          <p:nvPr/>
        </p:nvGrpSpPr>
        <p:grpSpPr bwMode="auto">
          <a:xfrm>
            <a:off x="1330325" y="4430713"/>
            <a:ext cx="6934200" cy="2057400"/>
            <a:chOff x="1521" y="414"/>
            <a:chExt cx="6120" cy="3240"/>
          </a:xfrm>
        </p:grpSpPr>
        <p:sp>
          <p:nvSpPr>
            <p:cNvPr id="107525" name="Rectangle 5"/>
            <p:cNvSpPr>
              <a:spLocks noChangeArrowheads="1"/>
            </p:cNvSpPr>
            <p:nvPr/>
          </p:nvSpPr>
          <p:spPr bwMode="auto">
            <a:xfrm>
              <a:off x="1521" y="414"/>
              <a:ext cx="6120" cy="3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ru-RU" altLang="ru-RU"/>
            </a:p>
          </p:txBody>
        </p:sp>
        <p:sp>
          <p:nvSpPr>
            <p:cNvPr id="107526" name="Rectangle 6"/>
            <p:cNvSpPr>
              <a:spLocks noChangeArrowheads="1"/>
            </p:cNvSpPr>
            <p:nvPr/>
          </p:nvSpPr>
          <p:spPr bwMode="auto">
            <a:xfrm>
              <a:off x="4761" y="1494"/>
              <a:ext cx="5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000" b="1">
                  <a:latin typeface="Arial" charset="0"/>
                </a:rPr>
                <a:t>В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7527" name="Rectangle 7"/>
            <p:cNvSpPr>
              <a:spLocks noChangeArrowheads="1"/>
            </p:cNvSpPr>
            <p:nvPr/>
          </p:nvSpPr>
          <p:spPr bwMode="auto">
            <a:xfrm>
              <a:off x="7101" y="2394"/>
              <a:ext cx="5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000" b="1">
                  <a:latin typeface="Arial" charset="0"/>
                </a:rPr>
                <a:t>С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7528" name="Rectangle 8"/>
            <p:cNvSpPr>
              <a:spLocks noChangeArrowheads="1"/>
            </p:cNvSpPr>
            <p:nvPr/>
          </p:nvSpPr>
          <p:spPr bwMode="auto">
            <a:xfrm>
              <a:off x="2781" y="774"/>
              <a:ext cx="5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altLang="ru-RU" sz="1000" b="1">
                  <a:latin typeface="Arial" charset="0"/>
                </a:rPr>
                <a:t>А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7529" name="Rectangle 9"/>
            <p:cNvSpPr>
              <a:spLocks noChangeArrowheads="1"/>
            </p:cNvSpPr>
            <p:nvPr/>
          </p:nvSpPr>
          <p:spPr bwMode="auto">
            <a:xfrm>
              <a:off x="2421" y="1494"/>
              <a:ext cx="1620" cy="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 altLang="ru-RU" sz="1200">
                <a:latin typeface="Arial" charset="0"/>
              </a:endParaRPr>
            </a:p>
            <a:p>
              <a:pPr algn="ctr"/>
              <a:r>
                <a:rPr lang="en-US" altLang="ru-RU" sz="1200" b="1">
                  <a:latin typeface="Arial" charset="0"/>
                </a:rPr>
                <a:t>f</a:t>
              </a:r>
            </a:p>
            <a:p>
              <a:pPr algn="r"/>
              <a:r>
                <a:rPr lang="ru-RU" altLang="ru-RU" sz="1000" b="1">
                  <a:latin typeface="Arial" charset="0"/>
                </a:rPr>
                <a:t>А1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7530" name="Rectangle 10"/>
            <p:cNvSpPr>
              <a:spLocks noChangeArrowheads="1"/>
            </p:cNvSpPr>
            <p:nvPr/>
          </p:nvSpPr>
          <p:spPr bwMode="auto">
            <a:xfrm>
              <a:off x="5121" y="2394"/>
              <a:ext cx="1620" cy="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 altLang="ru-RU" sz="1200">
                <a:latin typeface="Arial" charset="0"/>
              </a:endParaRPr>
            </a:p>
            <a:p>
              <a:pPr algn="ctr"/>
              <a:r>
                <a:rPr lang="en-US" altLang="ru-RU" sz="1200" b="1">
                  <a:latin typeface="Arial" charset="0"/>
                </a:rPr>
                <a:t>g</a:t>
              </a:r>
            </a:p>
            <a:p>
              <a:pPr algn="r"/>
              <a:r>
                <a:rPr lang="ru-RU" altLang="ru-RU" sz="1000" b="1">
                  <a:latin typeface="Arial" charset="0"/>
                </a:rPr>
                <a:t>А2</a:t>
              </a:r>
              <a:endParaRPr lang="ru-RU" altLang="ru-RU">
                <a:latin typeface="Arial" charset="0"/>
              </a:endParaRPr>
            </a:p>
          </p:txBody>
        </p:sp>
        <p:sp>
          <p:nvSpPr>
            <p:cNvPr id="107531" name="Line 11"/>
            <p:cNvSpPr>
              <a:spLocks noChangeShapeType="1"/>
            </p:cNvSpPr>
            <p:nvPr/>
          </p:nvSpPr>
          <p:spPr bwMode="auto">
            <a:xfrm>
              <a:off x="3141" y="77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7532" name="Line 12"/>
            <p:cNvSpPr>
              <a:spLocks noChangeShapeType="1"/>
            </p:cNvSpPr>
            <p:nvPr/>
          </p:nvSpPr>
          <p:spPr bwMode="auto">
            <a:xfrm>
              <a:off x="6021" y="1854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7533" name="Line 13"/>
            <p:cNvSpPr>
              <a:spLocks noChangeShapeType="1"/>
            </p:cNvSpPr>
            <p:nvPr/>
          </p:nvSpPr>
          <p:spPr bwMode="auto">
            <a:xfrm>
              <a:off x="6741" y="275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7534" name="Line 14"/>
            <p:cNvSpPr>
              <a:spLocks noChangeShapeType="1"/>
            </p:cNvSpPr>
            <p:nvPr/>
          </p:nvSpPr>
          <p:spPr bwMode="auto">
            <a:xfrm>
              <a:off x="7641" y="1494"/>
              <a:ext cx="0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7535" name="Line 15"/>
            <p:cNvSpPr>
              <a:spLocks noChangeShapeType="1"/>
            </p:cNvSpPr>
            <p:nvPr/>
          </p:nvSpPr>
          <p:spPr bwMode="auto">
            <a:xfrm>
              <a:off x="4041" y="1854"/>
              <a:ext cx="19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"/>
            <a:ext cx="8435975" cy="501650"/>
          </a:xfrm>
          <a:extLst/>
        </p:spPr>
        <p:txBody>
          <a:bodyPr rtlCol="0">
            <a:normAutofit fontScale="92500" lnSpcReduction="20000"/>
          </a:bodyPr>
          <a:lstStyle/>
          <a:p>
            <a:pPr marL="0" indent="0" algn="ctr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altLang="ru-RU" sz="4000" smtClean="0">
                <a:solidFill>
                  <a:schemeClr val="tx2"/>
                </a:solidFill>
              </a:rPr>
              <a:t>Типы связей</a:t>
            </a:r>
          </a:p>
        </p:txBody>
      </p:sp>
      <p:graphicFrame>
        <p:nvGraphicFramePr>
          <p:cNvPr id="184323" name="Group 3"/>
          <p:cNvGraphicFramePr>
            <a:graphicFrameLocks noGrp="1"/>
          </p:cNvGraphicFramePr>
          <p:nvPr>
            <p:ph sz="half" idx="2"/>
          </p:nvPr>
        </p:nvGraphicFramePr>
        <p:xfrm>
          <a:off x="323850" y="838200"/>
          <a:ext cx="8602663" cy="5257802"/>
        </p:xfrm>
        <a:graphic>
          <a:graphicData uri="http://schemas.openxmlformats.org/drawingml/2006/table">
            <a:tbl>
              <a:tblPr/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963"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Уровень значимости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Тип связи</a:t>
                      </a:r>
                      <a:r>
                        <a:rPr kumimoji="0" lang="ru-RU" altLang="ru-RU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Характеристика типа связи</a:t>
                      </a:r>
                      <a:r>
                        <a:rPr kumimoji="0" lang="ru-RU" altLang="ru-RU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Для функций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Для данных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Случайная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Случайная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Случайная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225"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Логическая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Функции одного и того же множества или типа (например, 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«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редактировать все входы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»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Данные одного и того же множества или типа.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2638"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Временная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Функции одного и того же периода времени (например, "операции инициализации")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Данные, используемые в каком-либо временном интервале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4225"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Процедурная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Функции, работающие в одной и той же фазе или итераций (например, "первый проход компилятора")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Данные, используемые во время одной и той же фазы или итерации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Коммуникационная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Функции, использующие одни и те же данные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Данные, на которые воздействует одна и та же деятельность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4225"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Последовательная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Функции, выполняющие последовательные преобразования одних и тех же данных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Данные, преобразуемые последовательными функциями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Функциональная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Функции, объединяемые для выполнения одной функции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342900" indent="-3429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Данные, связанные с одной функцией</a:t>
                      </a:r>
                      <a:r>
                        <a:rPr kumimoji="0" lang="ru-RU" alt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9622" name="Text Box 55"/>
          <p:cNvSpPr txBox="1">
            <a:spLocks noChangeArrowheads="1"/>
          </p:cNvSpPr>
          <p:nvPr/>
        </p:nvSpPr>
        <p:spPr bwMode="auto">
          <a:xfrm>
            <a:off x="304800" y="6096000"/>
            <a:ext cx="7010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ru-RU" altLang="ru-RU" sz="1400">
                <a:latin typeface="Arial" charset="0"/>
              </a:rPr>
              <a:t>Уровни 4-6 устанавливают типы связей, которые разработчики считают важнейшими для получения диаграмм хорошего качества.</a:t>
            </a:r>
          </a:p>
          <a:p>
            <a:pPr>
              <a:spcBef>
                <a:spcPct val="50000"/>
              </a:spcBef>
            </a:pPr>
            <a:endParaRPr lang="ru-RU" altLang="ru-RU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84213"/>
            <a:ext cx="7793037" cy="99218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Методология </a:t>
            </a:r>
            <a:r>
              <a:rPr lang="en-US" altLang="ru-RU" smtClean="0"/>
              <a:t>IDEF</a:t>
            </a:r>
            <a:r>
              <a:rPr lang="ru-RU" altLang="ru-RU" smtClean="0"/>
              <a:t>3</a:t>
            </a: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881063" y="1989138"/>
            <a:ext cx="8062912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/>
              <a:t>IDEF</a:t>
            </a:r>
            <a:r>
              <a:rPr lang="ru-RU" altLang="ru-RU"/>
              <a:t>3-модели используются для документирования технологических (информационных) процессов, где важна последовательность выполнения процесса </a:t>
            </a: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881063" y="2905125"/>
            <a:ext cx="8083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Выделяют четыре элемента </a:t>
            </a:r>
            <a:r>
              <a:rPr lang="en-US" altLang="ru-RU"/>
              <a:t>IDEF</a:t>
            </a:r>
            <a:r>
              <a:rPr lang="ru-RU" altLang="ru-RU"/>
              <a:t>3-модели:</a:t>
            </a:r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3687763" y="3473450"/>
            <a:ext cx="52768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ru-RU" altLang="ru-RU" i="1"/>
              <a:t>Единицы работ</a:t>
            </a:r>
            <a:r>
              <a:rPr lang="ru-RU" altLang="ru-RU"/>
              <a:t> (Unit of work) - отображают действия, процессы, события, этапы выполнения работ. Единица работы может иметь только один вход и один выход </a:t>
            </a:r>
          </a:p>
        </p:txBody>
      </p:sp>
      <p:pic>
        <p:nvPicPr>
          <p:cNvPr id="23561" name="Picture 9" descr="20-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1063" y="3298825"/>
            <a:ext cx="2786062" cy="150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2" name="Picture 10" descr="21-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50938" y="5003800"/>
            <a:ext cx="2119312" cy="147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3687763" y="5003800"/>
            <a:ext cx="527685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3038" indent="-173038"/>
            <a:r>
              <a:rPr lang="ru-RU" altLang="ru-RU"/>
              <a:t>2</a:t>
            </a:r>
            <a:r>
              <a:rPr lang="ru-RU" altLang="ru-RU" b="1" i="1"/>
              <a:t>. </a:t>
            </a:r>
            <a:r>
              <a:rPr lang="ru-RU" altLang="ru-RU" i="1"/>
              <a:t>Ссылки</a:t>
            </a:r>
            <a:r>
              <a:rPr lang="ru-RU" altLang="ru-RU"/>
              <a:t> (Referents):</a:t>
            </a:r>
          </a:p>
          <a:p>
            <a:pPr marL="173038" indent="-173038">
              <a:buFontTx/>
              <a:buChar char="•"/>
            </a:pPr>
            <a:r>
              <a:rPr lang="ru-RU" altLang="ru-RU"/>
              <a:t>необходимые элементы для выполнения процесса (сырье, материалы);</a:t>
            </a:r>
          </a:p>
          <a:p>
            <a:pPr marL="173038" indent="-173038">
              <a:buFontTx/>
              <a:buChar char="•"/>
            </a:pPr>
            <a:r>
              <a:rPr lang="ru-RU" altLang="ru-RU"/>
              <a:t>результат процесса (изделие);</a:t>
            </a:r>
          </a:p>
          <a:p>
            <a:pPr marL="173038" indent="-173038">
              <a:buFontTx/>
              <a:buChar char="•"/>
            </a:pPr>
            <a:r>
              <a:rPr lang="ru-RU" altLang="ru-RU"/>
              <a:t>активаторы процесса (клиент, поставщик).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/>
      <p:bldP spid="23559" grpId="0"/>
      <p:bldP spid="23560" grpId="0"/>
      <p:bldP spid="2356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38175"/>
            <a:ext cx="7793037" cy="10382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Методология </a:t>
            </a:r>
            <a:r>
              <a:rPr lang="en-US" altLang="ru-RU" smtClean="0"/>
              <a:t>IDEF</a:t>
            </a:r>
            <a:r>
              <a:rPr lang="ru-RU" altLang="ru-RU" smtClean="0"/>
              <a:t>3</a:t>
            </a:r>
          </a:p>
        </p:txBody>
      </p:sp>
      <p:pic>
        <p:nvPicPr>
          <p:cNvPr id="24582" name="Picture 6" descr="21,5-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6125" y="2549525"/>
            <a:ext cx="4005263" cy="7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3" name="Picture 7" descr="21,5-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6125" y="3344863"/>
            <a:ext cx="3992563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746125" y="2079625"/>
            <a:ext cx="80121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3. </a:t>
            </a:r>
            <a:r>
              <a:rPr lang="ru-RU" altLang="ru-RU" i="1"/>
              <a:t>Связи</a:t>
            </a:r>
            <a:r>
              <a:rPr lang="ru-RU" altLang="ru-RU" b="1" i="1"/>
              <a:t> </a:t>
            </a:r>
            <a:r>
              <a:rPr lang="ru-RU" altLang="ru-RU"/>
              <a:t>(Links), которые бывают двух типов:</a:t>
            </a:r>
          </a:p>
        </p:txBody>
      </p:sp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5032375" y="2549525"/>
            <a:ext cx="3911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передают действия от одной единицы работ к другой </a:t>
            </a:r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5032375" y="3344863"/>
            <a:ext cx="3911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соединяют ссылку с единицей работ (активируют единицу работ) </a:t>
            </a:r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542925" y="4197350"/>
            <a:ext cx="8421688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>
              <a:spcBef>
                <a:spcPct val="50000"/>
              </a:spcBef>
            </a:pPr>
            <a:r>
              <a:rPr lang="ru-RU" altLang="ru-RU"/>
              <a:t>4. </a:t>
            </a:r>
            <a:r>
              <a:rPr lang="ru-RU" altLang="ru-RU" i="1"/>
              <a:t>Перекрестки</a:t>
            </a:r>
            <a:r>
              <a:rPr lang="ru-RU" altLang="ru-RU" b="1"/>
              <a:t> </a:t>
            </a:r>
            <a:r>
              <a:rPr lang="ru-RU" altLang="ru-RU"/>
              <a:t>(</a:t>
            </a:r>
            <a:r>
              <a:rPr lang="en-US" altLang="ru-RU"/>
              <a:t>Junctions</a:t>
            </a:r>
            <a:r>
              <a:rPr lang="ru-RU" altLang="ru-RU"/>
              <a:t>) – элементы модели, за счет которых описывается логика и последовательность выполнения этапов процесса. </a:t>
            </a:r>
          </a:p>
          <a:p>
            <a:pPr marL="266700" indent="-266700"/>
            <a:r>
              <a:rPr lang="ru-RU" altLang="ru-RU"/>
              <a:t>Бывают двух видов: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4976813" y="6062663"/>
            <a:ext cx="391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перекрестки ветвления – Fan-</a:t>
            </a:r>
            <a:r>
              <a:rPr lang="en-US" altLang="ru-RU"/>
              <a:t>o</a:t>
            </a:r>
            <a:r>
              <a:rPr lang="ru-RU" altLang="ru-RU"/>
              <a:t>ut</a:t>
            </a:r>
          </a:p>
        </p:txBody>
      </p:sp>
      <p:pic>
        <p:nvPicPr>
          <p:cNvPr id="24596" name="Picture 20" descr="22-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20800" y="5240338"/>
            <a:ext cx="21717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97" name="Text Box 21"/>
          <p:cNvSpPr txBox="1">
            <a:spLocks noChangeArrowheads="1"/>
          </p:cNvSpPr>
          <p:nvPr/>
        </p:nvSpPr>
        <p:spPr bwMode="auto">
          <a:xfrm>
            <a:off x="746125" y="6062663"/>
            <a:ext cx="3556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перекрестки слияния – Fan-</a:t>
            </a:r>
            <a:r>
              <a:rPr lang="en-US" altLang="ru-RU"/>
              <a:t>i</a:t>
            </a:r>
            <a:r>
              <a:rPr lang="ru-RU" altLang="ru-RU"/>
              <a:t>n</a:t>
            </a:r>
          </a:p>
        </p:txBody>
      </p:sp>
      <p:pic>
        <p:nvPicPr>
          <p:cNvPr id="24598" name="Picture 22" descr="22-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72113" y="5240338"/>
            <a:ext cx="24161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4" grpId="0"/>
      <p:bldP spid="24585" grpId="0"/>
      <p:bldP spid="24586" grpId="0"/>
      <p:bldP spid="24588" grpId="0"/>
      <p:bldP spid="24589" grpId="0"/>
      <p:bldP spid="2459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593725"/>
            <a:ext cx="7793037" cy="10826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Методология </a:t>
            </a:r>
            <a:r>
              <a:rPr lang="en-US" altLang="ru-RU" smtClean="0"/>
              <a:t>IDEF</a:t>
            </a:r>
            <a:r>
              <a:rPr lang="ru-RU" altLang="ru-RU" smtClean="0"/>
              <a:t>3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1150938" y="1943100"/>
            <a:ext cx="49958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b="1"/>
              <a:t>Типы перекрестков:</a:t>
            </a:r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1150938" y="2309813"/>
            <a:ext cx="7793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1. Асинхронное И (</a:t>
            </a:r>
            <a:r>
              <a:rPr lang="en-US" altLang="ru-RU"/>
              <a:t>Asynchronous AND</a:t>
            </a:r>
            <a:r>
              <a:rPr lang="ru-RU" altLang="ru-RU"/>
              <a:t>)</a:t>
            </a:r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1150938" y="5549900"/>
            <a:ext cx="351155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выходной процесс запустится, если завершились все входные процессы</a:t>
            </a:r>
          </a:p>
        </p:txBody>
      </p:sp>
      <p:pic>
        <p:nvPicPr>
          <p:cNvPr id="25607" name="Picture 7" descr="26-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1788" y="2897188"/>
            <a:ext cx="2027237" cy="2332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8" name="Picture 8" descr="26-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07050" y="2897188"/>
            <a:ext cx="2179638" cy="2332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5337175" y="5549900"/>
            <a:ext cx="3376613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после завершения входного процесса запустятся все выходные процессы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  <p:bldP spid="25605" grpId="0"/>
      <p:bldP spid="25606" grpId="0"/>
      <p:bldP spid="2560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593725"/>
            <a:ext cx="7793037" cy="10826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Методология </a:t>
            </a:r>
            <a:r>
              <a:rPr lang="en-US" altLang="ru-RU" smtClean="0"/>
              <a:t>IDEF</a:t>
            </a:r>
            <a:r>
              <a:rPr lang="ru-RU" altLang="ru-RU" smtClean="0"/>
              <a:t>3</a:t>
            </a:r>
          </a:p>
        </p:txBody>
      </p:sp>
      <p:pic>
        <p:nvPicPr>
          <p:cNvPr id="26628" name="Picture 4" descr="27-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6363" y="2560638"/>
            <a:ext cx="2239962" cy="2560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9" name="Picture 5" descr="27-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46688" y="2590800"/>
            <a:ext cx="2430462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1150938" y="1943100"/>
            <a:ext cx="612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2. Синхронное И (</a:t>
            </a:r>
            <a:r>
              <a:rPr lang="en-US" altLang="ru-RU"/>
              <a:t>Synchronous AND</a:t>
            </a:r>
            <a:r>
              <a:rPr lang="ru-RU" altLang="ru-RU"/>
              <a:t>)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701675" y="5273675"/>
            <a:ext cx="387032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выходной процесс запустится, если завершились одновременно все входные процессы </a:t>
            </a:r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4572000" y="5273675"/>
            <a:ext cx="437197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после завершения входного процесса запустятся все выходные процессы, причем запустятся одновременно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/>
      <p:bldP spid="26631" grpId="0"/>
      <p:bldP spid="2663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525463"/>
            <a:ext cx="7793037" cy="115093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Методология </a:t>
            </a:r>
            <a:r>
              <a:rPr lang="en-US" altLang="ru-RU" smtClean="0"/>
              <a:t>IDEF</a:t>
            </a:r>
            <a:r>
              <a:rPr lang="ru-RU" altLang="ru-RU" smtClean="0"/>
              <a:t>3</a:t>
            </a:r>
          </a:p>
        </p:txBody>
      </p:sp>
      <p:pic>
        <p:nvPicPr>
          <p:cNvPr id="27654" name="Picture 6" descr="28-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1913" y="2552700"/>
            <a:ext cx="2301875" cy="265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5" name="Picture 7" descr="28-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27663" y="2651125"/>
            <a:ext cx="2308225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1150938" y="1943100"/>
            <a:ext cx="612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3. Асинхронное ИЛИ (</a:t>
            </a:r>
            <a:r>
              <a:rPr lang="en-US" altLang="ru-RU"/>
              <a:t>Asynchronous OR</a:t>
            </a:r>
            <a:r>
              <a:rPr lang="ru-RU" altLang="ru-RU"/>
              <a:t>)</a:t>
            </a:r>
          </a:p>
        </p:txBody>
      </p:sp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701675" y="5364163"/>
            <a:ext cx="3825875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выходной процесс запустится, если завершится один или несколько входных процессов </a:t>
            </a:r>
          </a:p>
        </p:txBody>
      </p:sp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4751388" y="5364163"/>
            <a:ext cx="4192587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после завершения входного процесса запустятся один или несколько выходных процессов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6" grpId="0"/>
      <p:bldP spid="27657" grpId="0"/>
      <p:bldP spid="2765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525463"/>
            <a:ext cx="7793037" cy="115093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Методология </a:t>
            </a:r>
            <a:r>
              <a:rPr lang="en-US" altLang="ru-RU" smtClean="0"/>
              <a:t>IDEF</a:t>
            </a:r>
            <a:r>
              <a:rPr lang="ru-RU" altLang="ru-RU" smtClean="0"/>
              <a:t>3</a:t>
            </a: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1016000" y="1989138"/>
            <a:ext cx="55356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4. Синхронное ИЛИ (</a:t>
            </a:r>
            <a:r>
              <a:rPr lang="en-US" altLang="ru-RU"/>
              <a:t>Synchronous OR</a:t>
            </a:r>
            <a:r>
              <a:rPr lang="ru-RU" altLang="ru-RU"/>
              <a:t>)</a:t>
            </a:r>
          </a:p>
        </p:txBody>
      </p:sp>
      <p:pic>
        <p:nvPicPr>
          <p:cNvPr id="28680" name="Picture 8" descr="29-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1788" y="2573338"/>
            <a:ext cx="2065337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1" name="Picture 9" descr="29-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7175" y="2573338"/>
            <a:ext cx="20955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792163" y="5003800"/>
            <a:ext cx="395922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выходной процесс запустится, если завершились один или несколько входных процессов, причем завершились одновременно 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4976813" y="5003800"/>
            <a:ext cx="378142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после завершения входного процесса запустится один или несколько выходных процессов, причем запустятся одновременно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9" grpId="0"/>
      <p:bldP spid="28682" grpId="0"/>
      <p:bldP spid="2868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525463"/>
            <a:ext cx="7793037" cy="115093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Методология </a:t>
            </a:r>
            <a:r>
              <a:rPr lang="en-US" altLang="ru-RU" smtClean="0"/>
              <a:t>IDEF</a:t>
            </a:r>
            <a:r>
              <a:rPr lang="ru-RU" altLang="ru-RU" smtClean="0"/>
              <a:t>3</a:t>
            </a:r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1150938" y="1989138"/>
            <a:ext cx="67516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5. Исключающее ИЛИ (XOR, Exclusive OR) </a:t>
            </a:r>
          </a:p>
        </p:txBody>
      </p:sp>
      <p:pic>
        <p:nvPicPr>
          <p:cNvPr id="29703" name="Picture 7" descr="30-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4775" y="2573338"/>
            <a:ext cx="2117725" cy="242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4" name="Picture 8" descr="30-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76813" y="2573338"/>
            <a:ext cx="2293937" cy="245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836613" y="5229225"/>
            <a:ext cx="382587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выходной процесс запустится, если завершился только один входной процесс </a:t>
            </a:r>
          </a:p>
        </p:txBody>
      </p: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4662488" y="5229225"/>
            <a:ext cx="4167187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после завершения входного процесса запустится только один выходной процесс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/>
      <p:bldP spid="29705" grpId="0"/>
      <p:bldP spid="2970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593725"/>
            <a:ext cx="7793037" cy="10826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Методология </a:t>
            </a:r>
            <a:r>
              <a:rPr lang="en-US" altLang="ru-RU" smtClean="0"/>
              <a:t>IDEF</a:t>
            </a:r>
            <a:r>
              <a:rPr lang="ru-RU" altLang="ru-RU" smtClean="0"/>
              <a:t>3</a:t>
            </a:r>
          </a:p>
        </p:txBody>
      </p:sp>
      <p:grpSp>
        <p:nvGrpSpPr>
          <p:cNvPr id="70736" name="Group 78"/>
          <p:cNvGrpSpPr>
            <a:grpSpLocks/>
          </p:cNvGrpSpPr>
          <p:nvPr/>
        </p:nvGrpSpPr>
        <p:grpSpPr bwMode="auto">
          <a:xfrm>
            <a:off x="690563" y="2101850"/>
            <a:ext cx="7923212" cy="3908425"/>
            <a:chOff x="435" y="1324"/>
            <a:chExt cx="4991" cy="2462"/>
          </a:xfrm>
        </p:grpSpPr>
        <p:grpSp>
          <p:nvGrpSpPr>
            <p:cNvPr id="70737" name="Group 6"/>
            <p:cNvGrpSpPr>
              <a:grpSpLocks/>
            </p:cNvGrpSpPr>
            <p:nvPr/>
          </p:nvGrpSpPr>
          <p:grpSpPr bwMode="auto">
            <a:xfrm>
              <a:off x="435" y="2216"/>
              <a:ext cx="685" cy="408"/>
              <a:chOff x="2973" y="9733"/>
              <a:chExt cx="1021" cy="565"/>
            </a:xfrm>
          </p:grpSpPr>
          <p:sp>
            <p:nvSpPr>
              <p:cNvPr id="70801" name="Text Box 7"/>
              <p:cNvSpPr txBox="1">
                <a:spLocks noChangeArrowheads="1"/>
              </p:cNvSpPr>
              <p:nvPr/>
            </p:nvSpPr>
            <p:spPr bwMode="auto">
              <a:xfrm>
                <a:off x="2973" y="9733"/>
                <a:ext cx="1021" cy="4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ru-RU" altLang="ru-RU" sz="1200"/>
                  <a:t>Разработать проект</a:t>
                </a:r>
                <a:endParaRPr lang="ru-RU" altLang="ru-RU"/>
              </a:p>
            </p:txBody>
          </p:sp>
          <p:sp>
            <p:nvSpPr>
              <p:cNvPr id="70802" name="Text Box 8"/>
              <p:cNvSpPr txBox="1">
                <a:spLocks noChangeArrowheads="1"/>
              </p:cNvSpPr>
              <p:nvPr/>
            </p:nvSpPr>
            <p:spPr bwMode="auto">
              <a:xfrm>
                <a:off x="2973" y="10138"/>
                <a:ext cx="409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ru-RU" altLang="ru-RU" sz="900"/>
                  <a:t>1</a:t>
                </a:r>
                <a:endParaRPr lang="ru-RU" altLang="ru-RU"/>
              </a:p>
            </p:txBody>
          </p:sp>
          <p:sp>
            <p:nvSpPr>
              <p:cNvPr id="70803" name="Text Box 9"/>
              <p:cNvSpPr txBox="1">
                <a:spLocks noChangeArrowheads="1"/>
              </p:cNvSpPr>
              <p:nvPr/>
            </p:nvSpPr>
            <p:spPr bwMode="auto">
              <a:xfrm>
                <a:off x="3382" y="10138"/>
                <a:ext cx="612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ru-RU" altLang="ru-RU"/>
              </a:p>
            </p:txBody>
          </p:sp>
        </p:grpSp>
        <p:graphicFrame>
          <p:nvGraphicFramePr>
            <p:cNvPr id="70731" name="Object 75"/>
            <p:cNvGraphicFramePr>
              <a:graphicFrameLocks noChangeAspect="1"/>
            </p:cNvGraphicFramePr>
            <p:nvPr/>
          </p:nvGraphicFramePr>
          <p:xfrm>
            <a:off x="1291" y="2260"/>
            <a:ext cx="255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75" r:id="rId3" imgW="763737" imgH="732468" progId="">
                    <p:embed/>
                  </p:oleObj>
                </mc:Choice>
                <mc:Fallback>
                  <p:oleObj r:id="rId3" imgW="763737" imgH="732468" progId="">
                    <p:embed/>
                    <p:pic>
                      <p:nvPicPr>
                        <p:cNvPr id="0" name="Picture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1" y="2260"/>
                          <a:ext cx="255" cy="2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738" name="Line 11"/>
            <p:cNvSpPr>
              <a:spLocks noChangeShapeType="1"/>
            </p:cNvSpPr>
            <p:nvPr/>
          </p:nvSpPr>
          <p:spPr bwMode="auto">
            <a:xfrm>
              <a:off x="1120" y="2372"/>
              <a:ext cx="17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70739" name="Group 12"/>
            <p:cNvGrpSpPr>
              <a:grpSpLocks/>
            </p:cNvGrpSpPr>
            <p:nvPr/>
          </p:nvGrpSpPr>
          <p:grpSpPr bwMode="auto">
            <a:xfrm>
              <a:off x="3333" y="1782"/>
              <a:ext cx="739" cy="402"/>
              <a:chOff x="4945" y="9177"/>
              <a:chExt cx="1021" cy="556"/>
            </a:xfrm>
          </p:grpSpPr>
          <p:sp>
            <p:nvSpPr>
              <p:cNvPr id="70798" name="Text Box 13"/>
              <p:cNvSpPr txBox="1">
                <a:spLocks noChangeArrowheads="1"/>
              </p:cNvSpPr>
              <p:nvPr/>
            </p:nvSpPr>
            <p:spPr bwMode="auto">
              <a:xfrm>
                <a:off x="4945" y="9177"/>
                <a:ext cx="1021" cy="3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ru-RU" altLang="ru-RU" sz="1200"/>
                  <a:t>Наклеить</a:t>
                </a:r>
              </a:p>
              <a:p>
                <a:pPr algn="ctr"/>
                <a:r>
                  <a:rPr lang="ru-RU" altLang="ru-RU" sz="1200"/>
                  <a:t>обои</a:t>
                </a:r>
                <a:endParaRPr lang="ru-RU" altLang="ru-RU"/>
              </a:p>
            </p:txBody>
          </p:sp>
          <p:sp>
            <p:nvSpPr>
              <p:cNvPr id="70799" name="Text Box 14"/>
              <p:cNvSpPr txBox="1">
                <a:spLocks noChangeArrowheads="1"/>
              </p:cNvSpPr>
              <p:nvPr/>
            </p:nvSpPr>
            <p:spPr bwMode="auto">
              <a:xfrm>
                <a:off x="4945" y="9573"/>
                <a:ext cx="409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en-US" altLang="ru-RU" sz="900"/>
                  <a:t>3</a:t>
                </a:r>
                <a:endParaRPr lang="ru-RU" altLang="ru-RU"/>
              </a:p>
            </p:txBody>
          </p:sp>
          <p:sp>
            <p:nvSpPr>
              <p:cNvPr id="70800" name="Text Box 15"/>
              <p:cNvSpPr txBox="1">
                <a:spLocks noChangeArrowheads="1"/>
              </p:cNvSpPr>
              <p:nvPr/>
            </p:nvSpPr>
            <p:spPr bwMode="auto">
              <a:xfrm>
                <a:off x="5354" y="9573"/>
                <a:ext cx="612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ru-RU" altLang="ru-RU"/>
              </a:p>
            </p:txBody>
          </p:sp>
        </p:grpSp>
        <p:grpSp>
          <p:nvGrpSpPr>
            <p:cNvPr id="70740" name="Group 16"/>
            <p:cNvGrpSpPr>
              <a:grpSpLocks/>
            </p:cNvGrpSpPr>
            <p:nvPr/>
          </p:nvGrpSpPr>
          <p:grpSpPr bwMode="auto">
            <a:xfrm>
              <a:off x="1654" y="2734"/>
              <a:ext cx="738" cy="404"/>
              <a:chOff x="4945" y="9177"/>
              <a:chExt cx="1021" cy="556"/>
            </a:xfrm>
          </p:grpSpPr>
          <p:sp>
            <p:nvSpPr>
              <p:cNvPr id="70795" name="Text Box 17"/>
              <p:cNvSpPr txBox="1">
                <a:spLocks noChangeArrowheads="1"/>
              </p:cNvSpPr>
              <p:nvPr/>
            </p:nvSpPr>
            <p:spPr bwMode="auto">
              <a:xfrm>
                <a:off x="4945" y="9177"/>
                <a:ext cx="1021" cy="3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ru-RU" altLang="ru-RU" sz="1200"/>
                  <a:t>Подготовить потолок</a:t>
                </a:r>
                <a:endParaRPr lang="ru-RU" altLang="ru-RU"/>
              </a:p>
            </p:txBody>
          </p:sp>
          <p:sp>
            <p:nvSpPr>
              <p:cNvPr id="70796" name="Text Box 18"/>
              <p:cNvSpPr txBox="1">
                <a:spLocks noChangeArrowheads="1"/>
              </p:cNvSpPr>
              <p:nvPr/>
            </p:nvSpPr>
            <p:spPr bwMode="auto">
              <a:xfrm>
                <a:off x="4945" y="9573"/>
                <a:ext cx="409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en-US" altLang="ru-RU" sz="900"/>
                  <a:t>4</a:t>
                </a:r>
                <a:endParaRPr lang="ru-RU" altLang="ru-RU"/>
              </a:p>
            </p:txBody>
          </p:sp>
          <p:sp>
            <p:nvSpPr>
              <p:cNvPr id="70797" name="Text Box 19"/>
              <p:cNvSpPr txBox="1">
                <a:spLocks noChangeArrowheads="1"/>
              </p:cNvSpPr>
              <p:nvPr/>
            </p:nvSpPr>
            <p:spPr bwMode="auto">
              <a:xfrm>
                <a:off x="5354" y="9573"/>
                <a:ext cx="612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ru-RU" altLang="ru-RU"/>
              </a:p>
            </p:txBody>
          </p:sp>
        </p:grpSp>
        <p:grpSp>
          <p:nvGrpSpPr>
            <p:cNvPr id="70741" name="Group 20"/>
            <p:cNvGrpSpPr>
              <a:grpSpLocks/>
            </p:cNvGrpSpPr>
            <p:nvPr/>
          </p:nvGrpSpPr>
          <p:grpSpPr bwMode="auto">
            <a:xfrm>
              <a:off x="1744" y="1782"/>
              <a:ext cx="739" cy="402"/>
              <a:chOff x="4945" y="9177"/>
              <a:chExt cx="1021" cy="556"/>
            </a:xfrm>
          </p:grpSpPr>
          <p:sp>
            <p:nvSpPr>
              <p:cNvPr id="70792" name="Text Box 21"/>
              <p:cNvSpPr txBox="1">
                <a:spLocks noChangeArrowheads="1"/>
              </p:cNvSpPr>
              <p:nvPr/>
            </p:nvSpPr>
            <p:spPr bwMode="auto">
              <a:xfrm>
                <a:off x="4945" y="9177"/>
                <a:ext cx="1021" cy="3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ru-RU" altLang="ru-RU" sz="1200"/>
                  <a:t>Подготовить стены</a:t>
                </a:r>
                <a:endParaRPr lang="ru-RU" altLang="ru-RU"/>
              </a:p>
            </p:txBody>
          </p:sp>
          <p:sp>
            <p:nvSpPr>
              <p:cNvPr id="70793" name="Text Box 22"/>
              <p:cNvSpPr txBox="1">
                <a:spLocks noChangeArrowheads="1"/>
              </p:cNvSpPr>
              <p:nvPr/>
            </p:nvSpPr>
            <p:spPr bwMode="auto">
              <a:xfrm>
                <a:off x="4945" y="9573"/>
                <a:ext cx="409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ru-RU" altLang="ru-RU" sz="900"/>
                  <a:t>2</a:t>
                </a:r>
                <a:endParaRPr lang="ru-RU" altLang="ru-RU"/>
              </a:p>
            </p:txBody>
          </p:sp>
          <p:sp>
            <p:nvSpPr>
              <p:cNvPr id="70794" name="Text Box 23"/>
              <p:cNvSpPr txBox="1">
                <a:spLocks noChangeArrowheads="1"/>
              </p:cNvSpPr>
              <p:nvPr/>
            </p:nvSpPr>
            <p:spPr bwMode="auto">
              <a:xfrm>
                <a:off x="5354" y="9573"/>
                <a:ext cx="612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ru-RU" altLang="ru-RU"/>
              </a:p>
            </p:txBody>
          </p:sp>
        </p:grpSp>
        <p:sp>
          <p:nvSpPr>
            <p:cNvPr id="70742" name="Line 24"/>
            <p:cNvSpPr>
              <a:spLocks noChangeShapeType="1"/>
            </p:cNvSpPr>
            <p:nvPr/>
          </p:nvSpPr>
          <p:spPr bwMode="auto">
            <a:xfrm>
              <a:off x="1438" y="1936"/>
              <a:ext cx="306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43" name="Line 25"/>
            <p:cNvSpPr>
              <a:spLocks noChangeShapeType="1"/>
            </p:cNvSpPr>
            <p:nvPr/>
          </p:nvSpPr>
          <p:spPr bwMode="auto">
            <a:xfrm flipV="1">
              <a:off x="2483" y="1934"/>
              <a:ext cx="850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70744" name="Group 26"/>
            <p:cNvGrpSpPr>
              <a:grpSpLocks/>
            </p:cNvGrpSpPr>
            <p:nvPr/>
          </p:nvGrpSpPr>
          <p:grpSpPr bwMode="auto">
            <a:xfrm>
              <a:off x="2910" y="2373"/>
              <a:ext cx="682" cy="403"/>
              <a:chOff x="4945" y="9177"/>
              <a:chExt cx="1021" cy="556"/>
            </a:xfrm>
          </p:grpSpPr>
          <p:sp>
            <p:nvSpPr>
              <p:cNvPr id="70789" name="Text Box 27"/>
              <p:cNvSpPr txBox="1">
                <a:spLocks noChangeArrowheads="1"/>
              </p:cNvSpPr>
              <p:nvPr/>
            </p:nvSpPr>
            <p:spPr bwMode="auto">
              <a:xfrm>
                <a:off x="4945" y="9177"/>
                <a:ext cx="1021" cy="3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ru-RU" altLang="ru-RU" sz="1200"/>
                  <a:t>Побелить </a:t>
                </a:r>
              </a:p>
              <a:p>
                <a:pPr algn="ctr"/>
                <a:r>
                  <a:rPr lang="ru-RU" altLang="ru-RU" sz="1200"/>
                  <a:t>потолок</a:t>
                </a:r>
                <a:endParaRPr lang="ru-RU" altLang="ru-RU"/>
              </a:p>
            </p:txBody>
          </p:sp>
          <p:sp>
            <p:nvSpPr>
              <p:cNvPr id="70790" name="Text Box 28"/>
              <p:cNvSpPr txBox="1">
                <a:spLocks noChangeArrowheads="1"/>
              </p:cNvSpPr>
              <p:nvPr/>
            </p:nvSpPr>
            <p:spPr bwMode="auto">
              <a:xfrm>
                <a:off x="4945" y="9573"/>
                <a:ext cx="409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en-US" altLang="ru-RU" sz="900"/>
                  <a:t>5</a:t>
                </a:r>
                <a:endParaRPr lang="ru-RU" altLang="ru-RU"/>
              </a:p>
            </p:txBody>
          </p:sp>
          <p:sp>
            <p:nvSpPr>
              <p:cNvPr id="70791" name="Text Box 29"/>
              <p:cNvSpPr txBox="1">
                <a:spLocks noChangeArrowheads="1"/>
              </p:cNvSpPr>
              <p:nvPr/>
            </p:nvSpPr>
            <p:spPr bwMode="auto">
              <a:xfrm>
                <a:off x="5354" y="9573"/>
                <a:ext cx="612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ru-RU" altLang="ru-RU"/>
              </a:p>
            </p:txBody>
          </p:sp>
        </p:grpSp>
        <p:graphicFrame>
          <p:nvGraphicFramePr>
            <p:cNvPr id="70732" name="Object 76"/>
            <p:cNvGraphicFramePr>
              <a:graphicFrameLocks noChangeAspect="1"/>
            </p:cNvGraphicFramePr>
            <p:nvPr/>
          </p:nvGraphicFramePr>
          <p:xfrm>
            <a:off x="2558" y="2773"/>
            <a:ext cx="253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76" r:id="rId5" imgW="778898" imgH="731520" progId="">
                    <p:embed/>
                  </p:oleObj>
                </mc:Choice>
                <mc:Fallback>
                  <p:oleObj r:id="rId5" imgW="778898" imgH="731520" progId="">
                    <p:embed/>
                    <p:pic>
                      <p:nvPicPr>
                        <p:cNvPr id="0" name="Picture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8" y="2773"/>
                          <a:ext cx="253" cy="2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0745" name="Group 31"/>
            <p:cNvGrpSpPr>
              <a:grpSpLocks/>
            </p:cNvGrpSpPr>
            <p:nvPr/>
          </p:nvGrpSpPr>
          <p:grpSpPr bwMode="auto">
            <a:xfrm>
              <a:off x="3215" y="3021"/>
              <a:ext cx="682" cy="403"/>
              <a:chOff x="4945" y="9177"/>
              <a:chExt cx="1021" cy="556"/>
            </a:xfrm>
          </p:grpSpPr>
          <p:sp>
            <p:nvSpPr>
              <p:cNvPr id="70786" name="Text Box 32"/>
              <p:cNvSpPr txBox="1">
                <a:spLocks noChangeArrowheads="1"/>
              </p:cNvSpPr>
              <p:nvPr/>
            </p:nvSpPr>
            <p:spPr bwMode="auto">
              <a:xfrm>
                <a:off x="4945" y="9177"/>
                <a:ext cx="1021" cy="3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ru-RU" altLang="ru-RU" sz="1200"/>
                  <a:t>Покрасить </a:t>
                </a:r>
              </a:p>
              <a:p>
                <a:pPr algn="ctr"/>
                <a:r>
                  <a:rPr lang="ru-RU" altLang="ru-RU" sz="1200"/>
                  <a:t>потолок</a:t>
                </a:r>
                <a:endParaRPr lang="ru-RU" altLang="ru-RU"/>
              </a:p>
            </p:txBody>
          </p:sp>
          <p:sp>
            <p:nvSpPr>
              <p:cNvPr id="70787" name="Text Box 33"/>
              <p:cNvSpPr txBox="1">
                <a:spLocks noChangeArrowheads="1"/>
              </p:cNvSpPr>
              <p:nvPr/>
            </p:nvSpPr>
            <p:spPr bwMode="auto">
              <a:xfrm>
                <a:off x="4945" y="9573"/>
                <a:ext cx="409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en-US" altLang="ru-RU" sz="900"/>
                  <a:t>6</a:t>
                </a:r>
                <a:endParaRPr lang="ru-RU" altLang="ru-RU"/>
              </a:p>
            </p:txBody>
          </p:sp>
          <p:sp>
            <p:nvSpPr>
              <p:cNvPr id="70788" name="Text Box 34"/>
              <p:cNvSpPr txBox="1">
                <a:spLocks noChangeArrowheads="1"/>
              </p:cNvSpPr>
              <p:nvPr/>
            </p:nvSpPr>
            <p:spPr bwMode="auto">
              <a:xfrm>
                <a:off x="5354" y="9573"/>
                <a:ext cx="612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ru-RU" altLang="ru-RU"/>
              </a:p>
            </p:txBody>
          </p:sp>
        </p:grpSp>
        <p:sp>
          <p:nvSpPr>
            <p:cNvPr id="70746" name="Line 35"/>
            <p:cNvSpPr>
              <a:spLocks noChangeShapeType="1"/>
            </p:cNvSpPr>
            <p:nvPr/>
          </p:nvSpPr>
          <p:spPr bwMode="auto">
            <a:xfrm>
              <a:off x="2392" y="2903"/>
              <a:ext cx="1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47" name="Line 36"/>
            <p:cNvSpPr>
              <a:spLocks noChangeShapeType="1"/>
            </p:cNvSpPr>
            <p:nvPr/>
          </p:nvSpPr>
          <p:spPr bwMode="auto">
            <a:xfrm>
              <a:off x="1432" y="2902"/>
              <a:ext cx="219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48" name="Line 37"/>
            <p:cNvSpPr>
              <a:spLocks noChangeShapeType="1"/>
            </p:cNvSpPr>
            <p:nvPr/>
          </p:nvSpPr>
          <p:spPr bwMode="auto">
            <a:xfrm>
              <a:off x="2687" y="2543"/>
              <a:ext cx="2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49" name="Line 38"/>
            <p:cNvSpPr>
              <a:spLocks noChangeShapeType="1"/>
            </p:cNvSpPr>
            <p:nvPr/>
          </p:nvSpPr>
          <p:spPr bwMode="auto">
            <a:xfrm>
              <a:off x="2687" y="3184"/>
              <a:ext cx="528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50" name="Line 39"/>
            <p:cNvSpPr>
              <a:spLocks noChangeShapeType="1"/>
            </p:cNvSpPr>
            <p:nvPr/>
          </p:nvSpPr>
          <p:spPr bwMode="auto">
            <a:xfrm flipV="1">
              <a:off x="1438" y="1939"/>
              <a:ext cx="8" cy="3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51" name="Line 40"/>
            <p:cNvSpPr>
              <a:spLocks noChangeShapeType="1"/>
            </p:cNvSpPr>
            <p:nvPr/>
          </p:nvSpPr>
          <p:spPr bwMode="auto">
            <a:xfrm flipV="1">
              <a:off x="1432" y="2508"/>
              <a:ext cx="6" cy="3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52" name="Line 41"/>
            <p:cNvSpPr>
              <a:spLocks noChangeShapeType="1"/>
            </p:cNvSpPr>
            <p:nvPr/>
          </p:nvSpPr>
          <p:spPr bwMode="auto">
            <a:xfrm flipV="1">
              <a:off x="2687" y="2549"/>
              <a:ext cx="1" cy="2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53" name="Line 42"/>
            <p:cNvSpPr>
              <a:spLocks noChangeShapeType="1"/>
            </p:cNvSpPr>
            <p:nvPr/>
          </p:nvSpPr>
          <p:spPr bwMode="auto">
            <a:xfrm>
              <a:off x="2687" y="3028"/>
              <a:ext cx="1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aphicFrame>
          <p:nvGraphicFramePr>
            <p:cNvPr id="70733" name="Object 77"/>
            <p:cNvGraphicFramePr>
              <a:graphicFrameLocks noChangeAspect="1"/>
            </p:cNvGraphicFramePr>
            <p:nvPr/>
          </p:nvGraphicFramePr>
          <p:xfrm>
            <a:off x="3945" y="2732"/>
            <a:ext cx="256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77" r:id="rId7" imgW="778898" imgH="731520" progId="">
                    <p:embed/>
                  </p:oleObj>
                </mc:Choice>
                <mc:Fallback>
                  <p:oleObj r:id="rId7" imgW="778898" imgH="731520" progId="">
                    <p:embed/>
                    <p:pic>
                      <p:nvPicPr>
                        <p:cNvPr id="0" name="Picture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5" y="2732"/>
                          <a:ext cx="256" cy="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754" name="Line 44"/>
            <p:cNvSpPr>
              <a:spLocks noChangeShapeType="1"/>
            </p:cNvSpPr>
            <p:nvPr/>
          </p:nvSpPr>
          <p:spPr bwMode="auto">
            <a:xfrm>
              <a:off x="4071" y="2542"/>
              <a:ext cx="1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55" name="Line 45"/>
            <p:cNvSpPr>
              <a:spLocks noChangeShapeType="1"/>
            </p:cNvSpPr>
            <p:nvPr/>
          </p:nvSpPr>
          <p:spPr bwMode="auto">
            <a:xfrm flipV="1">
              <a:off x="4071" y="2982"/>
              <a:ext cx="1" cy="1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56" name="Line 46"/>
            <p:cNvSpPr>
              <a:spLocks noChangeShapeType="1"/>
            </p:cNvSpPr>
            <p:nvPr/>
          </p:nvSpPr>
          <p:spPr bwMode="auto">
            <a:xfrm>
              <a:off x="3592" y="2542"/>
              <a:ext cx="479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57" name="Line 47"/>
            <p:cNvSpPr>
              <a:spLocks noChangeShapeType="1"/>
            </p:cNvSpPr>
            <p:nvPr/>
          </p:nvSpPr>
          <p:spPr bwMode="auto">
            <a:xfrm>
              <a:off x="3897" y="3179"/>
              <a:ext cx="1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58" name="Text Box 48"/>
            <p:cNvSpPr txBox="1">
              <a:spLocks noChangeArrowheads="1"/>
            </p:cNvSpPr>
            <p:nvPr/>
          </p:nvSpPr>
          <p:spPr bwMode="auto">
            <a:xfrm>
              <a:off x="1546" y="2508"/>
              <a:ext cx="141" cy="1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ru-RU" sz="1200"/>
                <a:t>J1</a:t>
              </a:r>
              <a:endParaRPr lang="ru-RU" altLang="ru-RU"/>
            </a:p>
          </p:txBody>
        </p:sp>
        <p:sp>
          <p:nvSpPr>
            <p:cNvPr id="70759" name="Text Box 49"/>
            <p:cNvSpPr txBox="1">
              <a:spLocks noChangeArrowheads="1"/>
            </p:cNvSpPr>
            <p:nvPr/>
          </p:nvSpPr>
          <p:spPr bwMode="auto">
            <a:xfrm>
              <a:off x="2771" y="3028"/>
              <a:ext cx="139" cy="14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ru-RU" sz="1200"/>
                <a:t>J2</a:t>
              </a:r>
              <a:endParaRPr lang="ru-RU" altLang="ru-RU"/>
            </a:p>
          </p:txBody>
        </p:sp>
        <p:sp>
          <p:nvSpPr>
            <p:cNvPr id="70760" name="Text Box 50"/>
            <p:cNvSpPr txBox="1">
              <a:spLocks noChangeArrowheads="1"/>
            </p:cNvSpPr>
            <p:nvPr/>
          </p:nvSpPr>
          <p:spPr bwMode="auto">
            <a:xfrm>
              <a:off x="4201" y="2941"/>
              <a:ext cx="140" cy="1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ru-RU" sz="1200"/>
                <a:t>J3</a:t>
              </a:r>
              <a:endParaRPr lang="ru-RU" altLang="ru-RU"/>
            </a:p>
          </p:txBody>
        </p:sp>
        <p:graphicFrame>
          <p:nvGraphicFramePr>
            <p:cNvPr id="70734" name="Object 78"/>
            <p:cNvGraphicFramePr>
              <a:graphicFrameLocks noChangeAspect="1"/>
            </p:cNvGraphicFramePr>
            <p:nvPr/>
          </p:nvGraphicFramePr>
          <p:xfrm>
            <a:off x="4262" y="2260"/>
            <a:ext cx="25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78" r:id="rId8" imgW="763737" imgH="732468" progId="">
                    <p:embed/>
                  </p:oleObj>
                </mc:Choice>
                <mc:Fallback>
                  <p:oleObj r:id="rId8" imgW="763737" imgH="732468" progId="">
                    <p:embed/>
                    <p:pic>
                      <p:nvPicPr>
                        <p:cNvPr id="0" name="Picture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2" y="2260"/>
                          <a:ext cx="254" cy="2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761" name="Text Box 52"/>
            <p:cNvSpPr txBox="1">
              <a:spLocks noChangeArrowheads="1"/>
            </p:cNvSpPr>
            <p:nvPr/>
          </p:nvSpPr>
          <p:spPr bwMode="auto">
            <a:xfrm>
              <a:off x="4516" y="2508"/>
              <a:ext cx="141" cy="1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ru-RU" sz="1200"/>
                <a:t>J4</a:t>
              </a:r>
              <a:endParaRPr lang="ru-RU" altLang="ru-RU"/>
            </a:p>
          </p:txBody>
        </p:sp>
        <p:sp>
          <p:nvSpPr>
            <p:cNvPr id="70762" name="Line 53"/>
            <p:cNvSpPr>
              <a:spLocks noChangeShapeType="1"/>
            </p:cNvSpPr>
            <p:nvPr/>
          </p:nvSpPr>
          <p:spPr bwMode="auto">
            <a:xfrm>
              <a:off x="4071" y="1934"/>
              <a:ext cx="31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63" name="Line 54"/>
            <p:cNvSpPr>
              <a:spLocks noChangeShapeType="1"/>
            </p:cNvSpPr>
            <p:nvPr/>
          </p:nvSpPr>
          <p:spPr bwMode="auto">
            <a:xfrm>
              <a:off x="4388" y="1934"/>
              <a:ext cx="2" cy="3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64" name="Line 55"/>
            <p:cNvSpPr>
              <a:spLocks noChangeShapeType="1"/>
            </p:cNvSpPr>
            <p:nvPr/>
          </p:nvSpPr>
          <p:spPr bwMode="auto">
            <a:xfrm flipV="1">
              <a:off x="4388" y="2508"/>
              <a:ext cx="2" cy="3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65" name="Line 56"/>
            <p:cNvSpPr>
              <a:spLocks noChangeShapeType="1"/>
            </p:cNvSpPr>
            <p:nvPr/>
          </p:nvSpPr>
          <p:spPr bwMode="auto">
            <a:xfrm>
              <a:off x="4201" y="2833"/>
              <a:ext cx="1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70766" name="Group 57"/>
            <p:cNvGrpSpPr>
              <a:grpSpLocks/>
            </p:cNvGrpSpPr>
            <p:nvPr/>
          </p:nvGrpSpPr>
          <p:grpSpPr bwMode="auto">
            <a:xfrm>
              <a:off x="4744" y="2184"/>
              <a:ext cx="682" cy="402"/>
              <a:chOff x="4945" y="9177"/>
              <a:chExt cx="1021" cy="556"/>
            </a:xfrm>
          </p:grpSpPr>
          <p:sp>
            <p:nvSpPr>
              <p:cNvPr id="70783" name="Text Box 58"/>
              <p:cNvSpPr txBox="1">
                <a:spLocks noChangeArrowheads="1"/>
              </p:cNvSpPr>
              <p:nvPr/>
            </p:nvSpPr>
            <p:spPr bwMode="auto">
              <a:xfrm>
                <a:off x="4945" y="9177"/>
                <a:ext cx="1021" cy="3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ru-RU" altLang="ru-RU" sz="1200"/>
                  <a:t>Расставить мебель</a:t>
                </a:r>
                <a:endParaRPr lang="ru-RU" altLang="ru-RU"/>
              </a:p>
            </p:txBody>
          </p:sp>
          <p:sp>
            <p:nvSpPr>
              <p:cNvPr id="70784" name="Text Box 59"/>
              <p:cNvSpPr txBox="1">
                <a:spLocks noChangeArrowheads="1"/>
              </p:cNvSpPr>
              <p:nvPr/>
            </p:nvSpPr>
            <p:spPr bwMode="auto">
              <a:xfrm>
                <a:off x="4945" y="9573"/>
                <a:ext cx="409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en-US" altLang="ru-RU" sz="900"/>
                  <a:t>7</a:t>
                </a:r>
                <a:endParaRPr lang="ru-RU" altLang="ru-RU"/>
              </a:p>
            </p:txBody>
          </p:sp>
          <p:sp>
            <p:nvSpPr>
              <p:cNvPr id="70785" name="Text Box 60"/>
              <p:cNvSpPr txBox="1">
                <a:spLocks noChangeArrowheads="1"/>
              </p:cNvSpPr>
              <p:nvPr/>
            </p:nvSpPr>
            <p:spPr bwMode="auto">
              <a:xfrm>
                <a:off x="5354" y="9573"/>
                <a:ext cx="612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ru-RU" altLang="ru-RU"/>
              </a:p>
            </p:txBody>
          </p:sp>
        </p:grpSp>
        <p:sp>
          <p:nvSpPr>
            <p:cNvPr id="70767" name="Line 61"/>
            <p:cNvSpPr>
              <a:spLocks noChangeShapeType="1"/>
            </p:cNvSpPr>
            <p:nvPr/>
          </p:nvSpPr>
          <p:spPr bwMode="auto">
            <a:xfrm>
              <a:off x="4516" y="2372"/>
              <a:ext cx="22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70768" name="Group 63"/>
            <p:cNvGrpSpPr>
              <a:grpSpLocks/>
            </p:cNvGrpSpPr>
            <p:nvPr/>
          </p:nvGrpSpPr>
          <p:grpSpPr bwMode="auto">
            <a:xfrm>
              <a:off x="2516" y="1324"/>
              <a:ext cx="740" cy="403"/>
              <a:chOff x="5064" y="8781"/>
              <a:chExt cx="1022" cy="557"/>
            </a:xfrm>
          </p:grpSpPr>
          <p:sp>
            <p:nvSpPr>
              <p:cNvPr id="70781" name="Text Box 64"/>
              <p:cNvSpPr txBox="1">
                <a:spLocks noChangeArrowheads="1"/>
              </p:cNvSpPr>
              <p:nvPr/>
            </p:nvSpPr>
            <p:spPr bwMode="auto">
              <a:xfrm>
                <a:off x="5064" y="8781"/>
                <a:ext cx="1022" cy="39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ru-RU" altLang="ru-RU" sz="1200"/>
                  <a:t>выровненные </a:t>
                </a:r>
              </a:p>
              <a:p>
                <a:pPr algn="ctr"/>
                <a:r>
                  <a:rPr lang="ru-RU" altLang="ru-RU" sz="1200"/>
                  <a:t>стены</a:t>
                </a:r>
                <a:endParaRPr lang="ru-RU" altLang="ru-RU"/>
              </a:p>
            </p:txBody>
          </p:sp>
          <p:sp>
            <p:nvSpPr>
              <p:cNvPr id="70782" name="Text Box 65"/>
              <p:cNvSpPr txBox="1">
                <a:spLocks noChangeArrowheads="1"/>
              </p:cNvSpPr>
              <p:nvPr/>
            </p:nvSpPr>
            <p:spPr bwMode="auto">
              <a:xfrm>
                <a:off x="5064" y="9178"/>
                <a:ext cx="1022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ru-RU" altLang="ru-RU"/>
              </a:p>
            </p:txBody>
          </p:sp>
        </p:grpSp>
        <p:sp>
          <p:nvSpPr>
            <p:cNvPr id="70769" name="Line 66"/>
            <p:cNvSpPr>
              <a:spLocks noChangeShapeType="1"/>
            </p:cNvSpPr>
            <p:nvPr/>
          </p:nvSpPr>
          <p:spPr bwMode="auto">
            <a:xfrm>
              <a:off x="2168" y="1480"/>
              <a:ext cx="3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70" name="Line 67"/>
            <p:cNvSpPr>
              <a:spLocks noChangeShapeType="1"/>
            </p:cNvSpPr>
            <p:nvPr/>
          </p:nvSpPr>
          <p:spPr bwMode="auto">
            <a:xfrm>
              <a:off x="2168" y="1480"/>
              <a:ext cx="0" cy="3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71" name="Line 68"/>
            <p:cNvSpPr>
              <a:spLocks noChangeShapeType="1"/>
            </p:cNvSpPr>
            <p:nvPr/>
          </p:nvSpPr>
          <p:spPr bwMode="auto">
            <a:xfrm>
              <a:off x="3256" y="1480"/>
              <a:ext cx="34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72" name="Line 69"/>
            <p:cNvSpPr>
              <a:spLocks noChangeShapeType="1"/>
            </p:cNvSpPr>
            <p:nvPr/>
          </p:nvSpPr>
          <p:spPr bwMode="auto">
            <a:xfrm>
              <a:off x="3604" y="1481"/>
              <a:ext cx="0" cy="3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70773" name="Group 70"/>
            <p:cNvGrpSpPr>
              <a:grpSpLocks/>
            </p:cNvGrpSpPr>
            <p:nvPr/>
          </p:nvGrpSpPr>
          <p:grpSpPr bwMode="auto">
            <a:xfrm>
              <a:off x="2392" y="3383"/>
              <a:ext cx="740" cy="403"/>
              <a:chOff x="5064" y="8781"/>
              <a:chExt cx="1022" cy="557"/>
            </a:xfrm>
          </p:grpSpPr>
          <p:sp>
            <p:nvSpPr>
              <p:cNvPr id="70779" name="Text Box 71"/>
              <p:cNvSpPr txBox="1">
                <a:spLocks noChangeArrowheads="1"/>
              </p:cNvSpPr>
              <p:nvPr/>
            </p:nvSpPr>
            <p:spPr bwMode="auto">
              <a:xfrm>
                <a:off x="5064" y="8781"/>
                <a:ext cx="1022" cy="39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ru-RU" altLang="ru-RU" sz="1200"/>
                  <a:t>выровненный </a:t>
                </a:r>
              </a:p>
              <a:p>
                <a:pPr algn="ctr"/>
                <a:r>
                  <a:rPr lang="ru-RU" altLang="ru-RU" sz="1200"/>
                  <a:t>потолок</a:t>
                </a:r>
              </a:p>
              <a:p>
                <a:endParaRPr lang="ru-RU" altLang="ru-RU"/>
              </a:p>
            </p:txBody>
          </p:sp>
          <p:sp>
            <p:nvSpPr>
              <p:cNvPr id="70780" name="Text Box 72"/>
              <p:cNvSpPr txBox="1">
                <a:spLocks noChangeArrowheads="1"/>
              </p:cNvSpPr>
              <p:nvPr/>
            </p:nvSpPr>
            <p:spPr bwMode="auto">
              <a:xfrm>
                <a:off x="5064" y="9178"/>
                <a:ext cx="1022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ru-RU" altLang="ru-RU"/>
              </a:p>
            </p:txBody>
          </p:sp>
        </p:grpSp>
        <p:sp>
          <p:nvSpPr>
            <p:cNvPr id="70774" name="Line 73"/>
            <p:cNvSpPr>
              <a:spLocks noChangeShapeType="1"/>
            </p:cNvSpPr>
            <p:nvPr/>
          </p:nvSpPr>
          <p:spPr bwMode="auto">
            <a:xfrm>
              <a:off x="2040" y="3138"/>
              <a:ext cx="1" cy="4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75" name="Line 74"/>
            <p:cNvSpPr>
              <a:spLocks noChangeShapeType="1"/>
            </p:cNvSpPr>
            <p:nvPr/>
          </p:nvSpPr>
          <p:spPr bwMode="auto">
            <a:xfrm>
              <a:off x="2040" y="3573"/>
              <a:ext cx="3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76" name="Line 75"/>
            <p:cNvSpPr>
              <a:spLocks noChangeShapeType="1"/>
            </p:cNvSpPr>
            <p:nvPr/>
          </p:nvSpPr>
          <p:spPr bwMode="auto">
            <a:xfrm>
              <a:off x="3132" y="3573"/>
              <a:ext cx="41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77" name="Line 76"/>
            <p:cNvSpPr>
              <a:spLocks noChangeShapeType="1"/>
            </p:cNvSpPr>
            <p:nvPr/>
          </p:nvSpPr>
          <p:spPr bwMode="auto">
            <a:xfrm flipV="1">
              <a:off x="3549" y="3424"/>
              <a:ext cx="7" cy="1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0778" name="Line 77"/>
            <p:cNvSpPr>
              <a:spLocks noChangeShapeType="1"/>
            </p:cNvSpPr>
            <p:nvPr/>
          </p:nvSpPr>
          <p:spPr bwMode="auto">
            <a:xfrm flipV="1">
              <a:off x="2998" y="2775"/>
              <a:ext cx="0" cy="6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Заголовок 1"/>
          <p:cNvSpPr>
            <a:spLocks noGrp="1"/>
          </p:cNvSpPr>
          <p:nvPr>
            <p:ph type="title"/>
          </p:nvPr>
        </p:nvSpPr>
        <p:spPr>
          <a:xfrm>
            <a:off x="1150938" y="673100"/>
            <a:ext cx="7793037" cy="10033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Методология </a:t>
            </a:r>
            <a:r>
              <a:rPr lang="en-US" altLang="ru-RU" smtClean="0"/>
              <a:t>IDEF</a:t>
            </a:r>
            <a:r>
              <a:rPr lang="ru-RU" altLang="ru-RU" smtClean="0"/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095500"/>
            <a:ext cx="8105775" cy="1092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b="1" dirty="0"/>
              <a:t>Правила создания перекрестков:</a:t>
            </a:r>
            <a:endParaRPr lang="en-US" b="1" dirty="0"/>
          </a:p>
          <a:p>
            <a:pPr>
              <a:defRPr/>
            </a:pPr>
            <a:endParaRPr lang="ru-RU" sz="1100" b="1" dirty="0"/>
          </a:p>
          <a:p>
            <a:pPr marL="276225" indent="-276225">
              <a:defRPr/>
            </a:pPr>
            <a:r>
              <a:rPr lang="ru-RU" dirty="0"/>
              <a:t>1. Каждому перекрестку слияния должен предшествовать перекресток ветвления.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38200" y="3187700"/>
            <a:ext cx="81057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ru-RU" altLang="ru-RU"/>
              <a:t>2. Перекресток слияния «И» не может следовать за перекрестком ветвления типа синхронного, асинхронного или исключающего «ИЛИ».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3833813"/>
            <a:ext cx="81057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ru-RU" altLang="ru-RU"/>
              <a:t>3. Перекресток слияния типа исключающего «ИЛИ» не может следовать за перекрестком ветвления типа «И».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38200" y="4481513"/>
            <a:ext cx="8126413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ru-RU" altLang="ru-RU"/>
              <a:t>4. Перекресток, имеющий одну стрелку на одной стороне, должен иметь более одной стрелки на другой.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38200" y="5127625"/>
            <a:ext cx="8126413" cy="92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ru-RU" altLang="ru-RU"/>
              <a:t>5. Перекресток не может быть одновременно перекрестком слияния и ветвления. В ситуации, когда необходимо одновременно осуществить слияние и разветвление потоков работ, вводится каскад перекрестков.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Заголовок 1"/>
          <p:cNvSpPr>
            <a:spLocks noGrp="1"/>
          </p:cNvSpPr>
          <p:nvPr>
            <p:ph type="title"/>
          </p:nvPr>
        </p:nvSpPr>
        <p:spPr>
          <a:xfrm>
            <a:off x="1150938" y="525463"/>
            <a:ext cx="7793037" cy="115093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Методология </a:t>
            </a:r>
            <a:r>
              <a:rPr lang="en-US" altLang="ru-RU" smtClean="0"/>
              <a:t>IDEF</a:t>
            </a:r>
            <a:r>
              <a:rPr lang="ru-RU" altLang="ru-RU" smtClean="0"/>
              <a:t>3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93750" y="2006600"/>
            <a:ext cx="81502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b="1"/>
              <a:t>Правило относительно единиц работ:</a:t>
            </a:r>
            <a:r>
              <a:rPr lang="ru-RU" altLang="ru-RU"/>
              <a:t> </a:t>
            </a:r>
          </a:p>
          <a:p>
            <a:r>
              <a:rPr lang="ru-RU" altLang="ru-RU"/>
              <a:t>В блок может входить и из блока может выходить только одна связь последовательности. Для отображения множества входов и выходов используются перекрестки. 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14388" y="3438525"/>
            <a:ext cx="81502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Разрешается </a:t>
            </a:r>
            <a:r>
              <a:rPr lang="ru-RU" altLang="ru-RU" i="1"/>
              <a:t>множественная декомпозиция </a:t>
            </a:r>
            <a:r>
              <a:rPr lang="ru-RU" altLang="ru-RU"/>
              <a:t>работ: </a:t>
            </a:r>
          </a:p>
          <a:p>
            <a:r>
              <a:rPr lang="ru-RU" altLang="ru-RU"/>
              <a:t>для одной и той же работы может быть создано несколько диаграмм декомпозиции (для описания разных вариантов реализации работы).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793750" y="4540250"/>
            <a:ext cx="81502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Номер работы А13.1.2 означает: </a:t>
            </a:r>
          </a:p>
          <a:p>
            <a:r>
              <a:rPr lang="ru-RU" altLang="ru-RU"/>
              <a:t>родительская работа имеет код А13, </a:t>
            </a:r>
          </a:p>
          <a:p>
            <a:r>
              <a:rPr lang="ru-RU" altLang="ru-RU"/>
              <a:t>номер декомпозиции – 1 </a:t>
            </a:r>
          </a:p>
          <a:p>
            <a:r>
              <a:rPr lang="ru-RU" altLang="ru-RU"/>
              <a:t>номер работы на текущей диаграмме – 2.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58" name="Group 14"/>
          <p:cNvGrpSpPr>
            <a:grpSpLocks/>
          </p:cNvGrpSpPr>
          <p:nvPr/>
        </p:nvGrpSpPr>
        <p:grpSpPr bwMode="auto">
          <a:xfrm>
            <a:off x="179388" y="2565400"/>
            <a:ext cx="8280400" cy="2663825"/>
            <a:chOff x="113" y="1616"/>
            <a:chExt cx="5216" cy="1678"/>
          </a:xfrm>
        </p:grpSpPr>
        <p:grpSp>
          <p:nvGrpSpPr>
            <p:cNvPr id="122889" name="Group 13"/>
            <p:cNvGrpSpPr>
              <a:grpSpLocks/>
            </p:cNvGrpSpPr>
            <p:nvPr/>
          </p:nvGrpSpPr>
          <p:grpSpPr bwMode="auto">
            <a:xfrm>
              <a:off x="974" y="1842"/>
              <a:ext cx="4355" cy="1452"/>
              <a:chOff x="974" y="1842"/>
              <a:chExt cx="4355" cy="1452"/>
            </a:xfrm>
          </p:grpSpPr>
          <p:pic>
            <p:nvPicPr>
              <p:cNvPr id="122891" name="Picture 5"/>
              <p:cNvPicPr>
                <a:picLocks noChangeAspect="1" noChangeArrowheads="1"/>
              </p:cNvPicPr>
              <p:nvPr/>
            </p:nvPicPr>
            <p:blipFill>
              <a:blip r:embed="rId2"/>
              <a:srcRect l="13609" t="39262" r="17014" b="41029"/>
              <a:stretch>
                <a:fillRect/>
              </a:stretch>
            </p:blipFill>
            <p:spPr bwMode="auto">
              <a:xfrm>
                <a:off x="974" y="2115"/>
                <a:ext cx="4355" cy="11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22892" name="Line 7"/>
              <p:cNvSpPr>
                <a:spLocks noChangeShapeType="1"/>
              </p:cNvSpPr>
              <p:nvPr/>
            </p:nvSpPr>
            <p:spPr bwMode="auto">
              <a:xfrm flipH="1">
                <a:off x="1700" y="1842"/>
                <a:ext cx="1043" cy="409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prstDash val="lgDash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22893" name="Line 8"/>
              <p:cNvSpPr>
                <a:spLocks noChangeShapeType="1"/>
              </p:cNvSpPr>
              <p:nvPr/>
            </p:nvSpPr>
            <p:spPr bwMode="auto">
              <a:xfrm>
                <a:off x="3696" y="1842"/>
                <a:ext cx="953" cy="454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prstDash val="lgDash"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122890" name="Text Box 11"/>
            <p:cNvSpPr txBox="1">
              <a:spLocks noChangeArrowheads="1"/>
            </p:cNvSpPr>
            <p:nvPr/>
          </p:nvSpPr>
          <p:spPr bwMode="auto">
            <a:xfrm>
              <a:off x="113" y="1616"/>
              <a:ext cx="1134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>
                  <a:latin typeface="Arial" charset="0"/>
                </a:rPr>
                <a:t>Первая декомпозиция работы 1.2</a:t>
              </a:r>
            </a:p>
          </p:txBody>
        </p:sp>
      </p:grp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4000" b="1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Структура множественной декомпозиции работ</a:t>
            </a:r>
          </a:p>
        </p:txBody>
      </p:sp>
      <p:pic>
        <p:nvPicPr>
          <p:cNvPr id="122883" name="Picture 4"/>
          <p:cNvPicPr>
            <a:picLocks noChangeAspect="1" noChangeArrowheads="1"/>
          </p:cNvPicPr>
          <p:nvPr/>
        </p:nvPicPr>
        <p:blipFill>
          <a:blip r:embed="rId3"/>
          <a:srcRect l="15538" t="33798" r="26649" b="49631"/>
          <a:stretch>
            <a:fillRect/>
          </a:stretch>
        </p:blipFill>
        <p:spPr bwMode="auto">
          <a:xfrm>
            <a:off x="2195513" y="1628775"/>
            <a:ext cx="5832475" cy="158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1759" name="Group 15"/>
          <p:cNvGrpSpPr>
            <a:grpSpLocks/>
          </p:cNvGrpSpPr>
          <p:nvPr/>
        </p:nvGrpSpPr>
        <p:grpSpPr bwMode="auto">
          <a:xfrm>
            <a:off x="179388" y="2924175"/>
            <a:ext cx="8424862" cy="3933825"/>
            <a:chOff x="113" y="1842"/>
            <a:chExt cx="5307" cy="2478"/>
          </a:xfrm>
        </p:grpSpPr>
        <p:pic>
          <p:nvPicPr>
            <p:cNvPr id="122885" name="Picture 6"/>
            <p:cNvPicPr>
              <a:picLocks noChangeAspect="1" noChangeArrowheads="1"/>
            </p:cNvPicPr>
            <p:nvPr/>
          </p:nvPicPr>
          <p:blipFill>
            <a:blip r:embed="rId4"/>
            <a:srcRect l="19373" t="38831" r="34428" b="44467"/>
            <a:stretch>
              <a:fillRect/>
            </a:stretch>
          </p:blipFill>
          <p:spPr bwMode="auto">
            <a:xfrm>
              <a:off x="1020" y="3158"/>
              <a:ext cx="4400" cy="1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2886" name="Line 9"/>
            <p:cNvSpPr>
              <a:spLocks noChangeShapeType="1"/>
            </p:cNvSpPr>
            <p:nvPr/>
          </p:nvSpPr>
          <p:spPr bwMode="auto">
            <a:xfrm flipH="1">
              <a:off x="2154" y="1842"/>
              <a:ext cx="635" cy="145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prstDash val="lgDash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2887" name="Line 10"/>
            <p:cNvSpPr>
              <a:spLocks noChangeShapeType="1"/>
            </p:cNvSpPr>
            <p:nvPr/>
          </p:nvSpPr>
          <p:spPr bwMode="auto">
            <a:xfrm>
              <a:off x="3651" y="1842"/>
              <a:ext cx="635" cy="145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prstDash val="lgDash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2888" name="Text Box 12"/>
            <p:cNvSpPr txBox="1">
              <a:spLocks noChangeArrowheads="1"/>
            </p:cNvSpPr>
            <p:nvPr/>
          </p:nvSpPr>
          <p:spPr bwMode="auto">
            <a:xfrm>
              <a:off x="113" y="2931"/>
              <a:ext cx="1066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>
                  <a:latin typeface="Arial" charset="0"/>
                </a:rPr>
                <a:t>Вторая декомпозиция работы 1.2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5238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3200" b="1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Пример построения модели </a:t>
            </a:r>
            <a:r>
              <a:rPr lang="en-US" altLang="ru-RU" sz="3200" b="1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IDEF3</a:t>
            </a:r>
            <a:endParaRPr lang="ru-RU" altLang="ru-RU" sz="3200" b="1" smtClean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1152525"/>
          </a:xfrm>
          <a:extLst/>
        </p:spPr>
        <p:txBody>
          <a:bodyPr rtlCol="0">
            <a:normAutofit fontScale="925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altLang="ru-RU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Рассмотрим на примере построения динамической модели процесса </a:t>
            </a:r>
            <a:r>
              <a:rPr lang="ru-RU" altLang="ru-RU" b="1" smtClean="0">
                <a:solidFill>
                  <a:schemeClr val="hlink"/>
                </a:solidFill>
              </a:rPr>
              <a:t>«Выполнение курсовой работы»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altLang="ru-RU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Начнем с построения контекстной диаграммы</a:t>
            </a:r>
          </a:p>
        </p:txBody>
      </p:sp>
      <p:grpSp>
        <p:nvGrpSpPr>
          <p:cNvPr id="38917" name="Group 5"/>
          <p:cNvGrpSpPr>
            <a:grpSpLocks/>
          </p:cNvGrpSpPr>
          <p:nvPr/>
        </p:nvGrpSpPr>
        <p:grpSpPr bwMode="auto">
          <a:xfrm>
            <a:off x="3059113" y="3284538"/>
            <a:ext cx="2665412" cy="1744662"/>
            <a:chOff x="431" y="1570"/>
            <a:chExt cx="1088" cy="635"/>
          </a:xfrm>
        </p:grpSpPr>
        <p:sp>
          <p:nvSpPr>
            <p:cNvPr id="123908" name="Rectangle 6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3909" name="Line 7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3910" name="Line 8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3911" name="Line 9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3912" name="Text Box 10"/>
            <p:cNvSpPr txBox="1">
              <a:spLocks noChangeArrowheads="1"/>
            </p:cNvSpPr>
            <p:nvPr/>
          </p:nvSpPr>
          <p:spPr bwMode="auto">
            <a:xfrm>
              <a:off x="431" y="2024"/>
              <a:ext cx="545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b="1">
                  <a:latin typeface="Arial" charset="0"/>
                </a:rPr>
                <a:t>1.1</a:t>
              </a:r>
            </a:p>
          </p:txBody>
        </p:sp>
        <p:sp>
          <p:nvSpPr>
            <p:cNvPr id="123913" name="Text Box 11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2000">
                  <a:latin typeface="Arial" charset="0"/>
                </a:rPr>
                <a:t>Выполнение курсовой работы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57200"/>
            <a:ext cx="8229600" cy="523875"/>
          </a:xfrm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3200" b="1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Пример построения модели </a:t>
            </a:r>
            <a:r>
              <a:rPr lang="en-US" altLang="ru-RU" sz="3200" b="1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IDEF3</a:t>
            </a:r>
            <a:endParaRPr lang="ru-RU" altLang="ru-RU" sz="3200" b="1" smtClean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36875" name="Group 11"/>
          <p:cNvGrpSpPr>
            <a:grpSpLocks/>
          </p:cNvGrpSpPr>
          <p:nvPr/>
        </p:nvGrpSpPr>
        <p:grpSpPr bwMode="auto">
          <a:xfrm>
            <a:off x="322263" y="2349500"/>
            <a:ext cx="1368425" cy="1008063"/>
            <a:chOff x="431" y="1570"/>
            <a:chExt cx="1088" cy="681"/>
          </a:xfrm>
        </p:grpSpPr>
        <p:sp>
          <p:nvSpPr>
            <p:cNvPr id="124998" name="Rectangle 5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4999" name="Line 6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5000" name="Line 7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5001" name="Line 8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5002" name="Text Box 9"/>
            <p:cNvSpPr txBox="1">
              <a:spLocks noChangeArrowheads="1"/>
            </p:cNvSpPr>
            <p:nvPr/>
          </p:nvSpPr>
          <p:spPr bwMode="auto">
            <a:xfrm>
              <a:off x="431" y="2024"/>
              <a:ext cx="545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 b="1">
                  <a:latin typeface="Arial" charset="0"/>
                </a:rPr>
                <a:t>1.1.2</a:t>
              </a:r>
            </a:p>
          </p:txBody>
        </p:sp>
        <p:sp>
          <p:nvSpPr>
            <p:cNvPr id="125003" name="Text Box 10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>
                  <a:latin typeface="Arial" charset="0"/>
                </a:rPr>
                <a:t>Получение задания</a:t>
              </a:r>
            </a:p>
          </p:txBody>
        </p:sp>
      </p:grpSp>
      <p:grpSp>
        <p:nvGrpSpPr>
          <p:cNvPr id="36876" name="Group 12"/>
          <p:cNvGrpSpPr>
            <a:grpSpLocks/>
          </p:cNvGrpSpPr>
          <p:nvPr/>
        </p:nvGrpSpPr>
        <p:grpSpPr bwMode="auto">
          <a:xfrm>
            <a:off x="1979613" y="2349500"/>
            <a:ext cx="1439862" cy="1008063"/>
            <a:chOff x="431" y="1570"/>
            <a:chExt cx="1088" cy="682"/>
          </a:xfrm>
        </p:grpSpPr>
        <p:sp>
          <p:nvSpPr>
            <p:cNvPr id="124992" name="Rectangle 13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4993" name="Line 14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4994" name="Line 15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4995" name="Line 16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4996" name="Text Box 17"/>
            <p:cNvSpPr txBox="1">
              <a:spLocks noChangeArrowheads="1"/>
            </p:cNvSpPr>
            <p:nvPr/>
          </p:nvSpPr>
          <p:spPr bwMode="auto">
            <a:xfrm>
              <a:off x="431" y="2024"/>
              <a:ext cx="544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 b="1">
                  <a:latin typeface="Arial" charset="0"/>
                </a:rPr>
                <a:t>1.1.3</a:t>
              </a:r>
            </a:p>
          </p:txBody>
        </p:sp>
        <p:sp>
          <p:nvSpPr>
            <p:cNvPr id="124997" name="Text Box 18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>
                  <a:latin typeface="Arial" charset="0"/>
                </a:rPr>
                <a:t>Подбор литературы</a:t>
              </a:r>
            </a:p>
          </p:txBody>
        </p:sp>
      </p:grpSp>
      <p:grpSp>
        <p:nvGrpSpPr>
          <p:cNvPr id="36883" name="Group 19"/>
          <p:cNvGrpSpPr>
            <a:grpSpLocks/>
          </p:cNvGrpSpPr>
          <p:nvPr/>
        </p:nvGrpSpPr>
        <p:grpSpPr bwMode="auto">
          <a:xfrm>
            <a:off x="4498975" y="1557338"/>
            <a:ext cx="1512888" cy="1057275"/>
            <a:chOff x="431" y="1570"/>
            <a:chExt cx="1088" cy="666"/>
          </a:xfrm>
        </p:grpSpPr>
        <p:sp>
          <p:nvSpPr>
            <p:cNvPr id="124986" name="Rectangle 20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4987" name="Line 21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4988" name="Line 22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4989" name="Line 23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4990" name="Text Box 24"/>
            <p:cNvSpPr txBox="1">
              <a:spLocks noChangeArrowheads="1"/>
            </p:cNvSpPr>
            <p:nvPr/>
          </p:nvSpPr>
          <p:spPr bwMode="auto">
            <a:xfrm>
              <a:off x="431" y="2024"/>
              <a:ext cx="54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 b="1">
                  <a:latin typeface="Arial" charset="0"/>
                </a:rPr>
                <a:t>1.1.4</a:t>
              </a:r>
            </a:p>
          </p:txBody>
        </p:sp>
        <p:sp>
          <p:nvSpPr>
            <p:cNvPr id="124991" name="Text Box 25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>
                  <a:latin typeface="Arial" charset="0"/>
                </a:rPr>
                <a:t>Выполнение разделов к/р</a:t>
              </a:r>
            </a:p>
          </p:txBody>
        </p:sp>
      </p:grpSp>
      <p:grpSp>
        <p:nvGrpSpPr>
          <p:cNvPr id="36890" name="Group 26"/>
          <p:cNvGrpSpPr>
            <a:grpSpLocks/>
          </p:cNvGrpSpPr>
          <p:nvPr/>
        </p:nvGrpSpPr>
        <p:grpSpPr bwMode="auto">
          <a:xfrm>
            <a:off x="4427538" y="3286125"/>
            <a:ext cx="1655762" cy="1008063"/>
            <a:chOff x="431" y="1570"/>
            <a:chExt cx="1088" cy="682"/>
          </a:xfrm>
        </p:grpSpPr>
        <p:sp>
          <p:nvSpPr>
            <p:cNvPr id="124980" name="Rectangle 27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4981" name="Line 28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4982" name="Line 29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4983" name="Line 30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4984" name="Text Box 31"/>
            <p:cNvSpPr txBox="1">
              <a:spLocks noChangeArrowheads="1"/>
            </p:cNvSpPr>
            <p:nvPr/>
          </p:nvSpPr>
          <p:spPr bwMode="auto">
            <a:xfrm>
              <a:off x="431" y="2024"/>
              <a:ext cx="545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 b="1">
                  <a:latin typeface="Arial" charset="0"/>
                </a:rPr>
                <a:t>1.1.5</a:t>
              </a:r>
            </a:p>
          </p:txBody>
        </p:sp>
        <p:sp>
          <p:nvSpPr>
            <p:cNvPr id="124985" name="Text Box 32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>
                  <a:latin typeface="Arial" charset="0"/>
                </a:rPr>
                <a:t>Посещение консультаций</a:t>
              </a:r>
            </a:p>
          </p:txBody>
        </p:sp>
      </p:grpSp>
      <p:grpSp>
        <p:nvGrpSpPr>
          <p:cNvPr id="36897" name="Group 33"/>
          <p:cNvGrpSpPr>
            <a:grpSpLocks/>
          </p:cNvGrpSpPr>
          <p:nvPr/>
        </p:nvGrpSpPr>
        <p:grpSpPr bwMode="auto">
          <a:xfrm>
            <a:off x="7162800" y="2205038"/>
            <a:ext cx="1512888" cy="1212850"/>
            <a:chOff x="431" y="1570"/>
            <a:chExt cx="1088" cy="635"/>
          </a:xfrm>
        </p:grpSpPr>
        <p:sp>
          <p:nvSpPr>
            <p:cNvPr id="124974" name="Rectangle 34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4975" name="Line 35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4976" name="Line 36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4977" name="Line 37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4978" name="Text Box 38"/>
            <p:cNvSpPr txBox="1">
              <a:spLocks noChangeArrowheads="1"/>
            </p:cNvSpPr>
            <p:nvPr/>
          </p:nvSpPr>
          <p:spPr bwMode="auto">
            <a:xfrm>
              <a:off x="431" y="2024"/>
              <a:ext cx="545" cy="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 b="1">
                  <a:latin typeface="Arial" charset="0"/>
                </a:rPr>
                <a:t>1.1.6</a:t>
              </a:r>
            </a:p>
          </p:txBody>
        </p:sp>
        <p:sp>
          <p:nvSpPr>
            <p:cNvPr id="124979" name="Text Box 39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>
                  <a:latin typeface="Arial" charset="0"/>
                </a:rPr>
                <a:t>Оформление пояснит. записки</a:t>
              </a:r>
            </a:p>
          </p:txBody>
        </p:sp>
      </p:grpSp>
      <p:grpSp>
        <p:nvGrpSpPr>
          <p:cNvPr id="36904" name="Group 40"/>
          <p:cNvGrpSpPr>
            <a:grpSpLocks/>
          </p:cNvGrpSpPr>
          <p:nvPr/>
        </p:nvGrpSpPr>
        <p:grpSpPr bwMode="auto">
          <a:xfrm>
            <a:off x="7019925" y="4149725"/>
            <a:ext cx="1368425" cy="1008063"/>
            <a:chOff x="431" y="1570"/>
            <a:chExt cx="1088" cy="682"/>
          </a:xfrm>
        </p:grpSpPr>
        <p:sp>
          <p:nvSpPr>
            <p:cNvPr id="124968" name="Rectangle 41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4969" name="Line 42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4970" name="Line 43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4971" name="Line 44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4972" name="Text Box 45"/>
            <p:cNvSpPr txBox="1">
              <a:spLocks noChangeArrowheads="1"/>
            </p:cNvSpPr>
            <p:nvPr/>
          </p:nvSpPr>
          <p:spPr bwMode="auto">
            <a:xfrm>
              <a:off x="431" y="2024"/>
              <a:ext cx="545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 b="1">
                  <a:latin typeface="Arial" charset="0"/>
                </a:rPr>
                <a:t>1.1.7</a:t>
              </a:r>
            </a:p>
          </p:txBody>
        </p:sp>
        <p:sp>
          <p:nvSpPr>
            <p:cNvPr id="124973" name="Text Box 46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>
                  <a:latin typeface="Arial" charset="0"/>
                </a:rPr>
                <a:t>Защита</a:t>
              </a:r>
            </a:p>
          </p:txBody>
        </p:sp>
      </p:grpSp>
      <p:sp>
        <p:nvSpPr>
          <p:cNvPr id="36911" name="Line 47"/>
          <p:cNvSpPr>
            <a:spLocks noChangeShapeType="1"/>
          </p:cNvSpPr>
          <p:nvPr/>
        </p:nvSpPr>
        <p:spPr bwMode="auto">
          <a:xfrm>
            <a:off x="71438" y="2781300"/>
            <a:ext cx="250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6912" name="Line 48"/>
          <p:cNvSpPr>
            <a:spLocks noChangeShapeType="1"/>
          </p:cNvSpPr>
          <p:nvPr/>
        </p:nvSpPr>
        <p:spPr bwMode="auto">
          <a:xfrm>
            <a:off x="1690688" y="2781300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cxnSp>
        <p:nvCxnSpPr>
          <p:cNvPr id="36925" name="AutoShape 61"/>
          <p:cNvCxnSpPr>
            <a:cxnSpLocks noChangeShapeType="1"/>
          </p:cNvCxnSpPr>
          <p:nvPr/>
        </p:nvCxnSpPr>
        <p:spPr bwMode="auto">
          <a:xfrm flipV="1">
            <a:off x="4138613" y="1989138"/>
            <a:ext cx="360362" cy="755650"/>
          </a:xfrm>
          <a:prstGeom prst="bentConnector3">
            <a:avLst>
              <a:gd name="adj1" fmla="val 49778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6926" name="AutoShape 62"/>
          <p:cNvCxnSpPr>
            <a:cxnSpLocks noChangeShapeType="1"/>
          </p:cNvCxnSpPr>
          <p:nvPr/>
        </p:nvCxnSpPr>
        <p:spPr bwMode="auto">
          <a:xfrm>
            <a:off x="4138613" y="2925763"/>
            <a:ext cx="288925" cy="938212"/>
          </a:xfrm>
          <a:prstGeom prst="bentConnector3">
            <a:avLst>
              <a:gd name="adj1" fmla="val 4944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6927" name="AutoShape 63"/>
          <p:cNvCxnSpPr>
            <a:cxnSpLocks noChangeShapeType="1"/>
          </p:cNvCxnSpPr>
          <p:nvPr/>
        </p:nvCxnSpPr>
        <p:spPr bwMode="auto">
          <a:xfrm>
            <a:off x="6011863" y="1846263"/>
            <a:ext cx="360362" cy="969962"/>
          </a:xfrm>
          <a:prstGeom prst="bentConnector3">
            <a:avLst>
              <a:gd name="adj1" fmla="val 49778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6928" name="AutoShape 64"/>
          <p:cNvCxnSpPr>
            <a:cxnSpLocks noChangeShapeType="1"/>
          </p:cNvCxnSpPr>
          <p:nvPr/>
        </p:nvCxnSpPr>
        <p:spPr bwMode="auto">
          <a:xfrm flipV="1">
            <a:off x="6083300" y="2997200"/>
            <a:ext cx="288925" cy="7540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36930" name="Line 66"/>
          <p:cNvSpPr>
            <a:spLocks noChangeShapeType="1"/>
          </p:cNvSpPr>
          <p:nvPr/>
        </p:nvSpPr>
        <p:spPr bwMode="auto">
          <a:xfrm>
            <a:off x="3419475" y="2781300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6931" name="Line 67"/>
          <p:cNvSpPr>
            <a:spLocks noChangeShapeType="1"/>
          </p:cNvSpPr>
          <p:nvPr/>
        </p:nvSpPr>
        <p:spPr bwMode="auto">
          <a:xfrm>
            <a:off x="6875463" y="2854325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cxnSp>
        <p:nvCxnSpPr>
          <p:cNvPr id="36932" name="AutoShape 68"/>
          <p:cNvCxnSpPr>
            <a:cxnSpLocks noChangeShapeType="1"/>
            <a:stCxn id="124979" idx="3"/>
            <a:endCxn id="124968" idx="1"/>
          </p:cNvCxnSpPr>
          <p:nvPr/>
        </p:nvCxnSpPr>
        <p:spPr bwMode="auto">
          <a:xfrm flipH="1">
            <a:off x="7019925" y="2705100"/>
            <a:ext cx="1655763" cy="1914525"/>
          </a:xfrm>
          <a:prstGeom prst="bentConnector5">
            <a:avLst>
              <a:gd name="adj1" fmla="val -13806"/>
              <a:gd name="adj2" fmla="val 48509"/>
              <a:gd name="adj3" fmla="val 113806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36933" name="Line 69"/>
          <p:cNvSpPr>
            <a:spLocks noChangeShapeType="1"/>
          </p:cNvSpPr>
          <p:nvPr/>
        </p:nvSpPr>
        <p:spPr bwMode="auto">
          <a:xfrm>
            <a:off x="8388350" y="4654550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grpSp>
        <p:nvGrpSpPr>
          <p:cNvPr id="36937" name="Group 73"/>
          <p:cNvGrpSpPr>
            <a:grpSpLocks/>
          </p:cNvGrpSpPr>
          <p:nvPr/>
        </p:nvGrpSpPr>
        <p:grpSpPr bwMode="auto">
          <a:xfrm>
            <a:off x="322263" y="4294188"/>
            <a:ext cx="1871662" cy="935037"/>
            <a:chOff x="204" y="3113"/>
            <a:chExt cx="1179" cy="589"/>
          </a:xfrm>
        </p:grpSpPr>
        <p:sp>
          <p:nvSpPr>
            <p:cNvPr id="124965" name="Rectangle 70"/>
            <p:cNvSpPr>
              <a:spLocks noChangeArrowheads="1"/>
            </p:cNvSpPr>
            <p:nvPr/>
          </p:nvSpPr>
          <p:spPr bwMode="auto">
            <a:xfrm>
              <a:off x="204" y="3113"/>
              <a:ext cx="1179" cy="58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4966" name="Line 71"/>
            <p:cNvSpPr>
              <a:spLocks noChangeShapeType="1"/>
            </p:cNvSpPr>
            <p:nvPr/>
          </p:nvSpPr>
          <p:spPr bwMode="auto">
            <a:xfrm>
              <a:off x="204" y="3521"/>
              <a:ext cx="11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4967" name="Text Box 72"/>
            <p:cNvSpPr txBox="1">
              <a:spLocks noChangeArrowheads="1"/>
            </p:cNvSpPr>
            <p:nvPr/>
          </p:nvSpPr>
          <p:spPr bwMode="auto">
            <a:xfrm>
              <a:off x="249" y="3113"/>
              <a:ext cx="1134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 sz="1600">
                  <a:latin typeface="Arial" charset="0"/>
                </a:rPr>
                <a:t>OBJECT/</a:t>
              </a:r>
              <a:r>
                <a:rPr lang="ru-RU" altLang="ru-RU" sz="1600">
                  <a:latin typeface="Arial" charset="0"/>
                </a:rPr>
                <a:t> Преподаватель</a:t>
              </a:r>
            </a:p>
          </p:txBody>
        </p:sp>
      </p:grpSp>
      <p:sp>
        <p:nvSpPr>
          <p:cNvPr id="36938" name="Line 74"/>
          <p:cNvSpPr>
            <a:spLocks noChangeShapeType="1"/>
          </p:cNvSpPr>
          <p:nvPr/>
        </p:nvSpPr>
        <p:spPr bwMode="auto">
          <a:xfrm>
            <a:off x="971550" y="3286125"/>
            <a:ext cx="0" cy="100806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pSp>
        <p:nvGrpSpPr>
          <p:cNvPr id="36941" name="Group 77"/>
          <p:cNvGrpSpPr>
            <a:grpSpLocks/>
          </p:cNvGrpSpPr>
          <p:nvPr/>
        </p:nvGrpSpPr>
        <p:grpSpPr bwMode="auto">
          <a:xfrm>
            <a:off x="2195513" y="4221163"/>
            <a:ext cx="3095625" cy="576262"/>
            <a:chOff x="1338" y="2976"/>
            <a:chExt cx="1950" cy="363"/>
          </a:xfrm>
        </p:grpSpPr>
        <p:sp>
          <p:nvSpPr>
            <p:cNvPr id="124963" name="Line 75"/>
            <p:cNvSpPr>
              <a:spLocks noChangeShapeType="1"/>
            </p:cNvSpPr>
            <p:nvPr/>
          </p:nvSpPr>
          <p:spPr bwMode="auto">
            <a:xfrm>
              <a:off x="1338" y="3339"/>
              <a:ext cx="1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4964" name="Line 76"/>
            <p:cNvSpPr>
              <a:spLocks noChangeShapeType="1"/>
            </p:cNvSpPr>
            <p:nvPr/>
          </p:nvSpPr>
          <p:spPr bwMode="auto">
            <a:xfrm flipV="1">
              <a:off x="3288" y="2976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6942" name="Text Box 78"/>
          <p:cNvSpPr txBox="1">
            <a:spLocks noChangeArrowheads="1"/>
          </p:cNvSpPr>
          <p:nvPr/>
        </p:nvSpPr>
        <p:spPr bwMode="auto">
          <a:xfrm>
            <a:off x="179388" y="5516563"/>
            <a:ext cx="8856662" cy="120015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altLang="ru-RU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Примечание</a:t>
            </a:r>
            <a:r>
              <a:rPr lang="ru-RU" altLang="ru-RU"/>
              <a:t>: Обратите внимание на нумерацию единиц работ. Родительской является работа с собственным номером </a:t>
            </a:r>
            <a:r>
              <a:rPr lang="ru-RU" altLang="ru-RU" b="1">
                <a:solidFill>
                  <a:schemeClr val="hlink"/>
                </a:solidFill>
              </a:rPr>
              <a:t>1</a:t>
            </a:r>
            <a:r>
              <a:rPr lang="ru-RU" altLang="ru-RU"/>
              <a:t>. Она декомпозируется первый раз, следовательно, версия декомпозиции = </a:t>
            </a:r>
            <a:r>
              <a:rPr lang="ru-RU" altLang="ru-RU" b="1">
                <a:solidFill>
                  <a:schemeClr val="hlink"/>
                </a:solidFill>
              </a:rPr>
              <a:t>1</a:t>
            </a:r>
            <a:r>
              <a:rPr lang="ru-RU" altLang="ru-RU"/>
              <a:t>, далее следует собственный номер единицы работ в рамках модели (</a:t>
            </a:r>
            <a:r>
              <a:rPr lang="ru-RU" altLang="ru-RU" b="1">
                <a:solidFill>
                  <a:schemeClr val="hlink"/>
                </a:solidFill>
              </a:rPr>
              <a:t>2</a:t>
            </a:r>
            <a:r>
              <a:rPr lang="ru-RU" altLang="ru-RU"/>
              <a:t>-</a:t>
            </a:r>
            <a:r>
              <a:rPr lang="ru-RU" altLang="ru-RU" b="1">
                <a:solidFill>
                  <a:schemeClr val="hlink"/>
                </a:solidFill>
              </a:rPr>
              <a:t>7</a:t>
            </a:r>
            <a:r>
              <a:rPr lang="ru-RU" altLang="ru-RU"/>
              <a:t>).</a:t>
            </a:r>
          </a:p>
        </p:txBody>
      </p:sp>
      <p:sp>
        <p:nvSpPr>
          <p:cNvPr id="124950" name="Text Box 79"/>
          <p:cNvSpPr txBox="1">
            <a:spLocks noChangeArrowheads="1"/>
          </p:cNvSpPr>
          <p:nvPr/>
        </p:nvSpPr>
        <p:spPr bwMode="auto">
          <a:xfrm>
            <a:off x="250825" y="1052513"/>
            <a:ext cx="86058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altLang="ru-RU">
                <a:latin typeface="Arial" charset="0"/>
              </a:rPr>
              <a:t>Выполним декомпозицию контекстной диаграммы:</a:t>
            </a:r>
          </a:p>
        </p:txBody>
      </p:sp>
      <p:grpSp>
        <p:nvGrpSpPr>
          <p:cNvPr id="36946" name="Group 82"/>
          <p:cNvGrpSpPr>
            <a:grpSpLocks/>
          </p:cNvGrpSpPr>
          <p:nvPr/>
        </p:nvGrpSpPr>
        <p:grpSpPr bwMode="auto">
          <a:xfrm>
            <a:off x="3635375" y="2565400"/>
            <a:ext cx="504825" cy="869950"/>
            <a:chOff x="2290" y="1616"/>
            <a:chExt cx="318" cy="548"/>
          </a:xfrm>
        </p:grpSpPr>
        <p:grpSp>
          <p:nvGrpSpPr>
            <p:cNvPr id="124958" name="Group 52"/>
            <p:cNvGrpSpPr>
              <a:grpSpLocks/>
            </p:cNvGrpSpPr>
            <p:nvPr/>
          </p:nvGrpSpPr>
          <p:grpSpPr bwMode="auto">
            <a:xfrm>
              <a:off x="2290" y="1616"/>
              <a:ext cx="317" cy="317"/>
              <a:chOff x="930" y="3249"/>
              <a:chExt cx="317" cy="317"/>
            </a:xfrm>
          </p:grpSpPr>
          <p:sp>
            <p:nvSpPr>
              <p:cNvPr id="124960" name="Rectangle 49"/>
              <p:cNvSpPr>
                <a:spLocks noChangeArrowheads="1"/>
              </p:cNvSpPr>
              <p:nvPr/>
            </p:nvSpPr>
            <p:spPr bwMode="auto">
              <a:xfrm>
                <a:off x="930" y="3249"/>
                <a:ext cx="317" cy="3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altLang="ru-RU">
                  <a:latin typeface="Arial" charset="0"/>
                </a:endParaRPr>
              </a:p>
            </p:txBody>
          </p:sp>
          <p:sp>
            <p:nvSpPr>
              <p:cNvPr id="124961" name="Line 50"/>
              <p:cNvSpPr>
                <a:spLocks noChangeShapeType="1"/>
              </p:cNvSpPr>
              <p:nvPr/>
            </p:nvSpPr>
            <p:spPr bwMode="auto">
              <a:xfrm>
                <a:off x="975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24962" name="Text Box 51"/>
              <p:cNvSpPr txBox="1">
                <a:spLocks noChangeArrowheads="1"/>
              </p:cNvSpPr>
              <p:nvPr/>
            </p:nvSpPr>
            <p:spPr bwMode="auto">
              <a:xfrm>
                <a:off x="975" y="3294"/>
                <a:ext cx="18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ru-RU" b="1">
                    <a:latin typeface="Arial" charset="0"/>
                  </a:rPr>
                  <a:t>&amp;</a:t>
                </a:r>
                <a:endParaRPr lang="ru-RU" altLang="ru-RU" b="1">
                  <a:latin typeface="Arial" charset="0"/>
                </a:endParaRPr>
              </a:p>
            </p:txBody>
          </p:sp>
        </p:grpSp>
        <p:sp>
          <p:nvSpPr>
            <p:cNvPr id="124959" name="Text Box 80"/>
            <p:cNvSpPr txBox="1">
              <a:spLocks noChangeArrowheads="1"/>
            </p:cNvSpPr>
            <p:nvPr/>
          </p:nvSpPr>
          <p:spPr bwMode="auto">
            <a:xfrm>
              <a:off x="2290" y="1933"/>
              <a:ext cx="31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 b="1">
                  <a:latin typeface="Arial" charset="0"/>
                </a:rPr>
                <a:t>J1</a:t>
              </a:r>
              <a:endParaRPr lang="ru-RU" altLang="ru-RU" b="1">
                <a:latin typeface="Arial" charset="0"/>
              </a:endParaRPr>
            </a:p>
          </p:txBody>
        </p:sp>
      </p:grpSp>
      <p:grpSp>
        <p:nvGrpSpPr>
          <p:cNvPr id="36947" name="Group 83"/>
          <p:cNvGrpSpPr>
            <a:grpSpLocks/>
          </p:cNvGrpSpPr>
          <p:nvPr/>
        </p:nvGrpSpPr>
        <p:grpSpPr bwMode="auto">
          <a:xfrm>
            <a:off x="6372225" y="2638425"/>
            <a:ext cx="504825" cy="869950"/>
            <a:chOff x="4014" y="1662"/>
            <a:chExt cx="318" cy="548"/>
          </a:xfrm>
        </p:grpSpPr>
        <p:grpSp>
          <p:nvGrpSpPr>
            <p:cNvPr id="124953" name="Group 53"/>
            <p:cNvGrpSpPr>
              <a:grpSpLocks/>
            </p:cNvGrpSpPr>
            <p:nvPr/>
          </p:nvGrpSpPr>
          <p:grpSpPr bwMode="auto">
            <a:xfrm>
              <a:off x="4014" y="1662"/>
              <a:ext cx="317" cy="317"/>
              <a:chOff x="930" y="3249"/>
              <a:chExt cx="317" cy="317"/>
            </a:xfrm>
          </p:grpSpPr>
          <p:sp>
            <p:nvSpPr>
              <p:cNvPr id="124955" name="Rectangle 54"/>
              <p:cNvSpPr>
                <a:spLocks noChangeArrowheads="1"/>
              </p:cNvSpPr>
              <p:nvPr/>
            </p:nvSpPr>
            <p:spPr bwMode="auto">
              <a:xfrm>
                <a:off x="930" y="3249"/>
                <a:ext cx="317" cy="3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altLang="ru-RU">
                  <a:latin typeface="Arial" charset="0"/>
                </a:endParaRPr>
              </a:p>
            </p:txBody>
          </p:sp>
          <p:sp>
            <p:nvSpPr>
              <p:cNvPr id="124956" name="Line 55"/>
              <p:cNvSpPr>
                <a:spLocks noChangeShapeType="1"/>
              </p:cNvSpPr>
              <p:nvPr/>
            </p:nvSpPr>
            <p:spPr bwMode="auto">
              <a:xfrm>
                <a:off x="975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24957" name="Text Box 56"/>
              <p:cNvSpPr txBox="1">
                <a:spLocks noChangeArrowheads="1"/>
              </p:cNvSpPr>
              <p:nvPr/>
            </p:nvSpPr>
            <p:spPr bwMode="auto">
              <a:xfrm>
                <a:off x="975" y="3294"/>
                <a:ext cx="18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ru-RU" b="1">
                    <a:latin typeface="Arial" charset="0"/>
                  </a:rPr>
                  <a:t>&amp;</a:t>
                </a:r>
                <a:endParaRPr lang="ru-RU" altLang="ru-RU" b="1">
                  <a:latin typeface="Arial" charset="0"/>
                </a:endParaRPr>
              </a:p>
            </p:txBody>
          </p:sp>
        </p:grpSp>
        <p:sp>
          <p:nvSpPr>
            <p:cNvPr id="124954" name="Text Box 81"/>
            <p:cNvSpPr txBox="1">
              <a:spLocks noChangeArrowheads="1"/>
            </p:cNvSpPr>
            <p:nvPr/>
          </p:nvSpPr>
          <p:spPr bwMode="auto">
            <a:xfrm>
              <a:off x="4014" y="1979"/>
              <a:ext cx="31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 b="1">
                  <a:latin typeface="Arial" charset="0"/>
                </a:rPr>
                <a:t>J2</a:t>
              </a:r>
              <a:endParaRPr lang="ru-RU" altLang="ru-RU" b="1"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6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6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6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6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6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6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6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6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6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6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6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6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6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6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6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6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11" grpId="0" animBg="1"/>
      <p:bldP spid="36912" grpId="0" animBg="1"/>
      <p:bldP spid="36930" grpId="0" animBg="1"/>
      <p:bldP spid="36931" grpId="0" animBg="1"/>
      <p:bldP spid="36933" grpId="0" animBg="1"/>
      <p:bldP spid="36938" grpId="0" animBg="1"/>
      <p:bldP spid="3694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8229600" cy="595313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3200" b="1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Пример построения модели </a:t>
            </a:r>
            <a:r>
              <a:rPr lang="en-US" altLang="ru-RU" sz="3200" b="1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IDEF3</a:t>
            </a:r>
            <a:endParaRPr lang="ru-RU" altLang="ru-RU" sz="3200" b="1" smtClean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37892" name="Group 4"/>
          <p:cNvGrpSpPr>
            <a:grpSpLocks/>
          </p:cNvGrpSpPr>
          <p:nvPr/>
        </p:nvGrpSpPr>
        <p:grpSpPr bwMode="auto">
          <a:xfrm>
            <a:off x="539750" y="3716338"/>
            <a:ext cx="1368425" cy="1008062"/>
            <a:chOff x="431" y="1570"/>
            <a:chExt cx="1088" cy="681"/>
          </a:xfrm>
        </p:grpSpPr>
        <p:sp>
          <p:nvSpPr>
            <p:cNvPr id="126017" name="Rectangle 5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6018" name="Line 6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6019" name="Line 7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6020" name="Line 8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6021" name="Text Box 9"/>
            <p:cNvSpPr txBox="1">
              <a:spLocks noChangeArrowheads="1"/>
            </p:cNvSpPr>
            <p:nvPr/>
          </p:nvSpPr>
          <p:spPr bwMode="auto">
            <a:xfrm>
              <a:off x="431" y="2024"/>
              <a:ext cx="545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 sz="1600" b="1">
                  <a:latin typeface="Arial" charset="0"/>
                </a:rPr>
                <a:t>4</a:t>
              </a:r>
              <a:r>
                <a:rPr lang="ru-RU" altLang="ru-RU" sz="1600" b="1">
                  <a:latin typeface="Arial" charset="0"/>
                </a:rPr>
                <a:t>.1.8</a:t>
              </a:r>
            </a:p>
          </p:txBody>
        </p:sp>
        <p:sp>
          <p:nvSpPr>
            <p:cNvPr id="126022" name="Text Box 10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>
                  <a:latin typeface="Arial" charset="0"/>
                </a:rPr>
                <a:t>Написание теор.части</a:t>
              </a:r>
            </a:p>
          </p:txBody>
        </p:sp>
      </p:grpSp>
      <p:grpSp>
        <p:nvGrpSpPr>
          <p:cNvPr id="37899" name="Group 11"/>
          <p:cNvGrpSpPr>
            <a:grpSpLocks/>
          </p:cNvGrpSpPr>
          <p:nvPr/>
        </p:nvGrpSpPr>
        <p:grpSpPr bwMode="auto">
          <a:xfrm>
            <a:off x="3708400" y="2781300"/>
            <a:ext cx="1584325" cy="1008063"/>
            <a:chOff x="431" y="1570"/>
            <a:chExt cx="1088" cy="681"/>
          </a:xfrm>
        </p:grpSpPr>
        <p:sp>
          <p:nvSpPr>
            <p:cNvPr id="126011" name="Rectangle 12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6012" name="Line 13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6013" name="Line 14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6014" name="Line 15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6015" name="Text Box 16"/>
            <p:cNvSpPr txBox="1">
              <a:spLocks noChangeArrowheads="1"/>
            </p:cNvSpPr>
            <p:nvPr/>
          </p:nvSpPr>
          <p:spPr bwMode="auto">
            <a:xfrm>
              <a:off x="431" y="2024"/>
              <a:ext cx="545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 sz="1600" b="1">
                  <a:latin typeface="Arial" charset="0"/>
                </a:rPr>
                <a:t>4</a:t>
              </a:r>
              <a:r>
                <a:rPr lang="ru-RU" altLang="ru-RU" sz="1600" b="1">
                  <a:latin typeface="Arial" charset="0"/>
                </a:rPr>
                <a:t>.1.9</a:t>
              </a:r>
            </a:p>
          </p:txBody>
        </p:sp>
        <p:sp>
          <p:nvSpPr>
            <p:cNvPr id="126016" name="Text Box 17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>
                  <a:latin typeface="Arial" charset="0"/>
                </a:rPr>
                <a:t>Выполнение расчетов</a:t>
              </a:r>
            </a:p>
          </p:txBody>
        </p:sp>
      </p:grpSp>
      <p:grpSp>
        <p:nvGrpSpPr>
          <p:cNvPr id="37906" name="Group 18"/>
          <p:cNvGrpSpPr>
            <a:grpSpLocks/>
          </p:cNvGrpSpPr>
          <p:nvPr/>
        </p:nvGrpSpPr>
        <p:grpSpPr bwMode="auto">
          <a:xfrm>
            <a:off x="3708400" y="4725988"/>
            <a:ext cx="1584325" cy="1008062"/>
            <a:chOff x="431" y="1570"/>
            <a:chExt cx="1088" cy="681"/>
          </a:xfrm>
        </p:grpSpPr>
        <p:sp>
          <p:nvSpPr>
            <p:cNvPr id="126005" name="Rectangle 19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6006" name="Line 20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6007" name="Line 21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6008" name="Line 22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6009" name="Text Box 23"/>
            <p:cNvSpPr txBox="1">
              <a:spLocks noChangeArrowheads="1"/>
            </p:cNvSpPr>
            <p:nvPr/>
          </p:nvSpPr>
          <p:spPr bwMode="auto">
            <a:xfrm>
              <a:off x="431" y="2024"/>
              <a:ext cx="545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 sz="1600" b="1">
                  <a:latin typeface="Arial" charset="0"/>
                </a:rPr>
                <a:t>4</a:t>
              </a:r>
              <a:r>
                <a:rPr lang="ru-RU" altLang="ru-RU" sz="1600" b="1">
                  <a:latin typeface="Arial" charset="0"/>
                </a:rPr>
                <a:t>.1.10</a:t>
              </a:r>
            </a:p>
          </p:txBody>
        </p:sp>
        <p:sp>
          <p:nvSpPr>
            <p:cNvPr id="126010" name="Text Box 24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>
                  <a:latin typeface="Arial" charset="0"/>
                </a:rPr>
                <a:t>Построение графиков</a:t>
              </a:r>
            </a:p>
          </p:txBody>
        </p:sp>
      </p:grpSp>
      <p:grpSp>
        <p:nvGrpSpPr>
          <p:cNvPr id="37920" name="Group 32"/>
          <p:cNvGrpSpPr>
            <a:grpSpLocks/>
          </p:cNvGrpSpPr>
          <p:nvPr/>
        </p:nvGrpSpPr>
        <p:grpSpPr bwMode="auto">
          <a:xfrm>
            <a:off x="7092950" y="3644900"/>
            <a:ext cx="1655763" cy="1008063"/>
            <a:chOff x="431" y="1570"/>
            <a:chExt cx="1088" cy="681"/>
          </a:xfrm>
        </p:grpSpPr>
        <p:sp>
          <p:nvSpPr>
            <p:cNvPr id="125999" name="Rectangle 33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6000" name="Line 34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6001" name="Line 35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6002" name="Line 36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6003" name="Text Box 37"/>
            <p:cNvSpPr txBox="1">
              <a:spLocks noChangeArrowheads="1"/>
            </p:cNvSpPr>
            <p:nvPr/>
          </p:nvSpPr>
          <p:spPr bwMode="auto">
            <a:xfrm>
              <a:off x="431" y="2024"/>
              <a:ext cx="545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 sz="1600" b="1">
                  <a:latin typeface="Arial" charset="0"/>
                </a:rPr>
                <a:t>4</a:t>
              </a:r>
              <a:r>
                <a:rPr lang="ru-RU" altLang="ru-RU" sz="1600" b="1">
                  <a:latin typeface="Arial" charset="0"/>
                </a:rPr>
                <a:t>.1.11</a:t>
              </a:r>
            </a:p>
          </p:txBody>
        </p:sp>
        <p:sp>
          <p:nvSpPr>
            <p:cNvPr id="126004" name="Text Box 38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>
                  <a:latin typeface="Arial" charset="0"/>
                </a:rPr>
                <a:t>Оформление</a:t>
              </a:r>
            </a:p>
          </p:txBody>
        </p:sp>
      </p:grpSp>
      <p:sp>
        <p:nvSpPr>
          <p:cNvPr id="37935" name="Line 47"/>
          <p:cNvSpPr>
            <a:spLocks noChangeShapeType="1"/>
          </p:cNvSpPr>
          <p:nvPr/>
        </p:nvSpPr>
        <p:spPr bwMode="auto">
          <a:xfrm>
            <a:off x="107950" y="4221163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7937" name="Line 49"/>
          <p:cNvSpPr>
            <a:spLocks noChangeShapeType="1"/>
          </p:cNvSpPr>
          <p:nvPr/>
        </p:nvSpPr>
        <p:spPr bwMode="auto">
          <a:xfrm>
            <a:off x="8748713" y="4076700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7946" name="Line 58"/>
          <p:cNvSpPr>
            <a:spLocks noChangeShapeType="1"/>
          </p:cNvSpPr>
          <p:nvPr/>
        </p:nvSpPr>
        <p:spPr bwMode="auto">
          <a:xfrm>
            <a:off x="1908175" y="4076700"/>
            <a:ext cx="287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7947" name="Line 59"/>
          <p:cNvSpPr>
            <a:spLocks noChangeShapeType="1"/>
          </p:cNvSpPr>
          <p:nvPr/>
        </p:nvSpPr>
        <p:spPr bwMode="auto">
          <a:xfrm>
            <a:off x="2700338" y="4221163"/>
            <a:ext cx="142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7948" name="Line 60"/>
          <p:cNvSpPr>
            <a:spLocks noChangeShapeType="1"/>
          </p:cNvSpPr>
          <p:nvPr/>
        </p:nvSpPr>
        <p:spPr bwMode="auto">
          <a:xfrm>
            <a:off x="6084888" y="4149725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7949" name="Line 61"/>
          <p:cNvSpPr>
            <a:spLocks noChangeShapeType="1"/>
          </p:cNvSpPr>
          <p:nvPr/>
        </p:nvSpPr>
        <p:spPr bwMode="auto">
          <a:xfrm>
            <a:off x="6804025" y="4076700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cxnSp>
        <p:nvCxnSpPr>
          <p:cNvPr id="37950" name="AutoShape 62"/>
          <p:cNvCxnSpPr>
            <a:cxnSpLocks noChangeShapeType="1"/>
          </p:cNvCxnSpPr>
          <p:nvPr/>
        </p:nvCxnSpPr>
        <p:spPr bwMode="auto">
          <a:xfrm flipV="1">
            <a:off x="3348038" y="3141663"/>
            <a:ext cx="360362" cy="935037"/>
          </a:xfrm>
          <a:prstGeom prst="bentConnector3">
            <a:avLst>
              <a:gd name="adj1" fmla="val 49778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7951" name="AutoShape 63"/>
          <p:cNvCxnSpPr>
            <a:cxnSpLocks noChangeShapeType="1"/>
          </p:cNvCxnSpPr>
          <p:nvPr/>
        </p:nvCxnSpPr>
        <p:spPr bwMode="auto">
          <a:xfrm>
            <a:off x="3348038" y="4292600"/>
            <a:ext cx="360362" cy="1009650"/>
          </a:xfrm>
          <a:prstGeom prst="bentConnector3">
            <a:avLst>
              <a:gd name="adj1" fmla="val 49778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7952" name="AutoShape 64"/>
          <p:cNvCxnSpPr>
            <a:cxnSpLocks noChangeShapeType="1"/>
          </p:cNvCxnSpPr>
          <p:nvPr/>
        </p:nvCxnSpPr>
        <p:spPr bwMode="auto">
          <a:xfrm>
            <a:off x="5292725" y="3068638"/>
            <a:ext cx="287338" cy="1046162"/>
          </a:xfrm>
          <a:prstGeom prst="bentConnector3">
            <a:avLst>
              <a:gd name="adj1" fmla="val 49722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7953" name="AutoShape 65"/>
          <p:cNvCxnSpPr>
            <a:cxnSpLocks noChangeShapeType="1"/>
          </p:cNvCxnSpPr>
          <p:nvPr/>
        </p:nvCxnSpPr>
        <p:spPr bwMode="auto">
          <a:xfrm flipV="1">
            <a:off x="5292725" y="4292600"/>
            <a:ext cx="287338" cy="898525"/>
          </a:xfrm>
          <a:prstGeom prst="bentConnector3">
            <a:avLst>
              <a:gd name="adj1" fmla="val 49722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7954" name="AutoShape 66"/>
          <p:cNvCxnSpPr>
            <a:cxnSpLocks noChangeShapeType="1"/>
            <a:stCxn id="125983" idx="3"/>
            <a:endCxn id="125978" idx="1"/>
          </p:cNvCxnSpPr>
          <p:nvPr/>
        </p:nvCxnSpPr>
        <p:spPr bwMode="auto">
          <a:xfrm flipH="1">
            <a:off x="2195513" y="4186238"/>
            <a:ext cx="4608512" cy="1587"/>
          </a:xfrm>
          <a:prstGeom prst="bentConnector5">
            <a:avLst>
              <a:gd name="adj1" fmla="val -4926"/>
              <a:gd name="adj2" fmla="val 127600032"/>
              <a:gd name="adj3" fmla="val 104958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grpSp>
        <p:nvGrpSpPr>
          <p:cNvPr id="37955" name="Group 67"/>
          <p:cNvGrpSpPr>
            <a:grpSpLocks/>
          </p:cNvGrpSpPr>
          <p:nvPr/>
        </p:nvGrpSpPr>
        <p:grpSpPr bwMode="auto">
          <a:xfrm>
            <a:off x="5867400" y="2060575"/>
            <a:ext cx="2665413" cy="1152525"/>
            <a:chOff x="204" y="3113"/>
            <a:chExt cx="1179" cy="589"/>
          </a:xfrm>
        </p:grpSpPr>
        <p:sp>
          <p:nvSpPr>
            <p:cNvPr id="125996" name="Rectangle 68"/>
            <p:cNvSpPr>
              <a:spLocks noChangeArrowheads="1"/>
            </p:cNvSpPr>
            <p:nvPr/>
          </p:nvSpPr>
          <p:spPr bwMode="auto">
            <a:xfrm>
              <a:off x="204" y="3113"/>
              <a:ext cx="1179" cy="58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5997" name="Line 69"/>
            <p:cNvSpPr>
              <a:spLocks noChangeShapeType="1"/>
            </p:cNvSpPr>
            <p:nvPr/>
          </p:nvSpPr>
          <p:spPr bwMode="auto">
            <a:xfrm>
              <a:off x="204" y="3521"/>
              <a:ext cx="11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5998" name="Text Box 70"/>
            <p:cNvSpPr txBox="1">
              <a:spLocks noChangeArrowheads="1"/>
            </p:cNvSpPr>
            <p:nvPr/>
          </p:nvSpPr>
          <p:spPr bwMode="auto">
            <a:xfrm>
              <a:off x="249" y="3113"/>
              <a:ext cx="1134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 sz="1600">
                  <a:latin typeface="Arial" charset="0"/>
                </a:rPr>
                <a:t>ELAB/</a:t>
              </a:r>
              <a:r>
                <a:rPr lang="ru-RU" altLang="ru-RU" sz="1600">
                  <a:latin typeface="Arial" charset="0"/>
                </a:rPr>
                <a:t> Если есть ошибки в расчетах – внесение исправлений</a:t>
              </a:r>
            </a:p>
          </p:txBody>
        </p:sp>
      </p:grpSp>
      <p:sp>
        <p:nvSpPr>
          <p:cNvPr id="37959" name="Line 71"/>
          <p:cNvSpPr>
            <a:spLocks noChangeShapeType="1"/>
          </p:cNvSpPr>
          <p:nvPr/>
        </p:nvSpPr>
        <p:spPr bwMode="auto">
          <a:xfrm>
            <a:off x="6588125" y="3213100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5971" name="Text Box 72"/>
          <p:cNvSpPr txBox="1">
            <a:spLocks noChangeArrowheads="1"/>
          </p:cNvSpPr>
          <p:nvPr/>
        </p:nvSpPr>
        <p:spPr bwMode="auto">
          <a:xfrm>
            <a:off x="539750" y="1268413"/>
            <a:ext cx="82089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altLang="ru-RU">
                <a:latin typeface="Arial" charset="0"/>
              </a:rPr>
              <a:t>Выполним декомпозицию </a:t>
            </a:r>
            <a:r>
              <a:rPr lang="en-US" altLang="ru-RU">
                <a:latin typeface="Arial" charset="0"/>
              </a:rPr>
              <a:t>UOW</a:t>
            </a:r>
            <a:r>
              <a:rPr lang="ru-RU" altLang="ru-RU">
                <a:latin typeface="Arial" charset="0"/>
              </a:rPr>
              <a:t> №4 – «Выполнение разделов к/р» </a:t>
            </a:r>
          </a:p>
        </p:txBody>
      </p:sp>
      <p:grpSp>
        <p:nvGrpSpPr>
          <p:cNvPr id="37965" name="Group 77"/>
          <p:cNvGrpSpPr>
            <a:grpSpLocks/>
          </p:cNvGrpSpPr>
          <p:nvPr/>
        </p:nvGrpSpPr>
        <p:grpSpPr bwMode="auto">
          <a:xfrm>
            <a:off x="2843213" y="3933825"/>
            <a:ext cx="504825" cy="941388"/>
            <a:chOff x="1791" y="2478"/>
            <a:chExt cx="318" cy="593"/>
          </a:xfrm>
        </p:grpSpPr>
        <p:grpSp>
          <p:nvGrpSpPr>
            <p:cNvPr id="125991" name="Group 39"/>
            <p:cNvGrpSpPr>
              <a:grpSpLocks/>
            </p:cNvGrpSpPr>
            <p:nvPr/>
          </p:nvGrpSpPr>
          <p:grpSpPr bwMode="auto">
            <a:xfrm>
              <a:off x="1792" y="2478"/>
              <a:ext cx="317" cy="317"/>
              <a:chOff x="930" y="3249"/>
              <a:chExt cx="317" cy="317"/>
            </a:xfrm>
          </p:grpSpPr>
          <p:sp>
            <p:nvSpPr>
              <p:cNvPr id="125993" name="Rectangle 40"/>
              <p:cNvSpPr>
                <a:spLocks noChangeArrowheads="1"/>
              </p:cNvSpPr>
              <p:nvPr/>
            </p:nvSpPr>
            <p:spPr bwMode="auto">
              <a:xfrm>
                <a:off x="930" y="3249"/>
                <a:ext cx="317" cy="3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altLang="ru-RU">
                  <a:latin typeface="Arial" charset="0"/>
                </a:endParaRPr>
              </a:p>
            </p:txBody>
          </p:sp>
          <p:sp>
            <p:nvSpPr>
              <p:cNvPr id="125994" name="Line 41"/>
              <p:cNvSpPr>
                <a:spLocks noChangeShapeType="1"/>
              </p:cNvSpPr>
              <p:nvPr/>
            </p:nvSpPr>
            <p:spPr bwMode="auto">
              <a:xfrm>
                <a:off x="975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25995" name="Text Box 42"/>
              <p:cNvSpPr txBox="1">
                <a:spLocks noChangeArrowheads="1"/>
              </p:cNvSpPr>
              <p:nvPr/>
            </p:nvSpPr>
            <p:spPr bwMode="auto">
              <a:xfrm>
                <a:off x="975" y="3294"/>
                <a:ext cx="18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ru-RU" b="1">
                    <a:latin typeface="Arial" charset="0"/>
                  </a:rPr>
                  <a:t>&amp;</a:t>
                </a:r>
                <a:endParaRPr lang="ru-RU" altLang="ru-RU" b="1">
                  <a:latin typeface="Arial" charset="0"/>
                </a:endParaRPr>
              </a:p>
            </p:txBody>
          </p:sp>
        </p:grpSp>
        <p:sp>
          <p:nvSpPr>
            <p:cNvPr id="125992" name="Text Box 73"/>
            <p:cNvSpPr txBox="1">
              <a:spLocks noChangeArrowheads="1"/>
            </p:cNvSpPr>
            <p:nvPr/>
          </p:nvSpPr>
          <p:spPr bwMode="auto">
            <a:xfrm>
              <a:off x="1791" y="2840"/>
              <a:ext cx="31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 b="1">
                  <a:latin typeface="Arial" charset="0"/>
                </a:rPr>
                <a:t>J3</a:t>
              </a:r>
              <a:endParaRPr lang="ru-RU" altLang="ru-RU" b="1">
                <a:latin typeface="Arial" charset="0"/>
              </a:endParaRPr>
            </a:p>
          </p:txBody>
        </p:sp>
      </p:grpSp>
      <p:grpSp>
        <p:nvGrpSpPr>
          <p:cNvPr id="37966" name="Group 78"/>
          <p:cNvGrpSpPr>
            <a:grpSpLocks/>
          </p:cNvGrpSpPr>
          <p:nvPr/>
        </p:nvGrpSpPr>
        <p:grpSpPr bwMode="auto">
          <a:xfrm>
            <a:off x="5580063" y="3933825"/>
            <a:ext cx="504825" cy="941388"/>
            <a:chOff x="3515" y="2478"/>
            <a:chExt cx="318" cy="593"/>
          </a:xfrm>
        </p:grpSpPr>
        <p:grpSp>
          <p:nvGrpSpPr>
            <p:cNvPr id="125986" name="Group 43"/>
            <p:cNvGrpSpPr>
              <a:grpSpLocks/>
            </p:cNvGrpSpPr>
            <p:nvPr/>
          </p:nvGrpSpPr>
          <p:grpSpPr bwMode="auto">
            <a:xfrm>
              <a:off x="3515" y="2478"/>
              <a:ext cx="317" cy="317"/>
              <a:chOff x="930" y="3249"/>
              <a:chExt cx="317" cy="317"/>
            </a:xfrm>
          </p:grpSpPr>
          <p:sp>
            <p:nvSpPr>
              <p:cNvPr id="125988" name="Rectangle 44"/>
              <p:cNvSpPr>
                <a:spLocks noChangeArrowheads="1"/>
              </p:cNvSpPr>
              <p:nvPr/>
            </p:nvSpPr>
            <p:spPr bwMode="auto">
              <a:xfrm>
                <a:off x="930" y="3249"/>
                <a:ext cx="317" cy="3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altLang="ru-RU">
                  <a:latin typeface="Arial" charset="0"/>
                </a:endParaRPr>
              </a:p>
            </p:txBody>
          </p:sp>
          <p:sp>
            <p:nvSpPr>
              <p:cNvPr id="125989" name="Line 45"/>
              <p:cNvSpPr>
                <a:spLocks noChangeShapeType="1"/>
              </p:cNvSpPr>
              <p:nvPr/>
            </p:nvSpPr>
            <p:spPr bwMode="auto">
              <a:xfrm>
                <a:off x="975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25990" name="Text Box 46"/>
              <p:cNvSpPr txBox="1">
                <a:spLocks noChangeArrowheads="1"/>
              </p:cNvSpPr>
              <p:nvPr/>
            </p:nvSpPr>
            <p:spPr bwMode="auto">
              <a:xfrm>
                <a:off x="975" y="3294"/>
                <a:ext cx="18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ru-RU" b="1">
                    <a:latin typeface="Arial" charset="0"/>
                  </a:rPr>
                  <a:t>&amp;</a:t>
                </a:r>
                <a:endParaRPr lang="ru-RU" altLang="ru-RU" b="1">
                  <a:latin typeface="Arial" charset="0"/>
                </a:endParaRPr>
              </a:p>
            </p:txBody>
          </p:sp>
        </p:grpSp>
        <p:sp>
          <p:nvSpPr>
            <p:cNvPr id="125987" name="Text Box 74"/>
            <p:cNvSpPr txBox="1">
              <a:spLocks noChangeArrowheads="1"/>
            </p:cNvSpPr>
            <p:nvPr/>
          </p:nvSpPr>
          <p:spPr bwMode="auto">
            <a:xfrm>
              <a:off x="3515" y="2840"/>
              <a:ext cx="31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 b="1">
                  <a:latin typeface="Arial" charset="0"/>
                </a:rPr>
                <a:t>J4</a:t>
              </a:r>
              <a:endParaRPr lang="ru-RU" altLang="ru-RU" b="1">
                <a:latin typeface="Arial" charset="0"/>
              </a:endParaRPr>
            </a:p>
          </p:txBody>
        </p:sp>
      </p:grpSp>
      <p:grpSp>
        <p:nvGrpSpPr>
          <p:cNvPr id="37967" name="Group 79"/>
          <p:cNvGrpSpPr>
            <a:grpSpLocks/>
          </p:cNvGrpSpPr>
          <p:nvPr/>
        </p:nvGrpSpPr>
        <p:grpSpPr bwMode="auto">
          <a:xfrm>
            <a:off x="6300788" y="3933825"/>
            <a:ext cx="504825" cy="941388"/>
            <a:chOff x="3969" y="2478"/>
            <a:chExt cx="318" cy="593"/>
          </a:xfrm>
        </p:grpSpPr>
        <p:grpSp>
          <p:nvGrpSpPr>
            <p:cNvPr id="125981" name="Group 50"/>
            <p:cNvGrpSpPr>
              <a:grpSpLocks/>
            </p:cNvGrpSpPr>
            <p:nvPr/>
          </p:nvGrpSpPr>
          <p:grpSpPr bwMode="auto">
            <a:xfrm>
              <a:off x="3969" y="2478"/>
              <a:ext cx="317" cy="317"/>
              <a:chOff x="930" y="3249"/>
              <a:chExt cx="317" cy="317"/>
            </a:xfrm>
          </p:grpSpPr>
          <p:sp>
            <p:nvSpPr>
              <p:cNvPr id="125983" name="Rectangle 51"/>
              <p:cNvSpPr>
                <a:spLocks noChangeArrowheads="1"/>
              </p:cNvSpPr>
              <p:nvPr/>
            </p:nvSpPr>
            <p:spPr bwMode="auto">
              <a:xfrm>
                <a:off x="930" y="3249"/>
                <a:ext cx="317" cy="3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altLang="ru-RU">
                  <a:latin typeface="Arial" charset="0"/>
                </a:endParaRPr>
              </a:p>
            </p:txBody>
          </p:sp>
          <p:sp>
            <p:nvSpPr>
              <p:cNvPr id="125984" name="Line 52"/>
              <p:cNvSpPr>
                <a:spLocks noChangeShapeType="1"/>
              </p:cNvSpPr>
              <p:nvPr/>
            </p:nvSpPr>
            <p:spPr bwMode="auto">
              <a:xfrm>
                <a:off x="975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25985" name="Text Box 53"/>
              <p:cNvSpPr txBox="1">
                <a:spLocks noChangeArrowheads="1"/>
              </p:cNvSpPr>
              <p:nvPr/>
            </p:nvSpPr>
            <p:spPr bwMode="auto">
              <a:xfrm>
                <a:off x="975" y="3294"/>
                <a:ext cx="18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ru-RU" altLang="ru-RU" b="1">
                    <a:latin typeface="Arial" charset="0"/>
                  </a:rPr>
                  <a:t>Х</a:t>
                </a:r>
              </a:p>
            </p:txBody>
          </p:sp>
        </p:grpSp>
        <p:sp>
          <p:nvSpPr>
            <p:cNvPr id="125982" name="Text Box 75"/>
            <p:cNvSpPr txBox="1">
              <a:spLocks noChangeArrowheads="1"/>
            </p:cNvSpPr>
            <p:nvPr/>
          </p:nvSpPr>
          <p:spPr bwMode="auto">
            <a:xfrm>
              <a:off x="3969" y="2840"/>
              <a:ext cx="31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 b="1">
                  <a:latin typeface="Arial" charset="0"/>
                </a:rPr>
                <a:t>J5</a:t>
              </a:r>
              <a:endParaRPr lang="ru-RU" altLang="ru-RU" b="1">
                <a:latin typeface="Arial" charset="0"/>
              </a:endParaRPr>
            </a:p>
          </p:txBody>
        </p:sp>
      </p:grpSp>
      <p:grpSp>
        <p:nvGrpSpPr>
          <p:cNvPr id="37968" name="Group 80"/>
          <p:cNvGrpSpPr>
            <a:grpSpLocks/>
          </p:cNvGrpSpPr>
          <p:nvPr/>
        </p:nvGrpSpPr>
        <p:grpSpPr bwMode="auto">
          <a:xfrm>
            <a:off x="2195513" y="3933825"/>
            <a:ext cx="504825" cy="941388"/>
            <a:chOff x="1383" y="2478"/>
            <a:chExt cx="318" cy="593"/>
          </a:xfrm>
        </p:grpSpPr>
        <p:grpSp>
          <p:nvGrpSpPr>
            <p:cNvPr id="125976" name="Group 54"/>
            <p:cNvGrpSpPr>
              <a:grpSpLocks/>
            </p:cNvGrpSpPr>
            <p:nvPr/>
          </p:nvGrpSpPr>
          <p:grpSpPr bwMode="auto">
            <a:xfrm>
              <a:off x="1383" y="2478"/>
              <a:ext cx="317" cy="317"/>
              <a:chOff x="930" y="3249"/>
              <a:chExt cx="317" cy="317"/>
            </a:xfrm>
          </p:grpSpPr>
          <p:sp>
            <p:nvSpPr>
              <p:cNvPr id="125978" name="Rectangle 55"/>
              <p:cNvSpPr>
                <a:spLocks noChangeArrowheads="1"/>
              </p:cNvSpPr>
              <p:nvPr/>
            </p:nvSpPr>
            <p:spPr bwMode="auto">
              <a:xfrm>
                <a:off x="930" y="3249"/>
                <a:ext cx="317" cy="3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altLang="ru-RU">
                  <a:latin typeface="Arial" charset="0"/>
                </a:endParaRPr>
              </a:p>
            </p:txBody>
          </p:sp>
          <p:sp>
            <p:nvSpPr>
              <p:cNvPr id="125979" name="Line 56"/>
              <p:cNvSpPr>
                <a:spLocks noChangeShapeType="1"/>
              </p:cNvSpPr>
              <p:nvPr/>
            </p:nvSpPr>
            <p:spPr bwMode="auto">
              <a:xfrm>
                <a:off x="975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25980" name="Text Box 57"/>
              <p:cNvSpPr txBox="1">
                <a:spLocks noChangeArrowheads="1"/>
              </p:cNvSpPr>
              <p:nvPr/>
            </p:nvSpPr>
            <p:spPr bwMode="auto">
              <a:xfrm>
                <a:off x="975" y="3294"/>
                <a:ext cx="18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ru-RU" altLang="ru-RU" b="1">
                    <a:latin typeface="Arial" charset="0"/>
                  </a:rPr>
                  <a:t>Х</a:t>
                </a:r>
              </a:p>
            </p:txBody>
          </p:sp>
        </p:grpSp>
        <p:sp>
          <p:nvSpPr>
            <p:cNvPr id="125977" name="Text Box 76"/>
            <p:cNvSpPr txBox="1">
              <a:spLocks noChangeArrowheads="1"/>
            </p:cNvSpPr>
            <p:nvPr/>
          </p:nvSpPr>
          <p:spPr bwMode="auto">
            <a:xfrm>
              <a:off x="1383" y="2840"/>
              <a:ext cx="31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 b="1">
                  <a:latin typeface="Arial" charset="0"/>
                </a:rPr>
                <a:t>J6</a:t>
              </a:r>
              <a:endParaRPr lang="ru-RU" altLang="ru-RU" b="1"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7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7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7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7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7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7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7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7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7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7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7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7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35" grpId="0" animBg="1"/>
      <p:bldP spid="37937" grpId="0" animBg="1"/>
      <p:bldP spid="37946" grpId="0" animBg="1"/>
      <p:bldP spid="37947" grpId="0" animBg="1"/>
      <p:bldP spid="37948" grpId="0" animBg="1"/>
      <p:bldP spid="37949" grpId="0" animBg="1"/>
      <p:bldP spid="3795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595313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z="3200" b="1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Пример построения модели </a:t>
            </a:r>
            <a:r>
              <a:rPr lang="en-US" altLang="ru-RU" sz="3200" b="1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IDEF3</a:t>
            </a:r>
            <a:endParaRPr lang="ru-RU" altLang="ru-RU" sz="3200" b="1" smtClean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719138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altLang="ru-RU" sz="1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Продекомпозируем повторно контекстную диаграмму (в виде </a:t>
            </a:r>
            <a:r>
              <a:rPr lang="ru-RU" altLang="ru-RU" sz="1800" b="1" u="sng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сценария </a:t>
            </a:r>
            <a:r>
              <a:rPr lang="en-US" altLang="ru-RU" sz="1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IDEF3</a:t>
            </a:r>
            <a:r>
              <a:rPr lang="ru-RU" altLang="ru-RU" sz="1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для выполнения курсовой работы по «Информатике и программированию»)</a:t>
            </a:r>
          </a:p>
        </p:txBody>
      </p:sp>
      <p:grpSp>
        <p:nvGrpSpPr>
          <p:cNvPr id="39940" name="Group 4"/>
          <p:cNvGrpSpPr>
            <a:grpSpLocks/>
          </p:cNvGrpSpPr>
          <p:nvPr/>
        </p:nvGrpSpPr>
        <p:grpSpPr bwMode="auto">
          <a:xfrm>
            <a:off x="179388" y="2997200"/>
            <a:ext cx="1512887" cy="1008063"/>
            <a:chOff x="431" y="1570"/>
            <a:chExt cx="1088" cy="681"/>
          </a:xfrm>
        </p:grpSpPr>
        <p:sp>
          <p:nvSpPr>
            <p:cNvPr id="127043" name="Rectangle 5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7044" name="Line 6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45" name="Line 7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46" name="Line 8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47" name="Text Box 9"/>
            <p:cNvSpPr txBox="1">
              <a:spLocks noChangeArrowheads="1"/>
            </p:cNvSpPr>
            <p:nvPr/>
          </p:nvSpPr>
          <p:spPr bwMode="auto">
            <a:xfrm>
              <a:off x="431" y="2024"/>
              <a:ext cx="545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 b="1">
                  <a:latin typeface="Arial" charset="0"/>
                </a:rPr>
                <a:t>1.2.12</a:t>
              </a:r>
            </a:p>
          </p:txBody>
        </p:sp>
        <p:sp>
          <p:nvSpPr>
            <p:cNvPr id="127048" name="Text Box 10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>
                  <a:latin typeface="Arial" charset="0"/>
                </a:rPr>
                <a:t>Получение задания</a:t>
              </a:r>
            </a:p>
          </p:txBody>
        </p:sp>
      </p:grpSp>
      <p:grpSp>
        <p:nvGrpSpPr>
          <p:cNvPr id="39954" name="Group 18"/>
          <p:cNvGrpSpPr>
            <a:grpSpLocks/>
          </p:cNvGrpSpPr>
          <p:nvPr/>
        </p:nvGrpSpPr>
        <p:grpSpPr bwMode="auto">
          <a:xfrm>
            <a:off x="2700338" y="2133600"/>
            <a:ext cx="1800225" cy="1008063"/>
            <a:chOff x="431" y="1570"/>
            <a:chExt cx="1088" cy="681"/>
          </a:xfrm>
        </p:grpSpPr>
        <p:sp>
          <p:nvSpPr>
            <p:cNvPr id="127037" name="Rectangle 19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7038" name="Line 20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39" name="Line 21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40" name="Line 22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41" name="Text Box 23"/>
            <p:cNvSpPr txBox="1">
              <a:spLocks noChangeArrowheads="1"/>
            </p:cNvSpPr>
            <p:nvPr/>
          </p:nvSpPr>
          <p:spPr bwMode="auto">
            <a:xfrm>
              <a:off x="431" y="2024"/>
              <a:ext cx="545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 b="1">
                  <a:latin typeface="Arial" charset="0"/>
                </a:rPr>
                <a:t>1.2.13</a:t>
              </a:r>
            </a:p>
          </p:txBody>
        </p:sp>
        <p:sp>
          <p:nvSpPr>
            <p:cNvPr id="127042" name="Text Box 24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>
                  <a:latin typeface="Arial" charset="0"/>
                </a:rPr>
                <a:t>Построение блок-схемы</a:t>
              </a:r>
            </a:p>
          </p:txBody>
        </p:sp>
      </p:grpSp>
      <p:grpSp>
        <p:nvGrpSpPr>
          <p:cNvPr id="39961" name="Group 25"/>
          <p:cNvGrpSpPr>
            <a:grpSpLocks/>
          </p:cNvGrpSpPr>
          <p:nvPr/>
        </p:nvGrpSpPr>
        <p:grpSpPr bwMode="auto">
          <a:xfrm>
            <a:off x="2627313" y="3573463"/>
            <a:ext cx="1944687" cy="1008062"/>
            <a:chOff x="431" y="1570"/>
            <a:chExt cx="1088" cy="681"/>
          </a:xfrm>
        </p:grpSpPr>
        <p:sp>
          <p:nvSpPr>
            <p:cNvPr id="127031" name="Rectangle 26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7032" name="Line 27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33" name="Line 28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34" name="Line 29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35" name="Text Box 30"/>
            <p:cNvSpPr txBox="1">
              <a:spLocks noChangeArrowheads="1"/>
            </p:cNvSpPr>
            <p:nvPr/>
          </p:nvSpPr>
          <p:spPr bwMode="auto">
            <a:xfrm>
              <a:off x="431" y="2024"/>
              <a:ext cx="545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 b="1">
                  <a:latin typeface="Arial" charset="0"/>
                </a:rPr>
                <a:t>1.2.14</a:t>
              </a:r>
            </a:p>
          </p:txBody>
        </p:sp>
        <p:sp>
          <p:nvSpPr>
            <p:cNvPr id="127036" name="Text Box 31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>
                  <a:latin typeface="Arial" charset="0"/>
                </a:rPr>
                <a:t>Математическое моделирование</a:t>
              </a:r>
            </a:p>
          </p:txBody>
        </p:sp>
      </p:grpSp>
      <p:grpSp>
        <p:nvGrpSpPr>
          <p:cNvPr id="39968" name="Group 32"/>
          <p:cNvGrpSpPr>
            <a:grpSpLocks/>
          </p:cNvGrpSpPr>
          <p:nvPr/>
        </p:nvGrpSpPr>
        <p:grpSpPr bwMode="auto">
          <a:xfrm>
            <a:off x="5580063" y="2852738"/>
            <a:ext cx="1873250" cy="1008062"/>
            <a:chOff x="431" y="1570"/>
            <a:chExt cx="1088" cy="681"/>
          </a:xfrm>
        </p:grpSpPr>
        <p:sp>
          <p:nvSpPr>
            <p:cNvPr id="127025" name="Rectangle 33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7026" name="Line 34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27" name="Line 35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28" name="Line 36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29" name="Text Box 37"/>
            <p:cNvSpPr txBox="1">
              <a:spLocks noChangeArrowheads="1"/>
            </p:cNvSpPr>
            <p:nvPr/>
          </p:nvSpPr>
          <p:spPr bwMode="auto">
            <a:xfrm>
              <a:off x="431" y="2024"/>
              <a:ext cx="545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 b="1">
                  <a:latin typeface="Arial" charset="0"/>
                </a:rPr>
                <a:t>1.2.15</a:t>
              </a:r>
            </a:p>
          </p:txBody>
        </p:sp>
        <p:sp>
          <p:nvSpPr>
            <p:cNvPr id="127030" name="Text Box 38"/>
            <p:cNvSpPr txBox="1">
              <a:spLocks noChangeArrowheads="1"/>
            </p:cNvSpPr>
            <p:nvPr/>
          </p:nvSpPr>
          <p:spPr bwMode="auto">
            <a:xfrm>
              <a:off x="477" y="1616"/>
              <a:ext cx="1042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>
                  <a:latin typeface="Arial" charset="0"/>
                </a:rPr>
                <a:t>Написание программы</a:t>
              </a:r>
            </a:p>
          </p:txBody>
        </p:sp>
      </p:grpSp>
      <p:grpSp>
        <p:nvGrpSpPr>
          <p:cNvPr id="39975" name="Group 39"/>
          <p:cNvGrpSpPr>
            <a:grpSpLocks/>
          </p:cNvGrpSpPr>
          <p:nvPr/>
        </p:nvGrpSpPr>
        <p:grpSpPr bwMode="auto">
          <a:xfrm>
            <a:off x="4284663" y="5157788"/>
            <a:ext cx="1728787" cy="1008062"/>
            <a:chOff x="431" y="1570"/>
            <a:chExt cx="1088" cy="681"/>
          </a:xfrm>
        </p:grpSpPr>
        <p:sp>
          <p:nvSpPr>
            <p:cNvPr id="127019" name="Rectangle 40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7020" name="Line 41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21" name="Line 42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22" name="Line 43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23" name="Text Box 44"/>
            <p:cNvSpPr txBox="1">
              <a:spLocks noChangeArrowheads="1"/>
            </p:cNvSpPr>
            <p:nvPr/>
          </p:nvSpPr>
          <p:spPr bwMode="auto">
            <a:xfrm>
              <a:off x="431" y="2024"/>
              <a:ext cx="545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 b="1">
                  <a:latin typeface="Arial" charset="0"/>
                </a:rPr>
                <a:t>1.2.16</a:t>
              </a:r>
            </a:p>
          </p:txBody>
        </p:sp>
        <p:sp>
          <p:nvSpPr>
            <p:cNvPr id="127024" name="Text Box 45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>
                  <a:latin typeface="Arial" charset="0"/>
                </a:rPr>
                <a:t>Тестирование и отладка</a:t>
              </a:r>
            </a:p>
          </p:txBody>
        </p:sp>
      </p:grpSp>
      <p:grpSp>
        <p:nvGrpSpPr>
          <p:cNvPr id="39982" name="Group 46"/>
          <p:cNvGrpSpPr>
            <a:grpSpLocks/>
          </p:cNvGrpSpPr>
          <p:nvPr/>
        </p:nvGrpSpPr>
        <p:grpSpPr bwMode="auto">
          <a:xfrm>
            <a:off x="6877050" y="5157788"/>
            <a:ext cx="1944688" cy="1008062"/>
            <a:chOff x="431" y="1570"/>
            <a:chExt cx="1088" cy="681"/>
          </a:xfrm>
        </p:grpSpPr>
        <p:sp>
          <p:nvSpPr>
            <p:cNvPr id="127013" name="Rectangle 47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7014" name="Line 48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15" name="Line 49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16" name="Line 50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17" name="Text Box 51"/>
            <p:cNvSpPr txBox="1">
              <a:spLocks noChangeArrowheads="1"/>
            </p:cNvSpPr>
            <p:nvPr/>
          </p:nvSpPr>
          <p:spPr bwMode="auto">
            <a:xfrm>
              <a:off x="431" y="2024"/>
              <a:ext cx="545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 b="1">
                  <a:latin typeface="Arial" charset="0"/>
                </a:rPr>
                <a:t>1.2.17</a:t>
              </a:r>
            </a:p>
          </p:txBody>
        </p:sp>
        <p:sp>
          <p:nvSpPr>
            <p:cNvPr id="127018" name="Text Box 52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altLang="ru-RU" sz="1600">
                  <a:latin typeface="Arial" charset="0"/>
                </a:rPr>
                <a:t>Оформление поясн. записки</a:t>
              </a:r>
            </a:p>
          </p:txBody>
        </p:sp>
      </p:grpSp>
      <p:sp>
        <p:nvSpPr>
          <p:cNvPr id="40005" name="Line 69"/>
          <p:cNvSpPr>
            <a:spLocks noChangeShapeType="1"/>
          </p:cNvSpPr>
          <p:nvPr/>
        </p:nvSpPr>
        <p:spPr bwMode="auto">
          <a:xfrm>
            <a:off x="0" y="3429000"/>
            <a:ext cx="179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0006" name="Line 70"/>
          <p:cNvSpPr>
            <a:spLocks noChangeShapeType="1"/>
          </p:cNvSpPr>
          <p:nvPr/>
        </p:nvSpPr>
        <p:spPr bwMode="auto">
          <a:xfrm>
            <a:off x="1692275" y="3429000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cxnSp>
        <p:nvCxnSpPr>
          <p:cNvPr id="40007" name="AutoShape 71"/>
          <p:cNvCxnSpPr>
            <a:cxnSpLocks noChangeShapeType="1"/>
          </p:cNvCxnSpPr>
          <p:nvPr/>
        </p:nvCxnSpPr>
        <p:spPr bwMode="auto">
          <a:xfrm flipV="1">
            <a:off x="2411413" y="2565400"/>
            <a:ext cx="288925" cy="790575"/>
          </a:xfrm>
          <a:prstGeom prst="bentConnector3">
            <a:avLst>
              <a:gd name="adj1" fmla="val 4944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0008" name="AutoShape 72"/>
          <p:cNvCxnSpPr>
            <a:cxnSpLocks noChangeShapeType="1"/>
          </p:cNvCxnSpPr>
          <p:nvPr/>
        </p:nvCxnSpPr>
        <p:spPr bwMode="auto">
          <a:xfrm>
            <a:off x="2411413" y="3500438"/>
            <a:ext cx="215900" cy="649287"/>
          </a:xfrm>
          <a:prstGeom prst="bentConnector3">
            <a:avLst>
              <a:gd name="adj1" fmla="val 4926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0009" name="AutoShape 73"/>
          <p:cNvCxnSpPr>
            <a:cxnSpLocks noChangeShapeType="1"/>
          </p:cNvCxnSpPr>
          <p:nvPr/>
        </p:nvCxnSpPr>
        <p:spPr bwMode="auto">
          <a:xfrm>
            <a:off x="4500563" y="2420938"/>
            <a:ext cx="287337" cy="828675"/>
          </a:xfrm>
          <a:prstGeom prst="bentConnector3">
            <a:avLst>
              <a:gd name="adj1" fmla="val 49722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0010" name="AutoShape 74"/>
          <p:cNvCxnSpPr>
            <a:cxnSpLocks noChangeShapeType="1"/>
          </p:cNvCxnSpPr>
          <p:nvPr/>
        </p:nvCxnSpPr>
        <p:spPr bwMode="auto">
          <a:xfrm flipV="1">
            <a:off x="4572000" y="3429000"/>
            <a:ext cx="215900" cy="6111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40011" name="Line 75"/>
          <p:cNvSpPr>
            <a:spLocks noChangeShapeType="1"/>
          </p:cNvSpPr>
          <p:nvPr/>
        </p:nvSpPr>
        <p:spPr bwMode="auto">
          <a:xfrm>
            <a:off x="5292725" y="3357563"/>
            <a:ext cx="287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cxnSp>
        <p:nvCxnSpPr>
          <p:cNvPr id="40013" name="AutoShape 77"/>
          <p:cNvCxnSpPr>
            <a:cxnSpLocks noChangeShapeType="1"/>
            <a:stCxn id="127030" idx="3"/>
            <a:endCxn id="127019" idx="1"/>
          </p:cNvCxnSpPr>
          <p:nvPr/>
        </p:nvCxnSpPr>
        <p:spPr bwMode="auto">
          <a:xfrm flipH="1">
            <a:off x="4284663" y="3211513"/>
            <a:ext cx="3168650" cy="2416175"/>
          </a:xfrm>
          <a:prstGeom prst="bentConnector5">
            <a:avLst>
              <a:gd name="adj1" fmla="val -7213"/>
              <a:gd name="adj2" fmla="val 64912"/>
              <a:gd name="adj3" fmla="val 107213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40014" name="Line 78"/>
          <p:cNvSpPr>
            <a:spLocks noChangeShapeType="1"/>
          </p:cNvSpPr>
          <p:nvPr/>
        </p:nvSpPr>
        <p:spPr bwMode="auto">
          <a:xfrm>
            <a:off x="6011863" y="5661025"/>
            <a:ext cx="865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0017" name="Line 81"/>
          <p:cNvSpPr>
            <a:spLocks noChangeShapeType="1"/>
          </p:cNvSpPr>
          <p:nvPr/>
        </p:nvSpPr>
        <p:spPr bwMode="auto">
          <a:xfrm>
            <a:off x="8820150" y="5661025"/>
            <a:ext cx="323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grpSp>
        <p:nvGrpSpPr>
          <p:cNvPr id="40018" name="Group 82"/>
          <p:cNvGrpSpPr>
            <a:grpSpLocks/>
          </p:cNvGrpSpPr>
          <p:nvPr/>
        </p:nvGrpSpPr>
        <p:grpSpPr bwMode="auto">
          <a:xfrm>
            <a:off x="539750" y="5445125"/>
            <a:ext cx="2952750" cy="1152525"/>
            <a:chOff x="204" y="3113"/>
            <a:chExt cx="1179" cy="589"/>
          </a:xfrm>
        </p:grpSpPr>
        <p:sp>
          <p:nvSpPr>
            <p:cNvPr id="127010" name="Rectangle 83"/>
            <p:cNvSpPr>
              <a:spLocks noChangeArrowheads="1"/>
            </p:cNvSpPr>
            <p:nvPr/>
          </p:nvSpPr>
          <p:spPr bwMode="auto">
            <a:xfrm>
              <a:off x="204" y="3113"/>
              <a:ext cx="1179" cy="58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altLang="ru-RU">
                <a:latin typeface="Arial" charset="0"/>
              </a:endParaRPr>
            </a:p>
          </p:txBody>
        </p:sp>
        <p:sp>
          <p:nvSpPr>
            <p:cNvPr id="127011" name="Line 84"/>
            <p:cNvSpPr>
              <a:spLocks noChangeShapeType="1"/>
            </p:cNvSpPr>
            <p:nvPr/>
          </p:nvSpPr>
          <p:spPr bwMode="auto">
            <a:xfrm>
              <a:off x="204" y="3521"/>
              <a:ext cx="11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7012" name="Text Box 85"/>
            <p:cNvSpPr txBox="1">
              <a:spLocks noChangeArrowheads="1"/>
            </p:cNvSpPr>
            <p:nvPr/>
          </p:nvSpPr>
          <p:spPr bwMode="auto">
            <a:xfrm>
              <a:off x="249" y="3113"/>
              <a:ext cx="1134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 sz="1600">
                  <a:latin typeface="Arial" charset="0"/>
                </a:rPr>
                <a:t>GOTO/</a:t>
              </a:r>
              <a:r>
                <a:rPr lang="ru-RU" altLang="ru-RU" sz="1600">
                  <a:latin typeface="Arial" charset="0"/>
                </a:rPr>
                <a:t> При обнаружении ошибок при тестировании возврат к 1.2.15</a:t>
              </a:r>
            </a:p>
          </p:txBody>
        </p:sp>
      </p:grpSp>
      <p:sp>
        <p:nvSpPr>
          <p:cNvPr id="40022" name="Line 86"/>
          <p:cNvSpPr>
            <a:spLocks noChangeShapeType="1"/>
          </p:cNvSpPr>
          <p:nvPr/>
        </p:nvSpPr>
        <p:spPr bwMode="auto">
          <a:xfrm>
            <a:off x="3492500" y="6381750"/>
            <a:ext cx="165576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0023" name="Line 87"/>
          <p:cNvSpPr>
            <a:spLocks noChangeShapeType="1"/>
          </p:cNvSpPr>
          <p:nvPr/>
        </p:nvSpPr>
        <p:spPr bwMode="auto">
          <a:xfrm flipV="1">
            <a:off x="5148263" y="6092825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pSp>
        <p:nvGrpSpPr>
          <p:cNvPr id="40025" name="Group 89"/>
          <p:cNvGrpSpPr>
            <a:grpSpLocks/>
          </p:cNvGrpSpPr>
          <p:nvPr/>
        </p:nvGrpSpPr>
        <p:grpSpPr bwMode="auto">
          <a:xfrm>
            <a:off x="1908175" y="3141663"/>
            <a:ext cx="504825" cy="941387"/>
            <a:chOff x="1202" y="1979"/>
            <a:chExt cx="318" cy="593"/>
          </a:xfrm>
        </p:grpSpPr>
        <p:grpSp>
          <p:nvGrpSpPr>
            <p:cNvPr id="127005" name="Group 57"/>
            <p:cNvGrpSpPr>
              <a:grpSpLocks/>
            </p:cNvGrpSpPr>
            <p:nvPr/>
          </p:nvGrpSpPr>
          <p:grpSpPr bwMode="auto">
            <a:xfrm>
              <a:off x="1202" y="1979"/>
              <a:ext cx="317" cy="317"/>
              <a:chOff x="930" y="3249"/>
              <a:chExt cx="317" cy="317"/>
            </a:xfrm>
          </p:grpSpPr>
          <p:sp>
            <p:nvSpPr>
              <p:cNvPr id="127007" name="Rectangle 58"/>
              <p:cNvSpPr>
                <a:spLocks noChangeArrowheads="1"/>
              </p:cNvSpPr>
              <p:nvPr/>
            </p:nvSpPr>
            <p:spPr bwMode="auto">
              <a:xfrm>
                <a:off x="930" y="3249"/>
                <a:ext cx="317" cy="3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altLang="ru-RU">
                  <a:latin typeface="Arial" charset="0"/>
                </a:endParaRPr>
              </a:p>
            </p:txBody>
          </p:sp>
          <p:sp>
            <p:nvSpPr>
              <p:cNvPr id="127008" name="Line 59"/>
              <p:cNvSpPr>
                <a:spLocks noChangeShapeType="1"/>
              </p:cNvSpPr>
              <p:nvPr/>
            </p:nvSpPr>
            <p:spPr bwMode="auto">
              <a:xfrm>
                <a:off x="975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27009" name="Text Box 60"/>
              <p:cNvSpPr txBox="1">
                <a:spLocks noChangeArrowheads="1"/>
              </p:cNvSpPr>
              <p:nvPr/>
            </p:nvSpPr>
            <p:spPr bwMode="auto">
              <a:xfrm>
                <a:off x="975" y="3294"/>
                <a:ext cx="18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ru-RU" b="1">
                    <a:latin typeface="Arial" charset="0"/>
                  </a:rPr>
                  <a:t>&amp;</a:t>
                </a:r>
                <a:endParaRPr lang="ru-RU" altLang="ru-RU" b="1">
                  <a:latin typeface="Arial" charset="0"/>
                </a:endParaRPr>
              </a:p>
            </p:txBody>
          </p:sp>
        </p:grpSp>
        <p:sp>
          <p:nvSpPr>
            <p:cNvPr id="127006" name="Text Box 88"/>
            <p:cNvSpPr txBox="1">
              <a:spLocks noChangeArrowheads="1"/>
            </p:cNvSpPr>
            <p:nvPr/>
          </p:nvSpPr>
          <p:spPr bwMode="auto">
            <a:xfrm>
              <a:off x="1202" y="2341"/>
              <a:ext cx="31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 b="1">
                  <a:latin typeface="Arial" charset="0"/>
                </a:rPr>
                <a:t>J7</a:t>
              </a:r>
              <a:endParaRPr lang="ru-RU" altLang="ru-RU" b="1">
                <a:latin typeface="Arial" charset="0"/>
              </a:endParaRPr>
            </a:p>
          </p:txBody>
        </p:sp>
      </p:grpSp>
      <p:grpSp>
        <p:nvGrpSpPr>
          <p:cNvPr id="40027" name="Group 91"/>
          <p:cNvGrpSpPr>
            <a:grpSpLocks/>
          </p:cNvGrpSpPr>
          <p:nvPr/>
        </p:nvGrpSpPr>
        <p:grpSpPr bwMode="auto">
          <a:xfrm>
            <a:off x="4787900" y="3068638"/>
            <a:ext cx="504825" cy="871537"/>
            <a:chOff x="3016" y="1933"/>
            <a:chExt cx="318" cy="549"/>
          </a:xfrm>
        </p:grpSpPr>
        <p:grpSp>
          <p:nvGrpSpPr>
            <p:cNvPr id="127000" name="Group 61"/>
            <p:cNvGrpSpPr>
              <a:grpSpLocks/>
            </p:cNvGrpSpPr>
            <p:nvPr/>
          </p:nvGrpSpPr>
          <p:grpSpPr bwMode="auto">
            <a:xfrm>
              <a:off x="3016" y="1933"/>
              <a:ext cx="317" cy="317"/>
              <a:chOff x="930" y="3249"/>
              <a:chExt cx="317" cy="317"/>
            </a:xfrm>
          </p:grpSpPr>
          <p:sp>
            <p:nvSpPr>
              <p:cNvPr id="127002" name="Rectangle 62"/>
              <p:cNvSpPr>
                <a:spLocks noChangeArrowheads="1"/>
              </p:cNvSpPr>
              <p:nvPr/>
            </p:nvSpPr>
            <p:spPr bwMode="auto">
              <a:xfrm>
                <a:off x="930" y="3249"/>
                <a:ext cx="317" cy="3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altLang="ru-RU">
                  <a:latin typeface="Arial" charset="0"/>
                </a:endParaRPr>
              </a:p>
            </p:txBody>
          </p:sp>
          <p:sp>
            <p:nvSpPr>
              <p:cNvPr id="127003" name="Line 63"/>
              <p:cNvSpPr>
                <a:spLocks noChangeShapeType="1"/>
              </p:cNvSpPr>
              <p:nvPr/>
            </p:nvSpPr>
            <p:spPr bwMode="auto">
              <a:xfrm>
                <a:off x="975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27004" name="Text Box 64"/>
              <p:cNvSpPr txBox="1">
                <a:spLocks noChangeArrowheads="1"/>
              </p:cNvSpPr>
              <p:nvPr/>
            </p:nvSpPr>
            <p:spPr bwMode="auto">
              <a:xfrm>
                <a:off x="975" y="3294"/>
                <a:ext cx="18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ru-RU" b="1">
                    <a:latin typeface="Arial" charset="0"/>
                  </a:rPr>
                  <a:t>&amp;</a:t>
                </a:r>
                <a:endParaRPr lang="ru-RU" altLang="ru-RU" b="1">
                  <a:latin typeface="Arial" charset="0"/>
                </a:endParaRPr>
              </a:p>
            </p:txBody>
          </p:sp>
        </p:grpSp>
        <p:sp>
          <p:nvSpPr>
            <p:cNvPr id="127001" name="Text Box 90"/>
            <p:cNvSpPr txBox="1">
              <a:spLocks noChangeArrowheads="1"/>
            </p:cNvSpPr>
            <p:nvPr/>
          </p:nvSpPr>
          <p:spPr bwMode="auto">
            <a:xfrm>
              <a:off x="3016" y="2251"/>
              <a:ext cx="31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ru-RU" b="1">
                  <a:latin typeface="Arial" charset="0"/>
                </a:rPr>
                <a:t>J8</a:t>
              </a:r>
              <a:endParaRPr lang="ru-RU" altLang="ru-RU" b="1"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9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0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0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0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0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4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4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4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05" grpId="0" animBg="1"/>
      <p:bldP spid="40006" grpId="0" animBg="1"/>
      <p:bldP spid="40011" grpId="0" animBg="1"/>
      <p:bldP spid="40014" grpId="0" animBg="1"/>
      <p:bldP spid="40017" grpId="0" animBg="1"/>
      <p:bldP spid="40022" grpId="0" animBg="1"/>
      <p:bldP spid="4002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728663"/>
            <a:ext cx="7793037" cy="94773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Методология </a:t>
            </a:r>
            <a:r>
              <a:rPr lang="en-US" altLang="ru-RU" smtClean="0"/>
              <a:t>DFD</a:t>
            </a:r>
            <a:r>
              <a:rPr lang="ru-RU" altLang="ru-RU" smtClean="0"/>
              <a:t> </a:t>
            </a:r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927100" y="1898650"/>
            <a:ext cx="8037513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/>
              <a:t>Диаграммы потоков данных </a:t>
            </a:r>
            <a:r>
              <a:rPr lang="en-US" altLang="ru-RU"/>
              <a:t>DFD </a:t>
            </a:r>
            <a:r>
              <a:rPr lang="ru-RU" altLang="ru-RU"/>
              <a:t>позволяют эффективно и наглядно описать процессы документооборота и обработки информации. </a:t>
            </a:r>
          </a:p>
          <a:p>
            <a:pPr>
              <a:spcBef>
                <a:spcPct val="50000"/>
              </a:spcBef>
            </a:pPr>
            <a:r>
              <a:rPr lang="ru-RU" altLang="ru-RU"/>
              <a:t>Используются две нотации: Йордана и Гейна-Сарсона </a:t>
            </a:r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927100" y="3094038"/>
            <a:ext cx="76454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b="1"/>
              <a:t>Типы структурных элементов </a:t>
            </a:r>
            <a:r>
              <a:rPr lang="ru-RU" altLang="ru-RU"/>
              <a:t>(в нотации Гейна-Сарсона):</a:t>
            </a:r>
            <a:r>
              <a:rPr lang="ru-RU" altLang="ru-RU" b="1"/>
              <a:t> </a:t>
            </a:r>
          </a:p>
        </p:txBody>
      </p:sp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927100" y="3573463"/>
            <a:ext cx="5354638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ru-RU" altLang="ru-RU" sz="1600" b="1" i="1"/>
              <a:t>Процессы</a:t>
            </a:r>
            <a:r>
              <a:rPr lang="ru-RU" altLang="ru-RU" sz="1600"/>
              <a:t> (функции, операции, действия), которые обрабатывают и изменяют информацию. Процессы показывают, каким образом входные потоки данных преобразуются в выходные </a:t>
            </a:r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927100" y="4784725"/>
            <a:ext cx="5354638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eriod" startAt="2"/>
            </a:pPr>
            <a:r>
              <a:rPr lang="ru-RU" altLang="ru-RU" sz="1600" b="1" i="1"/>
              <a:t>Потоки данных</a:t>
            </a:r>
            <a:r>
              <a:rPr lang="ru-RU" altLang="ru-RU" sz="1600"/>
              <a:t>, которые обозначают взаимо-действие процессов с внешним миром и между собой. Поток данных</a:t>
            </a:r>
            <a:r>
              <a:rPr lang="ru-RU" altLang="ru-RU" sz="1600" i="1"/>
              <a:t> </a:t>
            </a:r>
            <a:r>
              <a:rPr lang="ru-RU" altLang="ru-RU" sz="1600"/>
              <a:t>соединяет выход процесса (объекта) с входом другого процесса (объекта). </a:t>
            </a:r>
          </a:p>
        </p:txBody>
      </p:sp>
      <p:grpSp>
        <p:nvGrpSpPr>
          <p:cNvPr id="2" name="Group 19"/>
          <p:cNvGrpSpPr>
            <a:grpSpLocks noChangeAspect="1"/>
          </p:cNvGrpSpPr>
          <p:nvPr/>
        </p:nvGrpSpPr>
        <p:grpSpPr bwMode="auto">
          <a:xfrm>
            <a:off x="6840538" y="4995863"/>
            <a:ext cx="1406525" cy="360362"/>
            <a:chOff x="4622" y="1396"/>
            <a:chExt cx="941" cy="241"/>
          </a:xfrm>
        </p:grpSpPr>
        <p:sp>
          <p:nvSpPr>
            <p:cNvPr id="128015" name="Line 20"/>
            <p:cNvSpPr>
              <a:spLocks noChangeAspect="1" noChangeShapeType="1"/>
            </p:cNvSpPr>
            <p:nvPr/>
          </p:nvSpPr>
          <p:spPr bwMode="auto">
            <a:xfrm>
              <a:off x="4622" y="1637"/>
              <a:ext cx="941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8016" name="Text Box 21"/>
            <p:cNvSpPr txBox="1">
              <a:spLocks noChangeAspect="1" noChangeArrowheads="1"/>
            </p:cNvSpPr>
            <p:nvPr/>
          </p:nvSpPr>
          <p:spPr bwMode="auto">
            <a:xfrm>
              <a:off x="4846" y="1396"/>
              <a:ext cx="546" cy="17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ru-RU" altLang="ru-RU" sz="1600"/>
                <a:t>имя</a:t>
              </a:r>
            </a:p>
          </p:txBody>
        </p:sp>
      </p:grpSp>
      <p:grpSp>
        <p:nvGrpSpPr>
          <p:cNvPr id="3" name="Группа 19"/>
          <p:cNvGrpSpPr>
            <a:grpSpLocks/>
          </p:cNvGrpSpPr>
          <p:nvPr/>
        </p:nvGrpSpPr>
        <p:grpSpPr bwMode="auto">
          <a:xfrm>
            <a:off x="6656388" y="3678238"/>
            <a:ext cx="1647825" cy="871537"/>
            <a:chOff x="6656388" y="3678238"/>
            <a:chExt cx="1647825" cy="871537"/>
          </a:xfrm>
        </p:grpSpPr>
        <p:grpSp>
          <p:nvGrpSpPr>
            <p:cNvPr id="128008" name="Group 9"/>
            <p:cNvGrpSpPr>
              <a:grpSpLocks noChangeAspect="1"/>
            </p:cNvGrpSpPr>
            <p:nvPr/>
          </p:nvGrpSpPr>
          <p:grpSpPr bwMode="auto">
            <a:xfrm>
              <a:off x="6656388" y="3678238"/>
              <a:ext cx="1647825" cy="871537"/>
              <a:chOff x="2946" y="1325"/>
              <a:chExt cx="1120" cy="591"/>
            </a:xfrm>
          </p:grpSpPr>
          <p:sp>
            <p:nvSpPr>
              <p:cNvPr id="128013" name="AutoShape 10"/>
              <p:cNvSpPr>
                <a:spLocks noChangeAspect="1" noChangeArrowheads="1"/>
              </p:cNvSpPr>
              <p:nvPr/>
            </p:nvSpPr>
            <p:spPr bwMode="auto">
              <a:xfrm>
                <a:off x="2946" y="1325"/>
                <a:ext cx="1120" cy="591"/>
              </a:xfrm>
              <a:prstGeom prst="roundRect">
                <a:avLst>
                  <a:gd name="adj" fmla="val 9093"/>
                </a:avLst>
              </a:prstGeom>
              <a:solidFill>
                <a:srgbClr val="FFFFFF"/>
              </a:solidFill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 altLang="ru-RU"/>
              </a:p>
            </p:txBody>
          </p:sp>
          <p:sp>
            <p:nvSpPr>
              <p:cNvPr id="128014" name="Text Box 11"/>
              <p:cNvSpPr txBox="1">
                <a:spLocks noChangeAspect="1" noChangeArrowheads="1"/>
              </p:cNvSpPr>
              <p:nvPr/>
            </p:nvSpPr>
            <p:spPr bwMode="auto">
              <a:xfrm>
                <a:off x="3071" y="1518"/>
                <a:ext cx="887" cy="18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ru-RU" altLang="ru-RU" sz="1600"/>
                  <a:t>имя</a:t>
                </a:r>
              </a:p>
            </p:txBody>
          </p:sp>
        </p:grpSp>
        <p:sp>
          <p:nvSpPr>
            <p:cNvPr id="128009" name="Text Box 11"/>
            <p:cNvSpPr txBox="1">
              <a:spLocks noChangeAspect="1" noChangeArrowheads="1"/>
            </p:cNvSpPr>
            <p:nvPr/>
          </p:nvSpPr>
          <p:spPr bwMode="auto">
            <a:xfrm>
              <a:off x="6734081" y="3740150"/>
              <a:ext cx="1305019" cy="2667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ru-RU" altLang="ru-RU" sz="1200"/>
                <a:t>номер</a:t>
              </a:r>
            </a:p>
          </p:txBody>
        </p:sp>
        <p:sp>
          <p:nvSpPr>
            <p:cNvPr id="128010" name="Text Box 11"/>
            <p:cNvSpPr txBox="1">
              <a:spLocks noChangeAspect="1" noChangeArrowheads="1"/>
            </p:cNvSpPr>
            <p:nvPr/>
          </p:nvSpPr>
          <p:spPr bwMode="auto">
            <a:xfrm>
              <a:off x="6734081" y="4273550"/>
              <a:ext cx="1305019" cy="2222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ru-RU" altLang="ru-RU" sz="1200"/>
                <a:t>исполнитель</a:t>
              </a:r>
            </a:p>
          </p:txBody>
        </p:sp>
        <p:cxnSp>
          <p:nvCxnSpPr>
            <p:cNvPr id="18" name="Прямая соединительная линия 17"/>
            <p:cNvCxnSpPr/>
            <p:nvPr/>
          </p:nvCxnSpPr>
          <p:spPr>
            <a:xfrm>
              <a:off x="6656388" y="3962400"/>
              <a:ext cx="1647825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/>
            <p:cNvCxnSpPr/>
            <p:nvPr/>
          </p:nvCxnSpPr>
          <p:spPr>
            <a:xfrm>
              <a:off x="6656388" y="4273550"/>
              <a:ext cx="1647825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0" grpId="0"/>
      <p:bldP spid="31751" grpId="0"/>
      <p:bldP spid="31752" grpId="0"/>
      <p:bldP spid="3175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525463"/>
            <a:ext cx="7793037" cy="115093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Методология </a:t>
            </a:r>
            <a:r>
              <a:rPr lang="en-US" altLang="ru-RU" smtClean="0"/>
              <a:t>DFD</a:t>
            </a:r>
            <a:endParaRPr lang="ru-RU" altLang="ru-RU" smtClean="0"/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881063" y="2168525"/>
            <a:ext cx="5356225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eriod" startAt="3"/>
            </a:pPr>
            <a:r>
              <a:rPr lang="ru-RU" altLang="ru-RU" sz="1600" b="1" i="1"/>
              <a:t>Хранилища данных</a:t>
            </a:r>
            <a:r>
              <a:rPr lang="ru-RU" altLang="ru-RU" sz="1600"/>
              <a:t> - представляют собой собственно данные, к которым осуществляется доступ. Эти данные могут быть созданы или изменены процессами. </a:t>
            </a:r>
          </a:p>
        </p:txBody>
      </p:sp>
      <p:grpSp>
        <p:nvGrpSpPr>
          <p:cNvPr id="2" name="Group 7"/>
          <p:cNvGrpSpPr>
            <a:grpSpLocks noChangeAspect="1"/>
          </p:cNvGrpSpPr>
          <p:nvPr/>
        </p:nvGrpSpPr>
        <p:grpSpPr bwMode="auto">
          <a:xfrm>
            <a:off x="6237288" y="2393950"/>
            <a:ext cx="1385887" cy="493713"/>
            <a:chOff x="6290" y="1395"/>
            <a:chExt cx="933" cy="332"/>
          </a:xfrm>
        </p:grpSpPr>
        <p:sp>
          <p:nvSpPr>
            <p:cNvPr id="129035" name="Rectangle 8"/>
            <p:cNvSpPr>
              <a:spLocks noChangeAspect="1" noChangeArrowheads="1"/>
            </p:cNvSpPr>
            <p:nvPr/>
          </p:nvSpPr>
          <p:spPr bwMode="auto">
            <a:xfrm>
              <a:off x="6290" y="1395"/>
              <a:ext cx="133" cy="33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 altLang="ru-RU"/>
            </a:p>
          </p:txBody>
        </p:sp>
        <p:sp>
          <p:nvSpPr>
            <p:cNvPr id="129036" name="Line 9"/>
            <p:cNvSpPr>
              <a:spLocks noChangeAspect="1" noChangeShapeType="1"/>
            </p:cNvSpPr>
            <p:nvPr/>
          </p:nvSpPr>
          <p:spPr bwMode="auto">
            <a:xfrm>
              <a:off x="6423" y="1395"/>
              <a:ext cx="79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9037" name="Line 10"/>
            <p:cNvSpPr>
              <a:spLocks noChangeAspect="1" noChangeShapeType="1"/>
            </p:cNvSpPr>
            <p:nvPr/>
          </p:nvSpPr>
          <p:spPr bwMode="auto">
            <a:xfrm>
              <a:off x="6423" y="1726"/>
              <a:ext cx="800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9038" name="Text Box 11"/>
            <p:cNvSpPr txBox="1">
              <a:spLocks noChangeAspect="1" noChangeArrowheads="1"/>
            </p:cNvSpPr>
            <p:nvPr/>
          </p:nvSpPr>
          <p:spPr bwMode="auto">
            <a:xfrm>
              <a:off x="6513" y="1449"/>
              <a:ext cx="645" cy="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ru-RU" altLang="ru-RU" sz="1600"/>
                <a:t>имя</a:t>
              </a:r>
            </a:p>
          </p:txBody>
        </p:sp>
      </p:grp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881063" y="3654425"/>
            <a:ext cx="4995862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eriod" startAt="4"/>
            </a:pPr>
            <a:r>
              <a:rPr lang="ru-RU" altLang="ru-RU" sz="1600" b="1" i="1"/>
              <a:t>Внешние сущности</a:t>
            </a:r>
            <a:r>
              <a:rPr lang="ru-RU" altLang="ru-RU" sz="1600"/>
              <a:t> - определяют внешние элементы, которые участвуют в процессе обмена информацией с системой.  	</a:t>
            </a:r>
          </a:p>
          <a:p>
            <a:pPr marL="342900" indent="-342900"/>
            <a:r>
              <a:rPr lang="ru-RU" altLang="ru-RU" sz="1600"/>
              <a:t>      Внешние сущности изображают входы в систему (источники информации) и/или выходы из системы (приемники информации). Примеры: </a:t>
            </a:r>
            <a:r>
              <a:rPr lang="ru-RU" altLang="ru-RU" sz="1600" i="1"/>
              <a:t>заказчик, персонал, поставщик, клиент, склад, банк</a:t>
            </a:r>
            <a:r>
              <a:rPr lang="ru-RU" altLang="ru-RU" sz="1600"/>
              <a:t> </a:t>
            </a:r>
          </a:p>
        </p:txBody>
      </p:sp>
      <p:grpSp>
        <p:nvGrpSpPr>
          <p:cNvPr id="3" name="Group 13"/>
          <p:cNvGrpSpPr>
            <a:grpSpLocks noChangeAspect="1"/>
          </p:cNvGrpSpPr>
          <p:nvPr/>
        </p:nvGrpSpPr>
        <p:grpSpPr bwMode="auto">
          <a:xfrm>
            <a:off x="6434138" y="4059238"/>
            <a:ext cx="1212850" cy="688975"/>
            <a:chOff x="7787" y="1323"/>
            <a:chExt cx="789" cy="450"/>
          </a:xfrm>
        </p:grpSpPr>
        <p:sp>
          <p:nvSpPr>
            <p:cNvPr id="129030" name="Line 14"/>
            <p:cNvSpPr>
              <a:spLocks noChangeAspect="1" noChangeShapeType="1"/>
            </p:cNvSpPr>
            <p:nvPr/>
          </p:nvSpPr>
          <p:spPr bwMode="auto">
            <a:xfrm>
              <a:off x="7787" y="1323"/>
              <a:ext cx="787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9031" name="Line 15"/>
            <p:cNvSpPr>
              <a:spLocks noChangeAspect="1" noChangeShapeType="1"/>
            </p:cNvSpPr>
            <p:nvPr/>
          </p:nvSpPr>
          <p:spPr bwMode="auto">
            <a:xfrm>
              <a:off x="7787" y="1323"/>
              <a:ext cx="1" cy="4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9032" name="Line 16"/>
            <p:cNvSpPr>
              <a:spLocks noChangeAspect="1" noChangeShapeType="1"/>
            </p:cNvSpPr>
            <p:nvPr/>
          </p:nvSpPr>
          <p:spPr bwMode="auto">
            <a:xfrm>
              <a:off x="7787" y="1771"/>
              <a:ext cx="787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9033" name="Line 17"/>
            <p:cNvSpPr>
              <a:spLocks noChangeAspect="1" noChangeShapeType="1"/>
            </p:cNvSpPr>
            <p:nvPr/>
          </p:nvSpPr>
          <p:spPr bwMode="auto">
            <a:xfrm>
              <a:off x="8574" y="1325"/>
              <a:ext cx="2" cy="4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9034" name="Text Box 18"/>
            <p:cNvSpPr txBox="1">
              <a:spLocks noChangeAspect="1" noChangeArrowheads="1"/>
            </p:cNvSpPr>
            <p:nvPr/>
          </p:nvSpPr>
          <p:spPr bwMode="auto">
            <a:xfrm>
              <a:off x="7858" y="1449"/>
              <a:ext cx="644" cy="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ru-RU" altLang="ru-RU" sz="1600"/>
                <a:t>имя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/>
      <p:bldP spid="32780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525463"/>
            <a:ext cx="7793037" cy="115093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Методология </a:t>
            </a:r>
            <a:r>
              <a:rPr lang="en-US" altLang="ru-RU" smtClean="0"/>
              <a:t>DFD</a:t>
            </a:r>
            <a:endParaRPr lang="ru-RU" altLang="ru-RU" smtClean="0"/>
          </a:p>
        </p:txBody>
      </p:sp>
      <p:sp>
        <p:nvSpPr>
          <p:cNvPr id="130050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altLang="ru-RU"/>
          </a:p>
        </p:txBody>
      </p:sp>
      <p:grpSp>
        <p:nvGrpSpPr>
          <p:cNvPr id="130051" name="Group 6"/>
          <p:cNvGrpSpPr>
            <a:grpSpLocks noChangeAspect="1"/>
          </p:cNvGrpSpPr>
          <p:nvPr/>
        </p:nvGrpSpPr>
        <p:grpSpPr bwMode="auto">
          <a:xfrm>
            <a:off x="1174750" y="2344738"/>
            <a:ext cx="7459663" cy="2951162"/>
            <a:chOff x="2572" y="1185"/>
            <a:chExt cx="5877" cy="2324"/>
          </a:xfrm>
        </p:grpSpPr>
        <p:grpSp>
          <p:nvGrpSpPr>
            <p:cNvPr id="130053" name="Group 49"/>
            <p:cNvGrpSpPr>
              <a:grpSpLocks/>
            </p:cNvGrpSpPr>
            <p:nvPr/>
          </p:nvGrpSpPr>
          <p:grpSpPr bwMode="auto">
            <a:xfrm>
              <a:off x="2727" y="1347"/>
              <a:ext cx="969" cy="450"/>
              <a:chOff x="7787" y="1323"/>
              <a:chExt cx="789" cy="450"/>
            </a:xfrm>
          </p:grpSpPr>
          <p:sp>
            <p:nvSpPr>
              <p:cNvPr id="130095" name="Line 54"/>
              <p:cNvSpPr>
                <a:spLocks noChangeShapeType="1"/>
              </p:cNvSpPr>
              <p:nvPr/>
            </p:nvSpPr>
            <p:spPr bwMode="auto">
              <a:xfrm>
                <a:off x="7787" y="1323"/>
                <a:ext cx="787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0096" name="Line 53"/>
              <p:cNvSpPr>
                <a:spLocks noChangeShapeType="1"/>
              </p:cNvSpPr>
              <p:nvPr/>
            </p:nvSpPr>
            <p:spPr bwMode="auto">
              <a:xfrm>
                <a:off x="7787" y="1323"/>
                <a:ext cx="1" cy="44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0097" name="Line 52"/>
              <p:cNvSpPr>
                <a:spLocks noChangeShapeType="1"/>
              </p:cNvSpPr>
              <p:nvPr/>
            </p:nvSpPr>
            <p:spPr bwMode="auto">
              <a:xfrm>
                <a:off x="7787" y="1771"/>
                <a:ext cx="787" cy="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0098" name="Line 51"/>
              <p:cNvSpPr>
                <a:spLocks noChangeShapeType="1"/>
              </p:cNvSpPr>
              <p:nvPr/>
            </p:nvSpPr>
            <p:spPr bwMode="auto">
              <a:xfrm>
                <a:off x="8574" y="1325"/>
                <a:ext cx="2" cy="44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0099" name="Text Box 50"/>
              <p:cNvSpPr txBox="1">
                <a:spLocks noChangeArrowheads="1"/>
              </p:cNvSpPr>
              <p:nvPr/>
            </p:nvSpPr>
            <p:spPr bwMode="auto">
              <a:xfrm>
                <a:off x="7858" y="1449"/>
                <a:ext cx="644" cy="18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/>
                <a:r>
                  <a:rPr lang="ru-RU" altLang="ru-RU" sz="1600">
                    <a:cs typeface="Times New Roman" pitchFamily="18" charset="0"/>
                  </a:rPr>
                  <a:t>Заказчик</a:t>
                </a:r>
                <a:endParaRPr lang="ru-RU" altLang="ru-RU" sz="1600"/>
              </a:p>
            </p:txBody>
          </p:sp>
        </p:grpSp>
        <p:sp>
          <p:nvSpPr>
            <p:cNvPr id="130054" name="Line 48"/>
            <p:cNvSpPr>
              <a:spLocks noChangeShapeType="1"/>
            </p:cNvSpPr>
            <p:nvPr/>
          </p:nvSpPr>
          <p:spPr bwMode="auto">
            <a:xfrm>
              <a:off x="3697" y="1570"/>
              <a:ext cx="136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lg" len="lg"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0055" name="Text Box 47"/>
            <p:cNvSpPr txBox="1">
              <a:spLocks noChangeArrowheads="1"/>
            </p:cNvSpPr>
            <p:nvPr/>
          </p:nvSpPr>
          <p:spPr bwMode="auto">
            <a:xfrm>
              <a:off x="3994" y="1345"/>
              <a:ext cx="663" cy="17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ru-RU" altLang="ru-RU" sz="1600">
                  <a:cs typeface="Times New Roman" pitchFamily="18" charset="0"/>
                </a:rPr>
                <a:t>заявка</a:t>
              </a:r>
              <a:endParaRPr lang="ru-RU" altLang="ru-RU" sz="1600"/>
            </a:p>
          </p:txBody>
        </p:sp>
        <p:sp>
          <p:nvSpPr>
            <p:cNvPr id="130056" name="Text Box 46"/>
            <p:cNvSpPr txBox="1">
              <a:spLocks noChangeArrowheads="1"/>
            </p:cNvSpPr>
            <p:nvPr/>
          </p:nvSpPr>
          <p:spPr bwMode="auto">
            <a:xfrm>
              <a:off x="2572" y="2042"/>
              <a:ext cx="489" cy="18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ru-RU" altLang="ru-RU" sz="1600">
                  <a:cs typeface="Times New Roman" pitchFamily="18" charset="0"/>
                </a:rPr>
                <a:t>счет</a:t>
              </a:r>
              <a:endParaRPr lang="ru-RU" altLang="ru-RU" sz="1600"/>
            </a:p>
          </p:txBody>
        </p:sp>
        <p:sp>
          <p:nvSpPr>
            <p:cNvPr id="130057" name="Text Box 45"/>
            <p:cNvSpPr txBox="1">
              <a:spLocks noChangeArrowheads="1"/>
            </p:cNvSpPr>
            <p:nvPr/>
          </p:nvSpPr>
          <p:spPr bwMode="auto">
            <a:xfrm>
              <a:off x="6390" y="1382"/>
              <a:ext cx="645" cy="1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ru-RU" altLang="ru-RU" sz="1600">
                  <a:cs typeface="Times New Roman" pitchFamily="18" charset="0"/>
                </a:rPr>
                <a:t>заказ</a:t>
              </a:r>
              <a:endParaRPr lang="ru-RU" altLang="ru-RU" sz="1600"/>
            </a:p>
          </p:txBody>
        </p:sp>
        <p:sp>
          <p:nvSpPr>
            <p:cNvPr id="130058" name="Text Box 44"/>
            <p:cNvSpPr txBox="1">
              <a:spLocks noChangeArrowheads="1"/>
            </p:cNvSpPr>
            <p:nvPr/>
          </p:nvSpPr>
          <p:spPr bwMode="auto">
            <a:xfrm>
              <a:off x="3446" y="2042"/>
              <a:ext cx="645" cy="18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ru-RU" altLang="ru-RU" sz="1600">
                  <a:cs typeface="Times New Roman" pitchFamily="18" charset="0"/>
                </a:rPr>
                <a:t>платеж</a:t>
              </a:r>
              <a:endParaRPr lang="ru-RU" altLang="ru-RU" sz="1600"/>
            </a:p>
          </p:txBody>
        </p:sp>
        <p:sp>
          <p:nvSpPr>
            <p:cNvPr id="130059" name="Text Box 43"/>
            <p:cNvSpPr txBox="1">
              <a:spLocks noChangeArrowheads="1"/>
            </p:cNvSpPr>
            <p:nvPr/>
          </p:nvSpPr>
          <p:spPr bwMode="auto">
            <a:xfrm>
              <a:off x="3994" y="2698"/>
              <a:ext cx="984" cy="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ru-RU" altLang="ru-RU" sz="1600">
                  <a:cs typeface="Times New Roman" pitchFamily="18" charset="0"/>
                </a:rPr>
                <a:t>стоимость</a:t>
              </a:r>
              <a:endParaRPr lang="ru-RU" altLang="ru-RU" sz="1600"/>
            </a:p>
          </p:txBody>
        </p:sp>
        <p:grpSp>
          <p:nvGrpSpPr>
            <p:cNvPr id="130060" name="Group 36"/>
            <p:cNvGrpSpPr>
              <a:grpSpLocks/>
            </p:cNvGrpSpPr>
            <p:nvPr/>
          </p:nvGrpSpPr>
          <p:grpSpPr bwMode="auto">
            <a:xfrm>
              <a:off x="5063" y="1185"/>
              <a:ext cx="1299" cy="983"/>
              <a:chOff x="2946" y="1210"/>
              <a:chExt cx="1299" cy="983"/>
            </a:xfrm>
          </p:grpSpPr>
          <p:sp>
            <p:nvSpPr>
              <p:cNvPr id="130090" name="AutoShape 41"/>
              <p:cNvSpPr>
                <a:spLocks noChangeArrowheads="1"/>
              </p:cNvSpPr>
              <p:nvPr/>
            </p:nvSpPr>
            <p:spPr bwMode="auto">
              <a:xfrm>
                <a:off x="2946" y="1210"/>
                <a:ext cx="1299" cy="983"/>
              </a:xfrm>
              <a:prstGeom prst="roundRect">
                <a:avLst>
                  <a:gd name="adj" fmla="val 16995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 altLang="ru-RU"/>
              </a:p>
            </p:txBody>
          </p:sp>
          <p:sp>
            <p:nvSpPr>
              <p:cNvPr id="130091" name="Text Box 40"/>
              <p:cNvSpPr txBox="1">
                <a:spLocks noChangeArrowheads="1"/>
              </p:cNvSpPr>
              <p:nvPr/>
            </p:nvSpPr>
            <p:spPr bwMode="auto">
              <a:xfrm>
                <a:off x="2978" y="1454"/>
                <a:ext cx="1216" cy="45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/>
                <a:r>
                  <a:rPr lang="ru-RU" altLang="ru-RU" sz="1600">
                    <a:cs typeface="Times New Roman" pitchFamily="18" charset="0"/>
                  </a:rPr>
                  <a:t>Формирование заказа</a:t>
                </a:r>
                <a:endParaRPr lang="ru-RU" altLang="ru-RU" sz="1600"/>
              </a:p>
            </p:txBody>
          </p:sp>
          <p:sp>
            <p:nvSpPr>
              <p:cNvPr id="130092" name="Text Box 39"/>
              <p:cNvSpPr txBox="1">
                <a:spLocks noChangeArrowheads="1"/>
              </p:cNvSpPr>
              <p:nvPr/>
            </p:nvSpPr>
            <p:spPr bwMode="auto">
              <a:xfrm>
                <a:off x="3114" y="1263"/>
                <a:ext cx="893" cy="18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eaLnBrk="0" hangingPunct="0"/>
                <a:r>
                  <a:rPr lang="ru-RU" altLang="ru-RU" sz="1600">
                    <a:cs typeface="Times New Roman" pitchFamily="18" charset="0"/>
                  </a:rPr>
                  <a:t>1</a:t>
                </a:r>
                <a:endParaRPr lang="ru-RU" altLang="ru-RU" sz="1600"/>
              </a:p>
              <a:p>
                <a:pPr eaLnBrk="0" hangingPunct="0"/>
                <a:endParaRPr lang="ru-RU" altLang="ru-RU" sz="1600"/>
              </a:p>
            </p:txBody>
          </p:sp>
          <p:sp>
            <p:nvSpPr>
              <p:cNvPr id="130093" name="Line 38"/>
              <p:cNvSpPr>
                <a:spLocks noChangeShapeType="1"/>
              </p:cNvSpPr>
              <p:nvPr/>
            </p:nvSpPr>
            <p:spPr bwMode="auto">
              <a:xfrm>
                <a:off x="2946" y="1446"/>
                <a:ext cx="1299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0094" name="Line 37"/>
              <p:cNvSpPr>
                <a:spLocks noChangeShapeType="1"/>
              </p:cNvSpPr>
              <p:nvPr/>
            </p:nvSpPr>
            <p:spPr bwMode="auto">
              <a:xfrm>
                <a:off x="2946" y="1963"/>
                <a:ext cx="1299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30061" name="Group 30"/>
            <p:cNvGrpSpPr>
              <a:grpSpLocks/>
            </p:cNvGrpSpPr>
            <p:nvPr/>
          </p:nvGrpSpPr>
          <p:grpSpPr bwMode="auto">
            <a:xfrm>
              <a:off x="2629" y="2524"/>
              <a:ext cx="1299" cy="985"/>
              <a:chOff x="2946" y="1210"/>
              <a:chExt cx="1299" cy="983"/>
            </a:xfrm>
          </p:grpSpPr>
          <p:sp>
            <p:nvSpPr>
              <p:cNvPr id="130085" name="AutoShape 35"/>
              <p:cNvSpPr>
                <a:spLocks noChangeArrowheads="1"/>
              </p:cNvSpPr>
              <p:nvPr/>
            </p:nvSpPr>
            <p:spPr bwMode="auto">
              <a:xfrm>
                <a:off x="2946" y="1210"/>
                <a:ext cx="1299" cy="983"/>
              </a:xfrm>
              <a:prstGeom prst="roundRect">
                <a:avLst>
                  <a:gd name="adj" fmla="val 16995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 altLang="ru-RU"/>
              </a:p>
            </p:txBody>
          </p:sp>
          <p:sp>
            <p:nvSpPr>
              <p:cNvPr id="130086" name="Text Box 34"/>
              <p:cNvSpPr txBox="1">
                <a:spLocks noChangeArrowheads="1"/>
              </p:cNvSpPr>
              <p:nvPr/>
            </p:nvSpPr>
            <p:spPr bwMode="auto">
              <a:xfrm>
                <a:off x="2978" y="1454"/>
                <a:ext cx="1216" cy="45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/>
                <a:r>
                  <a:rPr lang="ru-RU" altLang="ru-RU" sz="1600">
                    <a:cs typeface="Times New Roman" pitchFamily="18" charset="0"/>
                  </a:rPr>
                  <a:t>Оплата заказа</a:t>
                </a:r>
                <a:endParaRPr lang="ru-RU" altLang="ru-RU" sz="1600"/>
              </a:p>
            </p:txBody>
          </p:sp>
          <p:sp>
            <p:nvSpPr>
              <p:cNvPr id="130087" name="Text Box 33"/>
              <p:cNvSpPr txBox="1">
                <a:spLocks noChangeArrowheads="1"/>
              </p:cNvSpPr>
              <p:nvPr/>
            </p:nvSpPr>
            <p:spPr bwMode="auto">
              <a:xfrm>
                <a:off x="3114" y="1263"/>
                <a:ext cx="893" cy="18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eaLnBrk="0" hangingPunct="0"/>
                <a:r>
                  <a:rPr lang="ru-RU" altLang="ru-RU" sz="1600">
                    <a:cs typeface="Times New Roman" pitchFamily="18" charset="0"/>
                  </a:rPr>
                  <a:t>3</a:t>
                </a:r>
                <a:endParaRPr lang="ru-RU" altLang="ru-RU" sz="1600"/>
              </a:p>
              <a:p>
                <a:pPr eaLnBrk="0" hangingPunct="0"/>
                <a:endParaRPr lang="ru-RU" altLang="ru-RU" sz="1600"/>
              </a:p>
            </p:txBody>
          </p:sp>
          <p:sp>
            <p:nvSpPr>
              <p:cNvPr id="130088" name="Line 32"/>
              <p:cNvSpPr>
                <a:spLocks noChangeShapeType="1"/>
              </p:cNvSpPr>
              <p:nvPr/>
            </p:nvSpPr>
            <p:spPr bwMode="auto">
              <a:xfrm>
                <a:off x="2946" y="1446"/>
                <a:ext cx="1299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0089" name="Line 31"/>
              <p:cNvSpPr>
                <a:spLocks noChangeShapeType="1"/>
              </p:cNvSpPr>
              <p:nvPr/>
            </p:nvSpPr>
            <p:spPr bwMode="auto">
              <a:xfrm>
                <a:off x="2946" y="1963"/>
                <a:ext cx="1299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30062" name="Group 24"/>
            <p:cNvGrpSpPr>
              <a:grpSpLocks/>
            </p:cNvGrpSpPr>
            <p:nvPr/>
          </p:nvGrpSpPr>
          <p:grpSpPr bwMode="auto">
            <a:xfrm>
              <a:off x="5063" y="2524"/>
              <a:ext cx="1299" cy="985"/>
              <a:chOff x="2946" y="1210"/>
              <a:chExt cx="1299" cy="983"/>
            </a:xfrm>
          </p:grpSpPr>
          <p:sp>
            <p:nvSpPr>
              <p:cNvPr id="130080" name="AutoShape 29"/>
              <p:cNvSpPr>
                <a:spLocks noChangeArrowheads="1"/>
              </p:cNvSpPr>
              <p:nvPr/>
            </p:nvSpPr>
            <p:spPr bwMode="auto">
              <a:xfrm>
                <a:off x="2946" y="1210"/>
                <a:ext cx="1299" cy="983"/>
              </a:xfrm>
              <a:prstGeom prst="roundRect">
                <a:avLst>
                  <a:gd name="adj" fmla="val 16995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 altLang="ru-RU"/>
              </a:p>
            </p:txBody>
          </p:sp>
          <p:sp>
            <p:nvSpPr>
              <p:cNvPr id="130081" name="Text Box 28"/>
              <p:cNvSpPr txBox="1">
                <a:spLocks noChangeArrowheads="1"/>
              </p:cNvSpPr>
              <p:nvPr/>
            </p:nvSpPr>
            <p:spPr bwMode="auto">
              <a:xfrm>
                <a:off x="2978" y="1454"/>
                <a:ext cx="1216" cy="45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/>
                <a:r>
                  <a:rPr lang="ru-RU" altLang="ru-RU" sz="1600">
                    <a:cs typeface="Times New Roman" pitchFamily="18" charset="0"/>
                  </a:rPr>
                  <a:t>Расчет стоимости заказа</a:t>
                </a:r>
                <a:endParaRPr lang="ru-RU" altLang="ru-RU" sz="1600"/>
              </a:p>
            </p:txBody>
          </p:sp>
          <p:sp>
            <p:nvSpPr>
              <p:cNvPr id="130082" name="Text Box 27"/>
              <p:cNvSpPr txBox="1">
                <a:spLocks noChangeArrowheads="1"/>
              </p:cNvSpPr>
              <p:nvPr/>
            </p:nvSpPr>
            <p:spPr bwMode="auto">
              <a:xfrm>
                <a:off x="3114" y="1263"/>
                <a:ext cx="893" cy="18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eaLnBrk="0" hangingPunct="0"/>
                <a:r>
                  <a:rPr lang="ru-RU" altLang="ru-RU" sz="1600">
                    <a:cs typeface="Times New Roman" pitchFamily="18" charset="0"/>
                  </a:rPr>
                  <a:t>2</a:t>
                </a:r>
                <a:endParaRPr lang="ru-RU" altLang="ru-RU" sz="1600"/>
              </a:p>
              <a:p>
                <a:pPr eaLnBrk="0" hangingPunct="0"/>
                <a:endParaRPr lang="ru-RU" altLang="ru-RU" sz="1600"/>
              </a:p>
            </p:txBody>
          </p:sp>
          <p:sp>
            <p:nvSpPr>
              <p:cNvPr id="130083" name="Line 26"/>
              <p:cNvSpPr>
                <a:spLocks noChangeShapeType="1"/>
              </p:cNvSpPr>
              <p:nvPr/>
            </p:nvSpPr>
            <p:spPr bwMode="auto">
              <a:xfrm>
                <a:off x="2946" y="1446"/>
                <a:ext cx="1299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0084" name="Line 25"/>
              <p:cNvSpPr>
                <a:spLocks noChangeShapeType="1"/>
              </p:cNvSpPr>
              <p:nvPr/>
            </p:nvSpPr>
            <p:spPr bwMode="auto">
              <a:xfrm>
                <a:off x="2946" y="1963"/>
                <a:ext cx="1299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130063" name="Line 23"/>
            <p:cNvSpPr>
              <a:spLocks noChangeShapeType="1"/>
            </p:cNvSpPr>
            <p:nvPr/>
          </p:nvSpPr>
          <p:spPr bwMode="auto">
            <a:xfrm flipH="1" flipV="1">
              <a:off x="3008" y="1797"/>
              <a:ext cx="1" cy="7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lg" len="lg"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0064" name="Line 22"/>
            <p:cNvSpPr>
              <a:spLocks noChangeShapeType="1"/>
            </p:cNvSpPr>
            <p:nvPr/>
          </p:nvSpPr>
          <p:spPr bwMode="auto">
            <a:xfrm>
              <a:off x="3358" y="1795"/>
              <a:ext cx="1" cy="72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lg" len="lg"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0065" name="Line 21"/>
            <p:cNvSpPr>
              <a:spLocks noChangeShapeType="1"/>
            </p:cNvSpPr>
            <p:nvPr/>
          </p:nvSpPr>
          <p:spPr bwMode="auto">
            <a:xfrm flipH="1">
              <a:off x="3928" y="3038"/>
              <a:ext cx="113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lg" len="lg"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130066" name="Group 16"/>
            <p:cNvGrpSpPr>
              <a:grpSpLocks/>
            </p:cNvGrpSpPr>
            <p:nvPr/>
          </p:nvGrpSpPr>
          <p:grpSpPr bwMode="auto">
            <a:xfrm>
              <a:off x="7206" y="1517"/>
              <a:ext cx="1215" cy="331"/>
              <a:chOff x="7206" y="1628"/>
              <a:chExt cx="1215" cy="331"/>
            </a:xfrm>
          </p:grpSpPr>
          <p:sp>
            <p:nvSpPr>
              <p:cNvPr id="130076" name="Line 20"/>
              <p:cNvSpPr>
                <a:spLocks noChangeShapeType="1"/>
              </p:cNvSpPr>
              <p:nvPr/>
            </p:nvSpPr>
            <p:spPr bwMode="auto">
              <a:xfrm>
                <a:off x="7453" y="1628"/>
                <a:ext cx="96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0077" name="Line 19"/>
              <p:cNvSpPr>
                <a:spLocks noChangeShapeType="1"/>
              </p:cNvSpPr>
              <p:nvPr/>
            </p:nvSpPr>
            <p:spPr bwMode="auto">
              <a:xfrm>
                <a:off x="7453" y="1958"/>
                <a:ext cx="968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0078" name="Text Box 18"/>
              <p:cNvSpPr txBox="1">
                <a:spLocks noChangeArrowheads="1"/>
              </p:cNvSpPr>
              <p:nvPr/>
            </p:nvSpPr>
            <p:spPr bwMode="auto">
              <a:xfrm>
                <a:off x="7562" y="1682"/>
                <a:ext cx="780" cy="18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/>
                <a:r>
                  <a:rPr lang="ru-RU" altLang="ru-RU" sz="1600">
                    <a:cs typeface="Times New Roman" pitchFamily="18" charset="0"/>
                  </a:rPr>
                  <a:t>БД Заказ</a:t>
                </a:r>
                <a:endParaRPr lang="ru-RU" altLang="ru-RU" sz="1600"/>
              </a:p>
            </p:txBody>
          </p:sp>
          <p:sp>
            <p:nvSpPr>
              <p:cNvPr id="130079" name="Text Box 17"/>
              <p:cNvSpPr txBox="1">
                <a:spLocks noChangeArrowheads="1"/>
              </p:cNvSpPr>
              <p:nvPr/>
            </p:nvSpPr>
            <p:spPr bwMode="auto">
              <a:xfrm>
                <a:off x="7206" y="1628"/>
                <a:ext cx="247" cy="32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22500" tIns="57150" rIns="22500" bIns="57150"/>
              <a:lstStyle/>
              <a:p>
                <a:pPr eaLnBrk="0" hangingPunct="0"/>
                <a:r>
                  <a:rPr lang="ru-RU" altLang="ru-RU" sz="1600">
                    <a:cs typeface="Times New Roman" pitchFamily="18" charset="0"/>
                  </a:rPr>
                  <a:t>1</a:t>
                </a:r>
                <a:endParaRPr lang="ru-RU" altLang="ru-RU" sz="1600"/>
              </a:p>
            </p:txBody>
          </p:sp>
        </p:grpSp>
        <p:grpSp>
          <p:nvGrpSpPr>
            <p:cNvPr id="130067" name="Group 11"/>
            <p:cNvGrpSpPr>
              <a:grpSpLocks/>
            </p:cNvGrpSpPr>
            <p:nvPr/>
          </p:nvGrpSpPr>
          <p:grpSpPr bwMode="auto">
            <a:xfrm>
              <a:off x="7234" y="2754"/>
              <a:ext cx="1215" cy="330"/>
              <a:chOff x="7206" y="1628"/>
              <a:chExt cx="1215" cy="331"/>
            </a:xfrm>
          </p:grpSpPr>
          <p:sp>
            <p:nvSpPr>
              <p:cNvPr id="130072" name="Line 15"/>
              <p:cNvSpPr>
                <a:spLocks noChangeShapeType="1"/>
              </p:cNvSpPr>
              <p:nvPr/>
            </p:nvSpPr>
            <p:spPr bwMode="auto">
              <a:xfrm>
                <a:off x="7453" y="1628"/>
                <a:ext cx="96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0073" name="Line 14"/>
              <p:cNvSpPr>
                <a:spLocks noChangeShapeType="1"/>
              </p:cNvSpPr>
              <p:nvPr/>
            </p:nvSpPr>
            <p:spPr bwMode="auto">
              <a:xfrm>
                <a:off x="7453" y="1958"/>
                <a:ext cx="968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0074" name="Text Box 13"/>
              <p:cNvSpPr txBox="1">
                <a:spLocks noChangeArrowheads="1"/>
              </p:cNvSpPr>
              <p:nvPr/>
            </p:nvSpPr>
            <p:spPr bwMode="auto">
              <a:xfrm>
                <a:off x="7562" y="1682"/>
                <a:ext cx="780" cy="18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/>
                <a:r>
                  <a:rPr lang="ru-RU" altLang="ru-RU" sz="1600">
                    <a:cs typeface="Times New Roman" pitchFamily="18" charset="0"/>
                  </a:rPr>
                  <a:t>БД Прайс</a:t>
                </a:r>
                <a:endParaRPr lang="ru-RU" altLang="ru-RU" sz="1600"/>
              </a:p>
            </p:txBody>
          </p:sp>
          <p:sp>
            <p:nvSpPr>
              <p:cNvPr id="130075" name="Text Box 12"/>
              <p:cNvSpPr txBox="1">
                <a:spLocks noChangeArrowheads="1"/>
              </p:cNvSpPr>
              <p:nvPr/>
            </p:nvSpPr>
            <p:spPr bwMode="auto">
              <a:xfrm>
                <a:off x="7206" y="1628"/>
                <a:ext cx="247" cy="32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22500" tIns="57150" rIns="22500" bIns="57150"/>
              <a:lstStyle/>
              <a:p>
                <a:pPr eaLnBrk="0" hangingPunct="0"/>
                <a:r>
                  <a:rPr lang="ru-RU" altLang="ru-RU" sz="1600">
                    <a:cs typeface="Times New Roman" pitchFamily="18" charset="0"/>
                  </a:rPr>
                  <a:t>2</a:t>
                </a:r>
                <a:endParaRPr lang="ru-RU" altLang="ru-RU" sz="1600"/>
              </a:p>
            </p:txBody>
          </p:sp>
        </p:grpSp>
        <p:sp>
          <p:nvSpPr>
            <p:cNvPr id="130068" name="Line 10"/>
            <p:cNvSpPr>
              <a:spLocks noChangeShapeType="1"/>
            </p:cNvSpPr>
            <p:nvPr/>
          </p:nvSpPr>
          <p:spPr bwMode="auto">
            <a:xfrm>
              <a:off x="6362" y="1661"/>
              <a:ext cx="84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lg" len="lg"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0069" name="Line 9"/>
            <p:cNvSpPr>
              <a:spLocks noChangeShapeType="1"/>
            </p:cNvSpPr>
            <p:nvPr/>
          </p:nvSpPr>
          <p:spPr bwMode="auto">
            <a:xfrm>
              <a:off x="6362" y="2993"/>
              <a:ext cx="87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lg" len="lg"/>
              <a:tailEnd type="non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0070" name="Line 8"/>
            <p:cNvSpPr>
              <a:spLocks noChangeShapeType="1"/>
            </p:cNvSpPr>
            <p:nvPr/>
          </p:nvSpPr>
          <p:spPr bwMode="auto">
            <a:xfrm>
              <a:off x="6362" y="2884"/>
              <a:ext cx="87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lg" len="lg"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0071" name="Text Box 7"/>
            <p:cNvSpPr txBox="1">
              <a:spLocks noChangeArrowheads="1"/>
            </p:cNvSpPr>
            <p:nvPr/>
          </p:nvSpPr>
          <p:spPr bwMode="auto">
            <a:xfrm>
              <a:off x="6484" y="3084"/>
              <a:ext cx="645" cy="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/>
              <a:r>
                <a:rPr lang="ru-RU" altLang="ru-RU" sz="1600">
                  <a:cs typeface="Times New Roman" pitchFamily="18" charset="0"/>
                </a:rPr>
                <a:t>цена</a:t>
              </a:r>
              <a:endParaRPr lang="ru-RU" altLang="ru-RU" sz="1600"/>
            </a:p>
          </p:txBody>
        </p:sp>
      </p:grpSp>
      <p:cxnSp>
        <p:nvCxnSpPr>
          <p:cNvPr id="59" name="Прямая со стрелкой 58"/>
          <p:cNvCxnSpPr>
            <a:stCxn id="130090" idx="2"/>
            <a:endCxn id="130080" idx="0"/>
          </p:cNvCxnSpPr>
          <p:nvPr/>
        </p:nvCxnSpPr>
        <p:spPr>
          <a:xfrm rot="5400000">
            <a:off x="4935538" y="3819525"/>
            <a:ext cx="452438" cy="158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Заголовок 3"/>
          <p:cNvSpPr>
            <a:spLocks noGrp="1"/>
          </p:cNvSpPr>
          <p:nvPr>
            <p:ph type="title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Правила построения </a:t>
            </a:r>
            <a:r>
              <a:rPr lang="en-US" altLang="ru-RU" smtClean="0"/>
              <a:t>DFD</a:t>
            </a:r>
            <a:endParaRPr lang="ru-RU" altLang="ru-RU" smtClean="0"/>
          </a:p>
        </p:txBody>
      </p:sp>
      <p:pic>
        <p:nvPicPr>
          <p:cNvPr id="131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6263" y="1814513"/>
            <a:ext cx="7762875" cy="423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Заголовок 1"/>
          <p:cNvSpPr>
            <a:spLocks noGrp="1"/>
          </p:cNvSpPr>
          <p:nvPr>
            <p:ph type="title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Найдите ошибки</a:t>
            </a:r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3963" y="1304925"/>
            <a:ext cx="6062662" cy="541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Заголовок 1"/>
          <p:cNvSpPr>
            <a:spLocks noGrp="1"/>
          </p:cNvSpPr>
          <p:nvPr>
            <p:ph type="title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Построение </a:t>
            </a:r>
            <a:r>
              <a:rPr lang="en-US" altLang="ru-RU" smtClean="0"/>
              <a:t>DFD</a:t>
            </a:r>
            <a:endParaRPr lang="ru-RU" altLang="ru-RU" smtClean="0"/>
          </a:p>
        </p:txBody>
      </p:sp>
      <p:sp>
        <p:nvSpPr>
          <p:cNvPr id="3" name="Овал 2"/>
          <p:cNvSpPr/>
          <p:nvPr/>
        </p:nvSpPr>
        <p:spPr>
          <a:xfrm>
            <a:off x="1727200" y="1268413"/>
            <a:ext cx="6121400" cy="126047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400" dirty="0">
                <a:solidFill>
                  <a:schemeClr val="tx1"/>
                </a:solidFill>
              </a:rPr>
              <a:t>Уровень системы (контекстная диаграмма)</a:t>
            </a:r>
            <a:endParaRPr lang="ru-RU" sz="2400" dirty="0"/>
          </a:p>
        </p:txBody>
      </p:sp>
      <p:sp>
        <p:nvSpPr>
          <p:cNvPr id="4" name="Овал 3"/>
          <p:cNvSpPr/>
          <p:nvPr/>
        </p:nvSpPr>
        <p:spPr>
          <a:xfrm>
            <a:off x="2266950" y="3716338"/>
            <a:ext cx="5076825" cy="97313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000" dirty="0">
                <a:solidFill>
                  <a:schemeClr val="tx1"/>
                </a:solidFill>
              </a:rPr>
              <a:t>Уровень подсистемы</a:t>
            </a:r>
            <a:endParaRPr lang="ru-RU" sz="2000" dirty="0"/>
          </a:p>
        </p:txBody>
      </p:sp>
      <p:sp>
        <p:nvSpPr>
          <p:cNvPr id="5" name="Овал 4"/>
          <p:cNvSpPr/>
          <p:nvPr/>
        </p:nvSpPr>
        <p:spPr>
          <a:xfrm>
            <a:off x="2573338" y="5794375"/>
            <a:ext cx="4464050" cy="71913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000" dirty="0">
                <a:solidFill>
                  <a:schemeClr val="tx1"/>
                </a:solidFill>
              </a:rPr>
              <a:t>Уровень процесса</a:t>
            </a:r>
          </a:p>
        </p:txBody>
      </p:sp>
      <p:sp>
        <p:nvSpPr>
          <p:cNvPr id="6" name="Стрелка вниз 5"/>
          <p:cNvSpPr/>
          <p:nvPr/>
        </p:nvSpPr>
        <p:spPr>
          <a:xfrm>
            <a:off x="4464050" y="2528888"/>
            <a:ext cx="468313" cy="118745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Стрелка вниз 6"/>
          <p:cNvSpPr/>
          <p:nvPr/>
        </p:nvSpPr>
        <p:spPr>
          <a:xfrm>
            <a:off x="4572000" y="4689475"/>
            <a:ext cx="466725" cy="11049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Заголовок 1"/>
          <p:cNvSpPr>
            <a:spLocks noGrp="1"/>
          </p:cNvSpPr>
          <p:nvPr>
            <p:ph type="title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Построение </a:t>
            </a:r>
            <a:r>
              <a:rPr lang="en-US" altLang="ru-RU" smtClean="0"/>
              <a:t>DFD</a:t>
            </a:r>
            <a:r>
              <a:rPr lang="ru-RU" altLang="ru-RU" smtClean="0"/>
              <a:t>. Система</a:t>
            </a:r>
          </a:p>
        </p:txBody>
      </p:sp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325" y="1989138"/>
            <a:ext cx="8220075" cy="41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Заголовок 1"/>
          <p:cNvSpPr>
            <a:spLocks noGrp="1"/>
          </p:cNvSpPr>
          <p:nvPr>
            <p:ph type="title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Построение </a:t>
            </a:r>
            <a:r>
              <a:rPr lang="en-US" altLang="ru-RU" smtClean="0"/>
              <a:t>DFD</a:t>
            </a:r>
            <a:r>
              <a:rPr lang="ru-RU" altLang="ru-RU" smtClean="0"/>
              <a:t>. Подсистема</a:t>
            </a:r>
          </a:p>
        </p:txBody>
      </p:sp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763" y="1719263"/>
            <a:ext cx="885825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Заголовок 1"/>
          <p:cNvSpPr>
            <a:spLocks noGrp="1"/>
          </p:cNvSpPr>
          <p:nvPr>
            <p:ph type="title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altLang="ru-RU" smtClean="0"/>
              <a:t>Построение </a:t>
            </a:r>
            <a:r>
              <a:rPr lang="en-US" altLang="ru-RU" smtClean="0"/>
              <a:t>DFD</a:t>
            </a:r>
            <a:r>
              <a:rPr lang="ru-RU" altLang="ru-RU" smtClean="0"/>
              <a:t>. Процесс</a:t>
            </a:r>
          </a:p>
        </p:txBody>
      </p:sp>
      <p:pic>
        <p:nvPicPr>
          <p:cNvPr id="136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5188" y="2168525"/>
            <a:ext cx="779145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2774</TotalTime>
  <Words>3717</Words>
  <Application>Microsoft Office PowerPoint</Application>
  <PresentationFormat>Экран (4:3)</PresentationFormat>
  <Paragraphs>725</Paragraphs>
  <Slides>84</Slides>
  <Notes>39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84</vt:i4>
      </vt:variant>
    </vt:vector>
  </HeadingPairs>
  <TitlesOfParts>
    <vt:vector size="98" baseType="lpstr">
      <vt:lpstr>Arial</vt:lpstr>
      <vt:lpstr>Book Antiqua</vt:lpstr>
      <vt:lpstr>Calibri</vt:lpstr>
      <vt:lpstr>Century Gothic</vt:lpstr>
      <vt:lpstr>Courier New</vt:lpstr>
      <vt:lpstr>Palatino Linotype</vt:lpstr>
      <vt:lpstr>Tahoma</vt:lpstr>
      <vt:lpstr>Times New Roman</vt:lpstr>
      <vt:lpstr>Verdana</vt:lpstr>
      <vt:lpstr>Wingdings</vt:lpstr>
      <vt:lpstr>Wingdings 2</vt:lpstr>
      <vt:lpstr>Исполнительная</vt:lpstr>
      <vt:lpstr>Точечный рисунок</vt:lpstr>
      <vt:lpstr>Bitmap Image</vt:lpstr>
      <vt:lpstr>Презентация PowerPoint</vt:lpstr>
      <vt:lpstr> Нотации и инструменты моделирования процессов</vt:lpstr>
      <vt:lpstr>Понятие модели </vt:lpstr>
      <vt:lpstr>Понятие модели</vt:lpstr>
      <vt:lpstr>Классификация моделей </vt:lpstr>
      <vt:lpstr>Классификация моделей</vt:lpstr>
      <vt:lpstr>Языки описания моделей</vt:lpstr>
      <vt:lpstr>Бизнес–модель</vt:lpstr>
      <vt:lpstr> Определение бизнес-процесса </vt:lpstr>
      <vt:lpstr>Основные определения</vt:lpstr>
      <vt:lpstr>Процесс</vt:lpstr>
      <vt:lpstr>Мониторинг и измерение процесса</vt:lpstr>
      <vt:lpstr>Оценка процесса</vt:lpstr>
      <vt:lpstr>Классификация бизнес-процессов</vt:lpstr>
      <vt:lpstr>Виды бизнес-процессов</vt:lpstr>
      <vt:lpstr>Пример: Процессы региональной сетевой компании</vt:lpstr>
      <vt:lpstr>Содержание модели бизнеса</vt:lpstr>
      <vt:lpstr>Моделирование бизнес-процессов</vt:lpstr>
      <vt:lpstr>Преимущества моделирования</vt:lpstr>
      <vt:lpstr>Основные подходы к  моделированию и анализу бизнес-процессов</vt:lpstr>
      <vt:lpstr>Методологии моделирования бизнес-процессов (Business Process Modeling) </vt:lpstr>
      <vt:lpstr>Методы моделирования бизнес-процессов</vt:lpstr>
      <vt:lpstr>Методы моделирования бизнеса </vt:lpstr>
      <vt:lpstr>Методологии моделирования бизнес-процессов</vt:lpstr>
      <vt:lpstr>Методы моделирования бизнеса</vt:lpstr>
      <vt:lpstr>Методы объектно-ориентированного моделирования</vt:lpstr>
      <vt:lpstr>Методы моделирования бизнеса</vt:lpstr>
      <vt:lpstr>Методы имитационного моделирования</vt:lpstr>
      <vt:lpstr>Методы моделирования бизнеса</vt:lpstr>
      <vt:lpstr>Интегрированные методы моделирования</vt:lpstr>
      <vt:lpstr>  Цели построения бизнес-модели</vt:lpstr>
      <vt:lpstr>Типы бизнес-моделей</vt:lpstr>
      <vt:lpstr>Модель бизнес-процесса должна давать ответы на вопросы:</vt:lpstr>
      <vt:lpstr>Построение бизнес-модели</vt:lpstr>
      <vt:lpstr>Декомпозиция процесса</vt:lpstr>
      <vt:lpstr>Декомпозиция процесса</vt:lpstr>
      <vt:lpstr>Методология IDEF0</vt:lpstr>
      <vt:lpstr>Методология IDEF0</vt:lpstr>
      <vt:lpstr>Методология IDEF0</vt:lpstr>
      <vt:lpstr>. </vt:lpstr>
      <vt:lpstr>Контекстная диаграмма </vt:lpstr>
      <vt:lpstr>Построение иерархии диаграмм</vt:lpstr>
      <vt:lpstr>Презентация PowerPoint</vt:lpstr>
      <vt:lpstr>Моделирование бизнес-процесса</vt:lpstr>
      <vt:lpstr>Презентация PowerPoint</vt:lpstr>
      <vt:lpstr>Декомпозиция</vt:lpstr>
      <vt:lpstr>Правила построения иерархии диаграмм</vt:lpstr>
      <vt:lpstr>Правила построения иерархии диаграмм</vt:lpstr>
      <vt:lpstr>Презентация PowerPoint</vt:lpstr>
      <vt:lpstr>ПОСТРОЕНИЕ ИЕРАРХИИ ДИАГРАММ</vt:lpstr>
      <vt:lpstr>Пример бизнес-процесса</vt:lpstr>
      <vt:lpstr>Пример дерева диаграмм</vt:lpstr>
      <vt:lpstr>Типы связей между функциями</vt:lpstr>
      <vt:lpstr>Типы связей</vt:lpstr>
      <vt:lpstr>Типы связей</vt:lpstr>
      <vt:lpstr>Типы связей</vt:lpstr>
      <vt:lpstr>Типы связей</vt:lpstr>
      <vt:lpstr>Типы связей</vt:lpstr>
      <vt:lpstr>Типы связей</vt:lpstr>
      <vt:lpstr>Презентация PowerPoint</vt:lpstr>
      <vt:lpstr>Методология IDEF3</vt:lpstr>
      <vt:lpstr>Методология IDEF3</vt:lpstr>
      <vt:lpstr>Методология IDEF3</vt:lpstr>
      <vt:lpstr>Методология IDEF3</vt:lpstr>
      <vt:lpstr>Методология IDEF3</vt:lpstr>
      <vt:lpstr>Методология IDEF3</vt:lpstr>
      <vt:lpstr>Методология IDEF3</vt:lpstr>
      <vt:lpstr>Методология IDEF3</vt:lpstr>
      <vt:lpstr>Методология IDEF3</vt:lpstr>
      <vt:lpstr>Методология IDEF3</vt:lpstr>
      <vt:lpstr>Структура множественной декомпозиции работ</vt:lpstr>
      <vt:lpstr>Пример построения модели IDEF3</vt:lpstr>
      <vt:lpstr>Пример построения модели IDEF3</vt:lpstr>
      <vt:lpstr>Пример построения модели IDEF3</vt:lpstr>
      <vt:lpstr>Пример построения модели IDEF3</vt:lpstr>
      <vt:lpstr>Методология DFD </vt:lpstr>
      <vt:lpstr>Методология DFD</vt:lpstr>
      <vt:lpstr>Методология DFD</vt:lpstr>
      <vt:lpstr>Правила построения DFD</vt:lpstr>
      <vt:lpstr>Найдите ошибки</vt:lpstr>
      <vt:lpstr>Построение DFD</vt:lpstr>
      <vt:lpstr>Построение DFD. Система</vt:lpstr>
      <vt:lpstr>Построение DFD. Подсистема</vt:lpstr>
      <vt:lpstr>Построение DFD. Процесс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Понятие модели</dc:title>
  <dc:creator>silich</dc:creator>
  <cp:lastModifiedBy>RePack by Diakov</cp:lastModifiedBy>
  <cp:revision>181</cp:revision>
  <dcterms:created xsi:type="dcterms:W3CDTF">2008-03-13T14:24:41Z</dcterms:created>
  <dcterms:modified xsi:type="dcterms:W3CDTF">2026-09-16T04:47:01Z</dcterms:modified>
</cp:coreProperties>
</file>